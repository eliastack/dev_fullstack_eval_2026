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4BCF3-1591-4135-ACCE-A24ADC4E80D1}">
          <p14:sldIdLst>
            <p14:sldId id="256"/>
            <p14:sldId id="257"/>
            <p14:sldId id="258"/>
            <p14:sldId id="259"/>
          </p14:sldIdLst>
        </p14:section>
        <p14:section name="Backend" id="{CEA151AC-5C0A-E038-055A-883169982135}">
          <p14:sldIdLst>
            <p14:sldId id="260"/>
            <p14:sldId id="261"/>
            <p14:sldId id="262"/>
            <p14:sldId id="263"/>
            <p14:sldId id="264"/>
            <p14:sldId id="265"/>
            <p14:sldId id="266"/>
          </p14:sldIdLst>
        </p14:section>
        <p14:section name="Frontend" id="{26E65BF3-D621-9669-CF66-F8D1E6215F81}">
          <p14:sldIdLst>
            <p14:sldId id="267"/>
            <p14:sldId id="268"/>
            <p14:sldId id="269"/>
            <p14:sldId id="270"/>
            <p14:sldId id="271"/>
            <p14:sldId id="272"/>
            <p14:sldId id="273"/>
          </p14:sldIdLst>
        </p14:section>
        <p14:section name="Docker et DevOps" id="{62CA7B89-6A04-4D6B-0739-AA974FBDF557}">
          <p14:sldIdLst>
            <p14:sldId id="274"/>
            <p14:sldId id="275"/>
            <p14:sldId id="276"/>
            <p14:sldId id="277"/>
            <p14:sldId id="278"/>
          </p14:sldIdLst>
        </p14:section>
        <p14:section name="Conclusion" id="{690D94EE-7FF4-0A97-D4E0-169F5146FFE6}">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183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TaskFlow, une application de gestion de projet que j'ai développée de l'analyse du besoin jusqu'au déploiement : une API Node.js, une interface React, des conteneurs Docker et un pipeline CI/CD.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l'ordre de réalisation : le projet, le backend, le frontend, la conteneurisation avec Docker, puis la démarche DevOps et la mise en production. Je terminerai par un bilan.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besoin : gérer des projets et leurs tâches avec des règles d'autorisation. Seul le créateur gère son projet et ses tâches, un manager gère les membres, et l'assigné d'une tâche peut la fermer ou la rouvrir. Côté technique : MongoDB Atlas, Express, React et Node.js, développé sous VS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créé un dépôt pour le backend et un pour le frontend. Le .gitignore évite d'envoyer les fichiers sensibles comme le .env. J'ai ensuite relié le projet local au dépôt avec les commandes données par GitHub.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le backend.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commencé par un diagramme de classes UML pour représenter le besoin. Les clés primaires et étrangères ont ensuite été adaptées au format Mongoose avec des ObjectId et des références. mongoose-unique-validator empêche deux comptes avec le même email.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couche a un rôle : server.js démarre le serveur, app.js applique la sécurité et branche les routes, les routes appellent les middlewares puis le controller, et le controller utilise le modèle pour parler à MongoDB. Les variables sont chargées selon NODE_ENV : .env.dev en développement, .env.prod en production.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requête PATCH sur un projet traverse d'abord les middlewares : auth vérifie le token (sinon 401), validateProject vérifie les données (sinon 400), checkRole vérifie le rôle manager (sinon 403), multer gère l'image. Ensuite seulement le controller modifyProject met à jour MongoDB et renvoie la réponse 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token JWT est créé à la connexion : il contient l'identifiant et le rôle, il est signé avec la clé secrète, donc toute modification le rend invalide, et il expire après 24 heures. Les mots de passe sont hachés avec bcrypt. Les middlewares auth et checkRole contrôlent l'accès, et dataValid vérifie le format des données (400). Enfin CORS n'accepte que le frontend et le rate limiter évite la saturation du serveur.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d'abord testé chaque route à la main avec Postman. Ensuite j'ai listé les exigences importantes (authentification, rôles, validation, règles métier) et écrit un test pour chacune. jest.config.js pointe vers globalSetup et globalTeardown, qui démarrent et arrêtent la base temporaire. Exemple : un utilisateur sans le rôle manager qui ajoute un membre reçoit 403.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README permet à quelqu'un qui récupère le projet d'être autonome : installation, variables d'environnement, commandes et routes. Swagger documente chaque route à partir de commentaires placés au-dessus des routes ; on peut les tester depuis le navigateur sur /api-docs.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le frontend.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représenté les besoins et la carte des vues. J'ai choisi React pour découper l'interface en composants réutilisables, comme la carte projet. Vite sert au développement et au build, React Router à la navigation, Axios aux appels API, Tailwind à la mise en forme, et Vitest avec Testing Library aux tests.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chemins : verticalement, les données. La page appelle le backend via services/api.js, puis passe les données au composant par les props. Horizontalement, la navigation : App.jsx choisit la page selon l'adresse et PrivateRoute vérifie la connexion. Si l'adresse de l'API change, je ne modifie qu'api.js ; dans les tests, je remplace api.js par des mocks pour tester sans le backend.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requêtes passent par services/api.js. L'adresse de l'API vient de la variable VITE_API_URL : elle n'est pas secrète, Vite la remplace dans le code au build. Sur Vercel elle est renseignée dans les paramètres du projet. Les intercepteurs ajoutent le token automatiquement et le suppriment en cas de 401.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page récupère les données et les transmet aux composants. La page Projects stocke les projets avec useState et lance la requête avec useEffect. Elle affiche une carte Project par projet en lui passant le projet et la fonction onUpdate. Après une action, le composant appelle onUpdate et la page relance sa requête. La page Tasks ajoute des filtres et un tri envoyés dans l'adresse avec URLSearchParams.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éléments sont affichés en cartes avec un code couleur sur les boutons. L'interface est responsive avec un menu hamburger sur mobile, suit le thème sombre ou clair du navigateur, et j'ai vérifié l'accessibilité avec l'extension WAVE.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frontend, PrivateRoute ne fait que cacher les pages : la vraie protection est l'API. Pour les tests, Testing Library affiche le composant dans un faux navigateur et simule l'utilisateur. Je remplace l'API par des mocks avec vi.mock. Exemple : je simule une erreur 401, je remplis le formulaire et je vérifie que le message d'erreur s'affiche.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et cinquième parties : Docker, puis la démarche DevOps.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garantit que l'application fonctionne pareil sur n'importe quelle machine. Le backend a un Dockerfile multi-étapes et tourne avec un utilisateur sans droits administrateur. Le frontend est construit avec Node puis servi par nginx. docker compose up --build lance les trois services ; la base n'est pas exposée à l'extérieur.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DevOps est une démarche en cycle continu, en huit phases. J'ai travaillé seul, mais j'ai appliqué toute la démarche. Avant d'automatiser, j'ai mis en place la qualité du code dans les deux projets : ESLint, Prettier et une étape de build.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dépôt a un workflow ci-cd.yml. Trois jobs reliés par needs : quality, docker, puis deploy. Le déploiement ne se fait que sur un push sur main ; une pull request lance seulement les vérifications. Les adresses des Deploy Hooks donnent le droit de déployer, elles sont donc stockées dans les secrets GitHub.</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partie a un hébergement adapté : Vercel pour le frontend, Render pour le backend à partir de l'image Docker, MongoDB Atlas pour la base. Exemple réel : la fonctionnalité de filtres et de tri ; après le push, le pipeline est passé au vert et Render indique « Deploy Hook » comme déclencheur.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Récapitulatif des outils et bibliothèques utilisés, regroupés par usage.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j'ai réalisé l'application de bout en bout, en appliquant les bonnes pratiques de sécurité, de tests et de déploiement continu.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disponible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5669280" cy="118872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3291840"/>
            <a:ext cx="5669280" cy="640080"/>
          </a:xfrm>
          <a:prstGeom prst="rect">
            <a:avLst/>
          </a:prstGeom>
          <a:noFill/>
          <a:ln/>
        </p:spPr>
        <p:txBody>
          <a:bodyPr wrap="square" rtlCol="0"/>
          <a:lstStyle>
            <a:lvl1pPr marL="0" indent="0">
              <a:buNone/>
              <a:defRPr lang="en-US" sz="2400" dirty="0">
                <a:solidFill>
                  <a:schemeClr val="accent3"/>
                </a:solidFill>
              </a:defRPr>
            </a:lvl1pPr>
          </a:lstStyle>
          <a:p>
            <a:pPr marL="0" indent="0">
              <a:buNone/>
            </a:pPr>
            <a:endParaRPr lang="en-US" sz="2400" dirty="0"/>
          </a:p>
        </p:txBody>
      </p:sp>
      <p:sp>
        <p:nvSpPr>
          <p:cNvPr id="4" name="Text 0"/>
          <p:cNvSpPr>
            <a:spLocks noGrp="1"/>
          </p:cNvSpPr>
          <p:nvPr>
            <p:ph type="body" idx="102" hasCustomPrompt="1"/>
          </p:nvPr>
        </p:nvSpPr>
        <p:spPr>
          <a:xfrm>
            <a:off x="731520" y="4754880"/>
            <a:ext cx="5669280" cy="128016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37360"/>
            <a:ext cx="2743200" cy="1280160"/>
          </a:xfrm>
          <a:prstGeom prst="rect">
            <a:avLst/>
          </a:prstGeom>
          <a:noFill/>
          <a:ln/>
        </p:spPr>
        <p:txBody>
          <a:bodyPr wrap="square" rtlCol="0"/>
          <a:lstStyle>
            <a:lvl1pPr marL="0" indent="0">
              <a:buNone/>
              <a:defRPr lang="en-US" sz="8000" b="1" dirty="0">
                <a:solidFill>
                  <a:schemeClr val="accent3"/>
                </a:solidFill>
              </a:defRPr>
            </a:lvl1pPr>
          </a:lstStyle>
          <a:p>
            <a:pPr marL="0" indent="0">
              <a:buNone/>
            </a:pPr>
            <a:endParaRPr lang="en-US" sz="8000" dirty="0"/>
          </a:p>
        </p:txBody>
      </p:sp>
      <p:sp>
        <p:nvSpPr>
          <p:cNvPr id="3" name="Text 0"/>
          <p:cNvSpPr>
            <a:spLocks noGrp="1"/>
          </p:cNvSpPr>
          <p:nvPr>
            <p:ph type="title" idx="101" hasCustomPrompt="1"/>
          </p:nvPr>
        </p:nvSpPr>
        <p:spPr>
          <a:xfrm>
            <a:off x="731520" y="3108960"/>
            <a:ext cx="10515600" cy="9144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4069080"/>
            <a:ext cx="10515600" cy="64008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TaskFlow  ·  Elia SOINARD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32.png"/><Relationship Id="rId4" Type="http://schemas.openxmlformats.org/officeDocument/2006/relationships/image" Target="../media/image3.png"/><Relationship Id="rIdLienAppli" Type="http://schemas.openxmlformats.org/officeDocument/2006/relationships/hyperlink" Target="https://ws-9-front-end.vercel.app"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titre" descr="Code source"/>
          <p:cNvPicPr>
            <a:picLocks noChangeAspect="1"/>
          </p:cNvPicPr>
          <p:nvPr/>
        </p:nvPicPr>
        <p:blipFill>
          <a:blip r:embed="rId3"/>
          <a:srcRect/>
          <a:stretch/>
        </p:blipFill>
        <p:spPr>
          <a:xfrm>
            <a:off x="6949440" y="0"/>
            <a:ext cx="5242255" cy="6858000"/>
          </a:xfrm>
          <a:prstGeom prst="rect">
            <a:avLst/>
          </a:prstGeom>
        </p:spPr>
      </p:pic>
      <p:sp>
        <p:nvSpPr>
          <p:cNvPr id="3" name="Text 0"/>
          <p:cNvSpPr>
            <a:spLocks noGrp="1"/>
          </p:cNvSpPr>
          <p:nvPr>
            <p:ph type="title" idx="100" hasCustomPrompt="1"/>
          </p:nvPr>
        </p:nvSpPr>
        <p:spPr>
          <a:xfrm>
            <a:off x="731520" y="2011680"/>
            <a:ext cx="5669280" cy="1188720"/>
          </a:xfrm>
          <a:prstGeom prst="rect">
            <a:avLst/>
          </a:prstGeom>
          <a:noFill/>
          <a:ln/>
        </p:spPr>
        <p:txBody>
          <a:bodyPr wrap="square" lIns="0" tIns="0" rIns="0" bIns="0" rtlCol="0" anchor="b"/>
          <a:lstStyle/>
          <a:p>
            <a:pPr marL="0" indent="0" algn="l">
              <a:buNone/>
            </a:pPr>
            <a:r>
              <a:rPr lang="en-US" sz="6000" b="1" dirty="0">
                <a:solidFill>
                  <a:schemeClr val="bg1"/>
                </a:solidFill>
              </a:rPr>
              <a:t>TaskFlow</a:t>
            </a:r>
            <a:endParaRPr lang="en-US" sz="6000" dirty="0"/>
          </a:p>
        </p:txBody>
      </p:sp>
      <p:sp>
        <p:nvSpPr>
          <p:cNvPr id="4" name="Text 0"/>
          <p:cNvSpPr>
            <a:spLocks noGrp="1"/>
          </p:cNvSpPr>
          <p:nvPr>
            <p:ph type="body" idx="101" hasCustomPrompt="1"/>
          </p:nvPr>
        </p:nvSpPr>
        <p:spPr>
          <a:xfrm>
            <a:off x="731520" y="3291840"/>
            <a:ext cx="5669280" cy="640080"/>
          </a:xfrm>
          <a:prstGeom prst="rect">
            <a:avLst/>
          </a:prstGeom>
          <a:noFill/>
          <a:ln/>
        </p:spPr>
        <p:txBody>
          <a:bodyPr wrap="square" lIns="0" tIns="0" rIns="0" bIns="0" rtlCol="0" anchor="t"/>
          <a:lstStyle/>
          <a:p>
            <a:pPr marL="0" indent="0">
              <a:buNone/>
            </a:pPr>
            <a:r>
              <a:rPr lang="en-US" sz="2400" dirty="0">
                <a:solidFill>
                  <a:schemeClr val="accent3"/>
                </a:solidFill>
              </a:rPr>
              <a:t>Application de gestion de projet</a:t>
            </a:r>
            <a:endParaRPr lang="en-US" sz="2400" dirty="0"/>
          </a:p>
        </p:txBody>
      </p:sp>
      <p:sp>
        <p:nvSpPr>
          <p:cNvPr id="5" name="Text 0"/>
          <p:cNvSpPr>
            <a:spLocks noGrp="1"/>
          </p:cNvSpPr>
          <p:nvPr>
            <p:ph type="body" idx="102" hasCustomPrompt="1"/>
          </p:nvPr>
        </p:nvSpPr>
        <p:spPr>
          <a:xfrm>
            <a:off x="731520" y="4754880"/>
            <a:ext cx="5669280" cy="1280160"/>
          </a:xfrm>
          <a:prstGeom prst="rect">
            <a:avLst/>
          </a:prstGeom>
          <a:noFill/>
          <a:ln/>
        </p:spPr>
        <p:txBody>
          <a:bodyPr wrap="square" lIns="0" tIns="0" rIns="0" bIns="0" rtlCol="0" anchor="t"/>
          <a:lstStyle/>
          <a:p>
            <a:pPr marL="0" indent="0">
              <a:buNone/>
            </a:pPr>
            <a:r>
              <a:rPr lang="en-US" sz="2000" b="1" dirty="0">
                <a:solidFill>
                  <a:schemeClr val="bg2"/>
                </a:solidFill>
              </a:rPr>
              <a:t>Elia SOINARD</a:t>
            </a:r>
            <a:endParaRPr lang="en-US" sz="1600" dirty="0"/>
          </a:p>
          <a:p>
            <a:pPr marL="0" indent="0">
              <a:buNone/>
            </a:pPr>
            <a:r>
              <a:rPr lang="en-US" sz="1600" dirty="0">
                <a:solidFill>
                  <a:schemeClr val="bg2"/>
                </a:solidFill>
              </a:rPr>
              <a:t>Concepteur Développeur d'Applications JavaScript</a:t>
            </a:r>
            <a:endParaRPr lang="en-US" sz="1600" dirty="0"/>
          </a:p>
          <a:p>
            <a:pPr marL="0" indent="0">
              <a:buNone/>
            </a:pPr>
            <a:r>
              <a:rPr lang="en-US" sz="1600" dirty="0">
                <a:solidFill>
                  <a:schemeClr val="bg2"/>
                </a:solidFill>
              </a:rPr>
              <a:t>Global Digital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Sommaire</a:t>
            </a:r>
            <a:endParaRPr lang="en-US" sz="3200" dirty="0"/>
          </a:p>
        </p:txBody>
      </p:sp>
      <p:sp>
        <p:nvSpPr>
          <p:cNvPr id="3" name="carte-1"/>
          <p:cNvSpPr/>
          <p:nvPr/>
        </p:nvSpPr>
        <p:spPr>
          <a:xfrm>
            <a:off x="548640" y="1554480"/>
            <a:ext cx="3566160" cy="2057400"/>
          </a:xfrm>
          <a:prstGeom prst="roundRect">
            <a:avLst>
              <a:gd name="adj" fmla="val 5333"/>
            </a:avLst>
          </a:prstGeom>
          <a:solidFill>
            <a:schemeClr val="bg2"/>
          </a:solidFill>
          <a:ln/>
        </p:spPr>
        <p:txBody>
          <a:bodyPr/>
          <a:lstStyle/>
          <a:p>
            <a:endParaRPr lang="fr-FR"/>
          </a:p>
        </p:txBody>
      </p:sp>
      <p:sp>
        <p:nvSpPr>
          <p:cNvPr id="4" name="pastille-2"/>
          <p:cNvSpPr/>
          <p:nvPr/>
        </p:nvSpPr>
        <p:spPr>
          <a:xfrm>
            <a:off x="868680" y="1874520"/>
            <a:ext cx="685800" cy="685800"/>
          </a:xfrm>
          <a:prstGeom prst="ellipse">
            <a:avLst/>
          </a:prstGeom>
          <a:solidFill>
            <a:schemeClr val="accent1"/>
          </a:solidFill>
          <a:ln/>
        </p:spPr>
        <p:txBody>
          <a:bodyPr/>
          <a:lstStyle/>
          <a:p>
            <a:endParaRPr lang="fr-FR"/>
          </a:p>
        </p:txBody>
      </p:sp>
      <p:pic>
        <p:nvPicPr>
          <p:cNvPr id="5" name="icone-3" descr="icône"/>
          <p:cNvPicPr>
            <a:picLocks noChangeAspect="1"/>
          </p:cNvPicPr>
          <p:nvPr/>
        </p:nvPicPr>
        <p:blipFill>
          <a:blip r:embed="rId3"/>
          <a:stretch>
            <a:fillRect/>
          </a:stretch>
        </p:blipFill>
        <p:spPr>
          <a:xfrm>
            <a:off x="1033272" y="2039112"/>
            <a:ext cx="356616" cy="356616"/>
          </a:xfrm>
          <a:prstGeom prst="rect">
            <a:avLst/>
          </a:prstGeom>
        </p:spPr>
      </p:pic>
      <p:sp>
        <p:nvSpPr>
          <p:cNvPr id="6" name="texte-4"/>
          <p:cNvSpPr txBox="1"/>
          <p:nvPr/>
        </p:nvSpPr>
        <p:spPr>
          <a:xfrm>
            <a:off x="2926080" y="187452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01</a:t>
            </a:r>
            <a:endParaRPr lang="en-US" sz="3200" dirty="0"/>
          </a:p>
        </p:txBody>
      </p:sp>
      <p:sp>
        <p:nvSpPr>
          <p:cNvPr id="7" name="texte-5"/>
          <p:cNvSpPr txBox="1"/>
          <p:nvPr/>
        </p:nvSpPr>
        <p:spPr>
          <a:xfrm>
            <a:off x="868680" y="2743200"/>
            <a:ext cx="2926080" cy="685800"/>
          </a:xfrm>
          <a:prstGeom prst="rect">
            <a:avLst/>
          </a:prstGeom>
          <a:noFill/>
          <a:ln/>
        </p:spPr>
        <p:txBody>
          <a:bodyPr wrap="square" lIns="0" tIns="0" rIns="0" bIns="0" rtlCol="0" anchor="t"/>
          <a:lstStyle/>
          <a:p>
            <a:pPr marL="0" indent="0">
              <a:buNone/>
            </a:pPr>
            <a:r>
              <a:rPr lang="en-US" sz="2000" b="1" dirty="0">
                <a:solidFill>
                  <a:schemeClr val="tx1"/>
                </a:solidFill>
              </a:rPr>
              <a:t>Présentation du projet</a:t>
            </a:r>
            <a:endParaRPr lang="en-US" sz="2000" dirty="0"/>
          </a:p>
        </p:txBody>
      </p:sp>
      <p:sp>
        <p:nvSpPr>
          <p:cNvPr id="8" name="carte-6"/>
          <p:cNvSpPr/>
          <p:nvPr/>
        </p:nvSpPr>
        <p:spPr>
          <a:xfrm>
            <a:off x="4297680" y="1554480"/>
            <a:ext cx="3566160" cy="2057400"/>
          </a:xfrm>
          <a:prstGeom prst="roundRect">
            <a:avLst>
              <a:gd name="adj" fmla="val 5333"/>
            </a:avLst>
          </a:prstGeom>
          <a:solidFill>
            <a:schemeClr val="bg2"/>
          </a:solidFill>
          <a:ln/>
        </p:spPr>
        <p:txBody>
          <a:bodyPr/>
          <a:lstStyle/>
          <a:p>
            <a:endParaRPr lang="fr-FR"/>
          </a:p>
        </p:txBody>
      </p:sp>
      <p:sp>
        <p:nvSpPr>
          <p:cNvPr id="9" name="pastille-7"/>
          <p:cNvSpPr/>
          <p:nvPr/>
        </p:nvSpPr>
        <p:spPr>
          <a:xfrm>
            <a:off x="4617720" y="1874520"/>
            <a:ext cx="685800" cy="685800"/>
          </a:xfrm>
          <a:prstGeom prst="ellipse">
            <a:avLst/>
          </a:prstGeom>
          <a:solidFill>
            <a:schemeClr val="accent1"/>
          </a:solidFill>
          <a:ln/>
        </p:spPr>
        <p:txBody>
          <a:bodyPr/>
          <a:lstStyle/>
          <a:p>
            <a:endParaRPr lang="fr-FR"/>
          </a:p>
        </p:txBody>
      </p:sp>
      <p:pic>
        <p:nvPicPr>
          <p:cNvPr id="10" name="icone-8" descr="icône"/>
          <p:cNvPicPr>
            <a:picLocks noChangeAspect="1"/>
          </p:cNvPicPr>
          <p:nvPr/>
        </p:nvPicPr>
        <p:blipFill>
          <a:blip r:embed="rId4"/>
          <a:stretch>
            <a:fillRect/>
          </a:stretch>
        </p:blipFill>
        <p:spPr>
          <a:xfrm>
            <a:off x="4782312" y="2039112"/>
            <a:ext cx="356616" cy="356616"/>
          </a:xfrm>
          <a:prstGeom prst="rect">
            <a:avLst/>
          </a:prstGeom>
        </p:spPr>
      </p:pic>
      <p:sp>
        <p:nvSpPr>
          <p:cNvPr id="11" name="texte-9"/>
          <p:cNvSpPr txBox="1"/>
          <p:nvPr/>
        </p:nvSpPr>
        <p:spPr>
          <a:xfrm>
            <a:off x="6675120" y="187452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02</a:t>
            </a:r>
            <a:endParaRPr lang="en-US" sz="3200" dirty="0"/>
          </a:p>
        </p:txBody>
      </p:sp>
      <p:sp>
        <p:nvSpPr>
          <p:cNvPr id="12" name="texte-10"/>
          <p:cNvSpPr txBox="1"/>
          <p:nvPr/>
        </p:nvSpPr>
        <p:spPr>
          <a:xfrm>
            <a:off x="4617720" y="2743200"/>
            <a:ext cx="2926080" cy="685800"/>
          </a:xfrm>
          <a:prstGeom prst="rect">
            <a:avLst/>
          </a:prstGeom>
          <a:noFill/>
          <a:ln/>
        </p:spPr>
        <p:txBody>
          <a:bodyPr wrap="square" lIns="0" tIns="0" rIns="0" bIns="0" rtlCol="0" anchor="t"/>
          <a:lstStyle/>
          <a:p>
            <a:pPr marL="0" indent="0">
              <a:buNone/>
            </a:pPr>
            <a:r>
              <a:rPr lang="en-US" sz="2000" b="1" dirty="0">
                <a:solidFill>
                  <a:schemeClr val="tx1"/>
                </a:solidFill>
              </a:rPr>
              <a:t>Backend — API Node.js</a:t>
            </a:r>
            <a:endParaRPr lang="en-US" sz="2000" dirty="0"/>
          </a:p>
        </p:txBody>
      </p:sp>
      <p:sp>
        <p:nvSpPr>
          <p:cNvPr id="13" name="carte-11"/>
          <p:cNvSpPr/>
          <p:nvPr/>
        </p:nvSpPr>
        <p:spPr>
          <a:xfrm>
            <a:off x="8046720" y="1554480"/>
            <a:ext cx="3566160" cy="2057400"/>
          </a:xfrm>
          <a:prstGeom prst="roundRect">
            <a:avLst>
              <a:gd name="adj" fmla="val 5333"/>
            </a:avLst>
          </a:prstGeom>
          <a:solidFill>
            <a:schemeClr val="bg2"/>
          </a:solidFill>
          <a:ln/>
        </p:spPr>
        <p:txBody>
          <a:bodyPr/>
          <a:lstStyle/>
          <a:p>
            <a:endParaRPr lang="fr-FR"/>
          </a:p>
        </p:txBody>
      </p:sp>
      <p:sp>
        <p:nvSpPr>
          <p:cNvPr id="14" name="pastille-12"/>
          <p:cNvSpPr/>
          <p:nvPr/>
        </p:nvSpPr>
        <p:spPr>
          <a:xfrm>
            <a:off x="8366760" y="1874520"/>
            <a:ext cx="685800" cy="685800"/>
          </a:xfrm>
          <a:prstGeom prst="ellipse">
            <a:avLst/>
          </a:prstGeom>
          <a:solidFill>
            <a:schemeClr val="accent1"/>
          </a:solidFill>
          <a:ln/>
        </p:spPr>
        <p:txBody>
          <a:bodyPr/>
          <a:lstStyle/>
          <a:p>
            <a:endParaRPr lang="fr-FR"/>
          </a:p>
        </p:txBody>
      </p:sp>
      <p:pic>
        <p:nvPicPr>
          <p:cNvPr id="15" name="icone-13" descr="icône"/>
          <p:cNvPicPr>
            <a:picLocks noChangeAspect="1"/>
          </p:cNvPicPr>
          <p:nvPr/>
        </p:nvPicPr>
        <p:blipFill>
          <a:blip r:embed="rId5"/>
          <a:stretch>
            <a:fillRect/>
          </a:stretch>
        </p:blipFill>
        <p:spPr>
          <a:xfrm>
            <a:off x="8531352" y="2039112"/>
            <a:ext cx="356616" cy="356616"/>
          </a:xfrm>
          <a:prstGeom prst="rect">
            <a:avLst/>
          </a:prstGeom>
        </p:spPr>
      </p:pic>
      <p:sp>
        <p:nvSpPr>
          <p:cNvPr id="16" name="texte-14"/>
          <p:cNvSpPr txBox="1"/>
          <p:nvPr/>
        </p:nvSpPr>
        <p:spPr>
          <a:xfrm>
            <a:off x="10424160" y="187452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03</a:t>
            </a:r>
            <a:endParaRPr lang="en-US" sz="3200" dirty="0"/>
          </a:p>
        </p:txBody>
      </p:sp>
      <p:sp>
        <p:nvSpPr>
          <p:cNvPr id="17" name="texte-15"/>
          <p:cNvSpPr txBox="1"/>
          <p:nvPr/>
        </p:nvSpPr>
        <p:spPr>
          <a:xfrm>
            <a:off x="8366760" y="2743200"/>
            <a:ext cx="2926080" cy="685800"/>
          </a:xfrm>
          <a:prstGeom prst="rect">
            <a:avLst/>
          </a:prstGeom>
          <a:noFill/>
          <a:ln/>
        </p:spPr>
        <p:txBody>
          <a:bodyPr wrap="square" lIns="0" tIns="0" rIns="0" bIns="0" rtlCol="0" anchor="t"/>
          <a:lstStyle/>
          <a:p>
            <a:pPr marL="0" indent="0">
              <a:buNone/>
            </a:pPr>
            <a:r>
              <a:rPr lang="en-US" sz="2000" b="1" dirty="0">
                <a:solidFill>
                  <a:schemeClr val="tx1"/>
                </a:solidFill>
              </a:rPr>
              <a:t>Frontend — React</a:t>
            </a:r>
            <a:endParaRPr lang="en-US" sz="2000" dirty="0"/>
          </a:p>
        </p:txBody>
      </p:sp>
      <p:sp>
        <p:nvSpPr>
          <p:cNvPr id="18" name="carte-16"/>
          <p:cNvSpPr/>
          <p:nvPr/>
        </p:nvSpPr>
        <p:spPr>
          <a:xfrm>
            <a:off x="548640" y="3886200"/>
            <a:ext cx="3566160" cy="2057400"/>
          </a:xfrm>
          <a:prstGeom prst="roundRect">
            <a:avLst>
              <a:gd name="adj" fmla="val 5333"/>
            </a:avLst>
          </a:prstGeom>
          <a:solidFill>
            <a:schemeClr val="bg2"/>
          </a:solidFill>
          <a:ln/>
        </p:spPr>
        <p:txBody>
          <a:bodyPr/>
          <a:lstStyle/>
          <a:p>
            <a:endParaRPr lang="fr-FR"/>
          </a:p>
        </p:txBody>
      </p:sp>
      <p:sp>
        <p:nvSpPr>
          <p:cNvPr id="19" name="pastille-17"/>
          <p:cNvSpPr/>
          <p:nvPr/>
        </p:nvSpPr>
        <p:spPr>
          <a:xfrm>
            <a:off x="868680" y="4206240"/>
            <a:ext cx="685800" cy="685800"/>
          </a:xfrm>
          <a:prstGeom prst="ellipse">
            <a:avLst/>
          </a:prstGeom>
          <a:solidFill>
            <a:schemeClr val="accent1"/>
          </a:solidFill>
          <a:ln/>
        </p:spPr>
        <p:txBody>
          <a:bodyPr/>
          <a:lstStyle/>
          <a:p>
            <a:endParaRPr lang="fr-FR"/>
          </a:p>
        </p:txBody>
      </p:sp>
      <p:pic>
        <p:nvPicPr>
          <p:cNvPr id="20" name="icone-18" descr="icône"/>
          <p:cNvPicPr>
            <a:picLocks noChangeAspect="1"/>
          </p:cNvPicPr>
          <p:nvPr/>
        </p:nvPicPr>
        <p:blipFill>
          <a:blip r:embed="rId6"/>
          <a:stretch>
            <a:fillRect/>
          </a:stretch>
        </p:blipFill>
        <p:spPr>
          <a:xfrm>
            <a:off x="1033272" y="4370832"/>
            <a:ext cx="356616" cy="356616"/>
          </a:xfrm>
          <a:prstGeom prst="rect">
            <a:avLst/>
          </a:prstGeom>
        </p:spPr>
      </p:pic>
      <p:sp>
        <p:nvSpPr>
          <p:cNvPr id="21" name="texte-19"/>
          <p:cNvSpPr txBox="1"/>
          <p:nvPr/>
        </p:nvSpPr>
        <p:spPr>
          <a:xfrm>
            <a:off x="2926080" y="420624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04</a:t>
            </a:r>
            <a:endParaRPr lang="en-US" sz="3200" dirty="0"/>
          </a:p>
        </p:txBody>
      </p:sp>
      <p:sp>
        <p:nvSpPr>
          <p:cNvPr id="22" name="texte-20"/>
          <p:cNvSpPr txBox="1"/>
          <p:nvPr/>
        </p:nvSpPr>
        <p:spPr>
          <a:xfrm>
            <a:off x="868680" y="5074920"/>
            <a:ext cx="2926080" cy="685800"/>
          </a:xfrm>
          <a:prstGeom prst="rect">
            <a:avLst/>
          </a:prstGeom>
          <a:noFill/>
          <a:ln/>
        </p:spPr>
        <p:txBody>
          <a:bodyPr wrap="square" lIns="0" tIns="0" rIns="0" bIns="0" rtlCol="0" anchor="t"/>
          <a:lstStyle/>
          <a:p>
            <a:pPr marL="0" indent="0">
              <a:buNone/>
            </a:pPr>
            <a:r>
              <a:rPr lang="en-US" sz="2000" b="1" dirty="0">
                <a:solidFill>
                  <a:schemeClr val="tx1"/>
                </a:solidFill>
              </a:rPr>
              <a:t>Docker</a:t>
            </a:r>
            <a:endParaRPr lang="en-US" sz="2000" dirty="0"/>
          </a:p>
        </p:txBody>
      </p:sp>
      <p:sp>
        <p:nvSpPr>
          <p:cNvPr id="23" name="carte-21"/>
          <p:cNvSpPr/>
          <p:nvPr/>
        </p:nvSpPr>
        <p:spPr>
          <a:xfrm>
            <a:off x="4297680" y="3886200"/>
            <a:ext cx="3566160" cy="2057400"/>
          </a:xfrm>
          <a:prstGeom prst="roundRect">
            <a:avLst>
              <a:gd name="adj" fmla="val 5333"/>
            </a:avLst>
          </a:prstGeom>
          <a:solidFill>
            <a:schemeClr val="bg2"/>
          </a:solidFill>
          <a:ln/>
        </p:spPr>
        <p:txBody>
          <a:bodyPr/>
          <a:lstStyle/>
          <a:p>
            <a:endParaRPr lang="fr-FR"/>
          </a:p>
        </p:txBody>
      </p:sp>
      <p:sp>
        <p:nvSpPr>
          <p:cNvPr id="24" name="pastille-22"/>
          <p:cNvSpPr/>
          <p:nvPr/>
        </p:nvSpPr>
        <p:spPr>
          <a:xfrm>
            <a:off x="4617720" y="4206240"/>
            <a:ext cx="685800" cy="685800"/>
          </a:xfrm>
          <a:prstGeom prst="ellipse">
            <a:avLst/>
          </a:prstGeom>
          <a:solidFill>
            <a:schemeClr val="accent1"/>
          </a:solidFill>
          <a:ln/>
        </p:spPr>
        <p:txBody>
          <a:bodyPr/>
          <a:lstStyle/>
          <a:p>
            <a:endParaRPr lang="fr-FR"/>
          </a:p>
        </p:txBody>
      </p:sp>
      <p:pic>
        <p:nvPicPr>
          <p:cNvPr id="25" name="icone-23" descr="icône"/>
          <p:cNvPicPr>
            <a:picLocks noChangeAspect="1"/>
          </p:cNvPicPr>
          <p:nvPr/>
        </p:nvPicPr>
        <p:blipFill>
          <a:blip r:embed="rId7"/>
          <a:stretch>
            <a:fillRect/>
          </a:stretch>
        </p:blipFill>
        <p:spPr>
          <a:xfrm>
            <a:off x="4782312" y="4370832"/>
            <a:ext cx="356616" cy="356616"/>
          </a:xfrm>
          <a:prstGeom prst="rect">
            <a:avLst/>
          </a:prstGeom>
        </p:spPr>
      </p:pic>
      <p:sp>
        <p:nvSpPr>
          <p:cNvPr id="26" name="texte-24"/>
          <p:cNvSpPr txBox="1"/>
          <p:nvPr/>
        </p:nvSpPr>
        <p:spPr>
          <a:xfrm>
            <a:off x="6675120" y="420624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05</a:t>
            </a:r>
            <a:endParaRPr lang="en-US" sz="3200" dirty="0"/>
          </a:p>
        </p:txBody>
      </p:sp>
      <p:sp>
        <p:nvSpPr>
          <p:cNvPr id="27" name="texte-25"/>
          <p:cNvSpPr txBox="1"/>
          <p:nvPr/>
        </p:nvSpPr>
        <p:spPr>
          <a:xfrm>
            <a:off x="4617720" y="5074920"/>
            <a:ext cx="2926080" cy="685800"/>
          </a:xfrm>
          <a:prstGeom prst="rect">
            <a:avLst/>
          </a:prstGeom>
          <a:noFill/>
          <a:ln/>
        </p:spPr>
        <p:txBody>
          <a:bodyPr wrap="square" lIns="0" tIns="0" rIns="0" bIns="0" rtlCol="0" anchor="t"/>
          <a:lstStyle/>
          <a:p>
            <a:pPr marL="0" indent="0">
              <a:buNone/>
            </a:pPr>
            <a:r>
              <a:rPr lang="en-US" sz="2000" b="1" dirty="0">
                <a:solidFill>
                  <a:schemeClr val="tx1"/>
                </a:solidFill>
              </a:rPr>
              <a:t>DevOps et mise en production</a:t>
            </a:r>
            <a:endParaRPr lang="en-US" sz="2000" dirty="0"/>
          </a:p>
        </p:txBody>
      </p:sp>
      <p:sp>
        <p:nvSpPr>
          <p:cNvPr id="28" name="carte-26"/>
          <p:cNvSpPr/>
          <p:nvPr/>
        </p:nvSpPr>
        <p:spPr>
          <a:xfrm>
            <a:off x="8046720" y="3886200"/>
            <a:ext cx="3566160" cy="2057400"/>
          </a:xfrm>
          <a:prstGeom prst="roundRect">
            <a:avLst>
              <a:gd name="adj" fmla="val 5333"/>
            </a:avLst>
          </a:prstGeom>
          <a:solidFill>
            <a:schemeClr val="bg2"/>
          </a:solidFill>
          <a:ln/>
        </p:spPr>
        <p:txBody>
          <a:bodyPr/>
          <a:lstStyle/>
          <a:p>
            <a:endParaRPr lang="fr-FR"/>
          </a:p>
        </p:txBody>
      </p:sp>
      <p:sp>
        <p:nvSpPr>
          <p:cNvPr id="29" name="pastille-27"/>
          <p:cNvSpPr/>
          <p:nvPr/>
        </p:nvSpPr>
        <p:spPr>
          <a:xfrm>
            <a:off x="8366760" y="4206240"/>
            <a:ext cx="685800" cy="685800"/>
          </a:xfrm>
          <a:prstGeom prst="ellipse">
            <a:avLst/>
          </a:prstGeom>
          <a:solidFill>
            <a:schemeClr val="accent1"/>
          </a:solidFill>
          <a:ln/>
        </p:spPr>
        <p:txBody>
          <a:bodyPr/>
          <a:lstStyle/>
          <a:p>
            <a:endParaRPr lang="fr-FR"/>
          </a:p>
        </p:txBody>
      </p:sp>
      <p:pic>
        <p:nvPicPr>
          <p:cNvPr id="30" name="icone-28" descr="icône"/>
          <p:cNvPicPr>
            <a:picLocks noChangeAspect="1"/>
          </p:cNvPicPr>
          <p:nvPr/>
        </p:nvPicPr>
        <p:blipFill>
          <a:blip r:embed="rId8"/>
          <a:stretch>
            <a:fillRect/>
          </a:stretch>
        </p:blipFill>
        <p:spPr>
          <a:xfrm>
            <a:off x="8531352" y="4370832"/>
            <a:ext cx="356616" cy="356616"/>
          </a:xfrm>
          <a:prstGeom prst="rect">
            <a:avLst/>
          </a:prstGeom>
        </p:spPr>
      </p:pic>
      <p:sp>
        <p:nvSpPr>
          <p:cNvPr id="31" name="texte-29"/>
          <p:cNvSpPr txBox="1"/>
          <p:nvPr/>
        </p:nvSpPr>
        <p:spPr>
          <a:xfrm>
            <a:off x="10424160" y="4206240"/>
            <a:ext cx="914400" cy="685800"/>
          </a:xfrm>
          <a:prstGeom prst="rect">
            <a:avLst/>
          </a:prstGeom>
          <a:noFill/>
          <a:ln/>
        </p:spPr>
        <p:txBody>
          <a:bodyPr wrap="square" lIns="0" tIns="0" rIns="0" bIns="0" rtlCol="0" anchor="ctr"/>
          <a:lstStyle/>
          <a:p>
            <a:pPr marL="0" indent="0" algn="r">
              <a:buNone/>
            </a:pPr>
            <a:r>
              <a:rPr lang="en-US" sz="3200" b="1" dirty="0">
                <a:solidFill>
                  <a:schemeClr val="accent1"/>
                </a:solidFill>
              </a:rPr>
              <a:t>06</a:t>
            </a:r>
            <a:endParaRPr lang="en-US" sz="3200" dirty="0"/>
          </a:p>
        </p:txBody>
      </p:sp>
      <p:sp>
        <p:nvSpPr>
          <p:cNvPr id="32" name="texte-30"/>
          <p:cNvSpPr txBox="1"/>
          <p:nvPr/>
        </p:nvSpPr>
        <p:spPr>
          <a:xfrm>
            <a:off x="8366760" y="5074920"/>
            <a:ext cx="2926080" cy="685800"/>
          </a:xfrm>
          <a:prstGeom prst="rect">
            <a:avLst/>
          </a:prstGeom>
          <a:noFill/>
          <a:ln/>
        </p:spPr>
        <p:txBody>
          <a:bodyPr wrap="square" lIns="0" tIns="0" rIns="0" bIns="0" rtlCol="0" anchor="t"/>
          <a:lstStyle/>
          <a:p>
            <a:pPr marL="0" indent="0">
              <a:buNone/>
            </a:pPr>
            <a:r>
              <a:rPr lang="en-US" sz="2000" b="1" dirty="0">
                <a:solidFill>
                  <a:schemeClr val="tx1"/>
                </a:solidFill>
              </a:rPr>
              <a:t>Bilan</a:t>
            </a:r>
            <a:endParaRPr lang="en-US" sz="2000" dirty="0"/>
          </a:p>
        </p:txBody>
      </p:sp>
      <p:sp>
        <p:nvSpPr>
          <p:cNvPr id="33"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Présentation du projet</a:t>
            </a:r>
            <a:endParaRPr lang="en-US" sz="3200" dirty="0"/>
          </a:p>
        </p:txBody>
      </p:sp>
      <p:sp>
        <p:nvSpPr>
          <p:cNvPr id="3" name="texte-31"/>
          <p:cNvSpPr txBox="1"/>
          <p:nvPr/>
        </p:nvSpPr>
        <p:spPr>
          <a:xfrm>
            <a:off x="548640" y="1234440"/>
            <a:ext cx="7132320" cy="457200"/>
          </a:xfrm>
          <a:prstGeom prst="rect">
            <a:avLst/>
          </a:prstGeom>
          <a:noFill/>
          <a:ln/>
        </p:spPr>
        <p:txBody>
          <a:bodyPr wrap="square" lIns="0" tIns="0" rIns="0" bIns="0" rtlCol="0" anchor="t"/>
          <a:lstStyle/>
          <a:p>
            <a:pPr marL="0" indent="0">
              <a:buNone/>
            </a:pPr>
            <a:r>
              <a:rPr lang="en-US" sz="1600" i="1" dirty="0">
                <a:solidFill>
                  <a:schemeClr val="accent6"/>
                </a:solidFill>
              </a:rPr>
              <a:t>Une application pour créer des projets, gérer leurs membres, leurs tâches et leurs tags.</a:t>
            </a:r>
            <a:endParaRPr lang="en-US" sz="1600" dirty="0"/>
          </a:p>
        </p:txBody>
      </p:sp>
      <p:sp>
        <p:nvSpPr>
          <p:cNvPr id="4" name="carte-32"/>
          <p:cNvSpPr/>
          <p:nvPr/>
        </p:nvSpPr>
        <p:spPr>
          <a:xfrm>
            <a:off x="548640" y="1874520"/>
            <a:ext cx="3429000" cy="2011680"/>
          </a:xfrm>
          <a:prstGeom prst="roundRect">
            <a:avLst>
              <a:gd name="adj" fmla="val 5455"/>
            </a:avLst>
          </a:prstGeom>
          <a:solidFill>
            <a:schemeClr val="bg2"/>
          </a:solidFill>
          <a:ln/>
        </p:spPr>
        <p:txBody>
          <a:bodyPr/>
          <a:lstStyle/>
          <a:p>
            <a:endParaRPr lang="fr-FR"/>
          </a:p>
        </p:txBody>
      </p:sp>
      <p:sp>
        <p:nvSpPr>
          <p:cNvPr id="5" name="pastille-33"/>
          <p:cNvSpPr/>
          <p:nvPr/>
        </p:nvSpPr>
        <p:spPr>
          <a:xfrm>
            <a:off x="822960" y="2148840"/>
            <a:ext cx="548640" cy="548640"/>
          </a:xfrm>
          <a:prstGeom prst="ellipse">
            <a:avLst/>
          </a:prstGeom>
          <a:solidFill>
            <a:schemeClr val="accent1"/>
          </a:solidFill>
          <a:ln/>
        </p:spPr>
        <p:txBody>
          <a:bodyPr/>
          <a:lstStyle/>
          <a:p>
            <a:endParaRPr lang="fr-FR"/>
          </a:p>
        </p:txBody>
      </p:sp>
      <p:pic>
        <p:nvPicPr>
          <p:cNvPr id="6" name="icone-34" descr="icône"/>
          <p:cNvPicPr>
            <a:picLocks noChangeAspect="1"/>
          </p:cNvPicPr>
          <p:nvPr/>
        </p:nvPicPr>
        <p:blipFill>
          <a:blip r:embed="rId3"/>
          <a:stretch>
            <a:fillRect/>
          </a:stretch>
        </p:blipFill>
        <p:spPr>
          <a:xfrm>
            <a:off x="954634" y="2280514"/>
            <a:ext cx="285293" cy="285293"/>
          </a:xfrm>
          <a:prstGeom prst="rect">
            <a:avLst/>
          </a:prstGeom>
        </p:spPr>
      </p:pic>
      <p:sp>
        <p:nvSpPr>
          <p:cNvPr id="7" name="texte-35"/>
          <p:cNvSpPr txBox="1"/>
          <p:nvPr/>
        </p:nvSpPr>
        <p:spPr>
          <a:xfrm>
            <a:off x="1508760" y="2148840"/>
            <a:ext cx="2240280" cy="548640"/>
          </a:xfrm>
          <a:prstGeom prst="rect">
            <a:avLst/>
          </a:prstGeom>
          <a:noFill/>
          <a:ln/>
        </p:spPr>
        <p:txBody>
          <a:bodyPr wrap="square" lIns="0" tIns="0" rIns="0" bIns="0" rtlCol="0" anchor="ctr"/>
          <a:lstStyle/>
          <a:p>
            <a:pPr marL="0" indent="0">
              <a:buNone/>
            </a:pPr>
            <a:r>
              <a:rPr lang="en-US" sz="1800" b="1" dirty="0">
                <a:solidFill>
                  <a:schemeClr val="tx1"/>
                </a:solidFill>
              </a:rPr>
              <a:t>Utilisateurs</a:t>
            </a:r>
            <a:endParaRPr lang="en-US" sz="1800" dirty="0"/>
          </a:p>
        </p:txBody>
      </p:sp>
      <p:sp>
        <p:nvSpPr>
          <p:cNvPr id="8" name="texte-36"/>
          <p:cNvSpPr txBox="1"/>
          <p:nvPr/>
        </p:nvSpPr>
        <p:spPr>
          <a:xfrm>
            <a:off x="822960" y="2834640"/>
            <a:ext cx="2880360" cy="914400"/>
          </a:xfrm>
          <a:prstGeom prst="rect">
            <a:avLst/>
          </a:prstGeom>
          <a:noFill/>
          <a:ln/>
        </p:spPr>
        <p:txBody>
          <a:bodyPr wrap="square" lIns="0" tIns="0" rIns="0" bIns="0" rtlCol="0" anchor="t"/>
          <a:lstStyle/>
          <a:p>
            <a:pPr marL="0" indent="0">
              <a:buNone/>
            </a:pPr>
            <a:r>
              <a:rPr lang="en-US" sz="1400" dirty="0">
                <a:solidFill>
                  <a:schemeClr val="tx1"/>
                </a:solidFill>
              </a:rPr>
              <a:t>Inscription, connexion par JWT, récupération du profil.</a:t>
            </a:r>
            <a:endParaRPr lang="en-US" sz="1400" dirty="0"/>
          </a:p>
        </p:txBody>
      </p:sp>
      <p:sp>
        <p:nvSpPr>
          <p:cNvPr id="9" name="carte-37"/>
          <p:cNvSpPr/>
          <p:nvPr/>
        </p:nvSpPr>
        <p:spPr>
          <a:xfrm>
            <a:off x="4160520" y="1874520"/>
            <a:ext cx="3429000" cy="2011680"/>
          </a:xfrm>
          <a:prstGeom prst="roundRect">
            <a:avLst>
              <a:gd name="adj" fmla="val 5455"/>
            </a:avLst>
          </a:prstGeom>
          <a:solidFill>
            <a:schemeClr val="bg2"/>
          </a:solidFill>
          <a:ln/>
        </p:spPr>
        <p:txBody>
          <a:bodyPr/>
          <a:lstStyle/>
          <a:p>
            <a:endParaRPr lang="fr-FR"/>
          </a:p>
        </p:txBody>
      </p:sp>
      <p:sp>
        <p:nvSpPr>
          <p:cNvPr id="10" name="pastille-38"/>
          <p:cNvSpPr/>
          <p:nvPr/>
        </p:nvSpPr>
        <p:spPr>
          <a:xfrm>
            <a:off x="4434840" y="2148840"/>
            <a:ext cx="548640" cy="548640"/>
          </a:xfrm>
          <a:prstGeom prst="ellipse">
            <a:avLst/>
          </a:prstGeom>
          <a:solidFill>
            <a:schemeClr val="accent1"/>
          </a:solidFill>
          <a:ln/>
        </p:spPr>
        <p:txBody>
          <a:bodyPr/>
          <a:lstStyle/>
          <a:p>
            <a:endParaRPr lang="fr-FR"/>
          </a:p>
        </p:txBody>
      </p:sp>
      <p:pic>
        <p:nvPicPr>
          <p:cNvPr id="11" name="icone-39" descr="icône"/>
          <p:cNvPicPr>
            <a:picLocks noChangeAspect="1"/>
          </p:cNvPicPr>
          <p:nvPr/>
        </p:nvPicPr>
        <p:blipFill>
          <a:blip r:embed="rId4"/>
          <a:stretch>
            <a:fillRect/>
          </a:stretch>
        </p:blipFill>
        <p:spPr>
          <a:xfrm>
            <a:off x="4566514" y="2280514"/>
            <a:ext cx="285293" cy="285293"/>
          </a:xfrm>
          <a:prstGeom prst="rect">
            <a:avLst/>
          </a:prstGeom>
        </p:spPr>
      </p:pic>
      <p:sp>
        <p:nvSpPr>
          <p:cNvPr id="12" name="texte-40"/>
          <p:cNvSpPr txBox="1"/>
          <p:nvPr/>
        </p:nvSpPr>
        <p:spPr>
          <a:xfrm>
            <a:off x="5120640" y="2148840"/>
            <a:ext cx="2240280" cy="548640"/>
          </a:xfrm>
          <a:prstGeom prst="rect">
            <a:avLst/>
          </a:prstGeom>
          <a:noFill/>
          <a:ln/>
        </p:spPr>
        <p:txBody>
          <a:bodyPr wrap="square" lIns="0" tIns="0" rIns="0" bIns="0" rtlCol="0" anchor="ctr"/>
          <a:lstStyle/>
          <a:p>
            <a:pPr marL="0" indent="0">
              <a:buNone/>
            </a:pPr>
            <a:r>
              <a:rPr lang="en-US" sz="1800" b="1" dirty="0">
                <a:solidFill>
                  <a:schemeClr val="tx1"/>
                </a:solidFill>
              </a:rPr>
              <a:t>Projets</a:t>
            </a:r>
            <a:endParaRPr lang="en-US" sz="1800" dirty="0"/>
          </a:p>
        </p:txBody>
      </p:sp>
      <p:sp>
        <p:nvSpPr>
          <p:cNvPr id="13" name="texte-41"/>
          <p:cNvSpPr txBox="1"/>
          <p:nvPr/>
        </p:nvSpPr>
        <p:spPr>
          <a:xfrm>
            <a:off x="4434840" y="2834640"/>
            <a:ext cx="2880360" cy="914400"/>
          </a:xfrm>
          <a:prstGeom prst="rect">
            <a:avLst/>
          </a:prstGeom>
          <a:noFill/>
          <a:ln/>
        </p:spPr>
        <p:txBody>
          <a:bodyPr wrap="square" lIns="0" tIns="0" rIns="0" bIns="0" rtlCol="0" anchor="t"/>
          <a:lstStyle/>
          <a:p>
            <a:pPr marL="0" indent="0">
              <a:buNone/>
            </a:pPr>
            <a:r>
              <a:rPr lang="en-US" sz="1400" dirty="0">
                <a:solidFill>
                  <a:schemeClr val="tx1"/>
                </a:solidFill>
              </a:rPr>
              <a:t>Le créateur gère son projet ; un manager ajoute ou retire des membres.</a:t>
            </a:r>
            <a:endParaRPr lang="en-US" sz="1400" dirty="0"/>
          </a:p>
        </p:txBody>
      </p:sp>
      <p:sp>
        <p:nvSpPr>
          <p:cNvPr id="14" name="carte-42"/>
          <p:cNvSpPr/>
          <p:nvPr/>
        </p:nvSpPr>
        <p:spPr>
          <a:xfrm>
            <a:off x="548640" y="4069080"/>
            <a:ext cx="3429000" cy="2011680"/>
          </a:xfrm>
          <a:prstGeom prst="roundRect">
            <a:avLst>
              <a:gd name="adj" fmla="val 5455"/>
            </a:avLst>
          </a:prstGeom>
          <a:solidFill>
            <a:schemeClr val="bg2"/>
          </a:solidFill>
          <a:ln/>
        </p:spPr>
        <p:txBody>
          <a:bodyPr/>
          <a:lstStyle/>
          <a:p>
            <a:endParaRPr lang="fr-FR"/>
          </a:p>
        </p:txBody>
      </p:sp>
      <p:sp>
        <p:nvSpPr>
          <p:cNvPr id="15" name="pastille-43"/>
          <p:cNvSpPr/>
          <p:nvPr/>
        </p:nvSpPr>
        <p:spPr>
          <a:xfrm>
            <a:off x="822960" y="4343400"/>
            <a:ext cx="548640" cy="548640"/>
          </a:xfrm>
          <a:prstGeom prst="ellipse">
            <a:avLst/>
          </a:prstGeom>
          <a:solidFill>
            <a:schemeClr val="accent1"/>
          </a:solidFill>
          <a:ln/>
        </p:spPr>
        <p:txBody>
          <a:bodyPr/>
          <a:lstStyle/>
          <a:p>
            <a:endParaRPr lang="fr-FR"/>
          </a:p>
        </p:txBody>
      </p:sp>
      <p:pic>
        <p:nvPicPr>
          <p:cNvPr id="16" name="icone-44" descr="icône"/>
          <p:cNvPicPr>
            <a:picLocks noChangeAspect="1"/>
          </p:cNvPicPr>
          <p:nvPr/>
        </p:nvPicPr>
        <p:blipFill>
          <a:blip r:embed="rId5"/>
          <a:stretch>
            <a:fillRect/>
          </a:stretch>
        </p:blipFill>
        <p:spPr>
          <a:xfrm>
            <a:off x="954634" y="4475074"/>
            <a:ext cx="285293" cy="285293"/>
          </a:xfrm>
          <a:prstGeom prst="rect">
            <a:avLst/>
          </a:prstGeom>
        </p:spPr>
      </p:pic>
      <p:sp>
        <p:nvSpPr>
          <p:cNvPr id="17" name="texte-45"/>
          <p:cNvSpPr txBox="1"/>
          <p:nvPr/>
        </p:nvSpPr>
        <p:spPr>
          <a:xfrm>
            <a:off x="1508760" y="4343400"/>
            <a:ext cx="2240280" cy="548640"/>
          </a:xfrm>
          <a:prstGeom prst="rect">
            <a:avLst/>
          </a:prstGeom>
          <a:noFill/>
          <a:ln/>
        </p:spPr>
        <p:txBody>
          <a:bodyPr wrap="square" lIns="0" tIns="0" rIns="0" bIns="0" rtlCol="0" anchor="ctr"/>
          <a:lstStyle/>
          <a:p>
            <a:pPr marL="0" indent="0">
              <a:buNone/>
            </a:pPr>
            <a:r>
              <a:rPr lang="en-US" sz="1800" b="1" dirty="0">
                <a:solidFill>
                  <a:schemeClr val="tx1"/>
                </a:solidFill>
              </a:rPr>
              <a:t>Tâches</a:t>
            </a:r>
            <a:endParaRPr lang="en-US" sz="1800" dirty="0"/>
          </a:p>
        </p:txBody>
      </p:sp>
      <p:sp>
        <p:nvSpPr>
          <p:cNvPr id="18" name="texte-46"/>
          <p:cNvSpPr txBox="1"/>
          <p:nvPr/>
        </p:nvSpPr>
        <p:spPr>
          <a:xfrm>
            <a:off x="822960" y="5029200"/>
            <a:ext cx="2880360" cy="914400"/>
          </a:xfrm>
          <a:prstGeom prst="rect">
            <a:avLst/>
          </a:prstGeom>
          <a:noFill/>
          <a:ln/>
        </p:spPr>
        <p:txBody>
          <a:bodyPr wrap="square" lIns="0" tIns="0" rIns="0" bIns="0" rtlCol="0" anchor="t"/>
          <a:lstStyle/>
          <a:p>
            <a:pPr marL="0" indent="0">
              <a:buNone/>
            </a:pPr>
            <a:r>
              <a:rPr lang="en-US" sz="1400" dirty="0">
                <a:solidFill>
                  <a:schemeClr val="tx1"/>
                </a:solidFill>
              </a:rPr>
              <a:t>Création par le créateur du </a:t>
            </a:r>
            <a:r>
              <a:rPr lang="en-US" sz="1400" dirty="0" err="1">
                <a:solidFill>
                  <a:schemeClr val="tx1"/>
                </a:solidFill>
              </a:rPr>
              <a:t>projet</a:t>
            </a:r>
            <a:r>
              <a:rPr lang="en-US" sz="1400" dirty="0">
                <a:solidFill>
                  <a:schemeClr val="tx1"/>
                </a:solidFill>
              </a:rPr>
              <a:t> </a:t>
            </a:r>
            <a:r>
              <a:rPr lang="en-US" sz="1400" dirty="0" err="1">
                <a:solidFill>
                  <a:schemeClr val="tx1"/>
                </a:solidFill>
              </a:rPr>
              <a:t>ou</a:t>
            </a:r>
            <a:r>
              <a:rPr lang="en-US" sz="1400" dirty="0">
                <a:solidFill>
                  <a:schemeClr val="tx1"/>
                </a:solidFill>
              </a:rPr>
              <a:t> </a:t>
            </a:r>
            <a:r>
              <a:rPr lang="en-US" sz="1400" dirty="0" err="1">
                <a:solidFill>
                  <a:schemeClr val="tx1"/>
                </a:solidFill>
              </a:rPr>
              <a:t>une</a:t>
            </a:r>
            <a:r>
              <a:rPr lang="en-US" sz="1400" dirty="0">
                <a:solidFill>
                  <a:schemeClr val="tx1"/>
                </a:solidFill>
              </a:rPr>
              <a:t> </a:t>
            </a:r>
            <a:r>
              <a:rPr lang="en-US" sz="1400" dirty="0" err="1">
                <a:solidFill>
                  <a:schemeClr val="tx1"/>
                </a:solidFill>
              </a:rPr>
              <a:t>personne</a:t>
            </a:r>
            <a:r>
              <a:rPr lang="en-US" sz="1400" dirty="0">
                <a:solidFill>
                  <a:schemeClr val="tx1"/>
                </a:solidFill>
              </a:rPr>
              <a:t> </a:t>
            </a:r>
            <a:r>
              <a:rPr lang="en-US" sz="1400" dirty="0" err="1">
                <a:solidFill>
                  <a:schemeClr val="tx1"/>
                </a:solidFill>
              </a:rPr>
              <a:t>faisant</a:t>
            </a:r>
            <a:r>
              <a:rPr lang="en-US" sz="1400" dirty="0">
                <a:solidFill>
                  <a:schemeClr val="tx1"/>
                </a:solidFill>
              </a:rPr>
              <a:t> </a:t>
            </a:r>
            <a:r>
              <a:rPr lang="en-US" sz="1400" dirty="0" err="1">
                <a:solidFill>
                  <a:schemeClr val="tx1"/>
                </a:solidFill>
              </a:rPr>
              <a:t>partie</a:t>
            </a:r>
            <a:r>
              <a:rPr lang="en-US" sz="1400" dirty="0">
                <a:solidFill>
                  <a:schemeClr val="tx1"/>
                </a:solidFill>
              </a:rPr>
              <a:t> de </a:t>
            </a:r>
            <a:r>
              <a:rPr lang="en-US" sz="1400" dirty="0" err="1">
                <a:solidFill>
                  <a:schemeClr val="tx1"/>
                </a:solidFill>
              </a:rPr>
              <a:t>l’équipe</a:t>
            </a:r>
            <a:r>
              <a:rPr lang="en-US" sz="1400" dirty="0">
                <a:solidFill>
                  <a:schemeClr val="tx1"/>
                </a:solidFill>
              </a:rPr>
              <a:t>, l'assigné peut fermer ou rouvrir sa tâche.</a:t>
            </a:r>
            <a:endParaRPr lang="en-US" sz="1400" dirty="0"/>
          </a:p>
        </p:txBody>
      </p:sp>
      <p:sp>
        <p:nvSpPr>
          <p:cNvPr id="19" name="carte-47"/>
          <p:cNvSpPr/>
          <p:nvPr/>
        </p:nvSpPr>
        <p:spPr>
          <a:xfrm>
            <a:off x="4160520" y="4069080"/>
            <a:ext cx="3429000" cy="2011680"/>
          </a:xfrm>
          <a:prstGeom prst="roundRect">
            <a:avLst>
              <a:gd name="adj" fmla="val 5455"/>
            </a:avLst>
          </a:prstGeom>
          <a:solidFill>
            <a:schemeClr val="bg2"/>
          </a:solidFill>
          <a:ln/>
        </p:spPr>
        <p:txBody>
          <a:bodyPr/>
          <a:lstStyle/>
          <a:p>
            <a:endParaRPr lang="fr-FR"/>
          </a:p>
        </p:txBody>
      </p:sp>
      <p:sp>
        <p:nvSpPr>
          <p:cNvPr id="20" name="pastille-48"/>
          <p:cNvSpPr/>
          <p:nvPr/>
        </p:nvSpPr>
        <p:spPr>
          <a:xfrm>
            <a:off x="4434840" y="4343400"/>
            <a:ext cx="548640" cy="548640"/>
          </a:xfrm>
          <a:prstGeom prst="ellipse">
            <a:avLst/>
          </a:prstGeom>
          <a:solidFill>
            <a:schemeClr val="accent1"/>
          </a:solidFill>
          <a:ln/>
        </p:spPr>
        <p:txBody>
          <a:bodyPr/>
          <a:lstStyle/>
          <a:p>
            <a:endParaRPr lang="fr-FR"/>
          </a:p>
        </p:txBody>
      </p:sp>
      <p:pic>
        <p:nvPicPr>
          <p:cNvPr id="21" name="icone-49" descr="icône"/>
          <p:cNvPicPr>
            <a:picLocks noChangeAspect="1"/>
          </p:cNvPicPr>
          <p:nvPr/>
        </p:nvPicPr>
        <p:blipFill>
          <a:blip r:embed="rId6"/>
          <a:stretch>
            <a:fillRect/>
          </a:stretch>
        </p:blipFill>
        <p:spPr>
          <a:xfrm>
            <a:off x="4566514" y="4475074"/>
            <a:ext cx="285293" cy="285293"/>
          </a:xfrm>
          <a:prstGeom prst="rect">
            <a:avLst/>
          </a:prstGeom>
        </p:spPr>
      </p:pic>
      <p:sp>
        <p:nvSpPr>
          <p:cNvPr id="22" name="texte-50"/>
          <p:cNvSpPr txBox="1"/>
          <p:nvPr/>
        </p:nvSpPr>
        <p:spPr>
          <a:xfrm>
            <a:off x="5120640" y="4343400"/>
            <a:ext cx="2240280" cy="548640"/>
          </a:xfrm>
          <a:prstGeom prst="rect">
            <a:avLst/>
          </a:prstGeom>
          <a:noFill/>
          <a:ln/>
        </p:spPr>
        <p:txBody>
          <a:bodyPr wrap="square" lIns="0" tIns="0" rIns="0" bIns="0" rtlCol="0" anchor="ctr"/>
          <a:lstStyle/>
          <a:p>
            <a:pPr marL="0" indent="0">
              <a:buNone/>
            </a:pPr>
            <a:r>
              <a:rPr lang="en-US" sz="1800" b="1" dirty="0">
                <a:solidFill>
                  <a:schemeClr val="tx1"/>
                </a:solidFill>
              </a:rPr>
              <a:t>Sécurité</a:t>
            </a:r>
            <a:endParaRPr lang="en-US" sz="1800" dirty="0"/>
          </a:p>
        </p:txBody>
      </p:sp>
      <p:sp>
        <p:nvSpPr>
          <p:cNvPr id="23" name="texte-51"/>
          <p:cNvSpPr txBox="1"/>
          <p:nvPr/>
        </p:nvSpPr>
        <p:spPr>
          <a:xfrm>
            <a:off x="4434840" y="5029200"/>
            <a:ext cx="2880360" cy="914400"/>
          </a:xfrm>
          <a:prstGeom prst="rect">
            <a:avLst/>
          </a:prstGeom>
          <a:noFill/>
          <a:ln/>
        </p:spPr>
        <p:txBody>
          <a:bodyPr wrap="square" lIns="0" tIns="0" rIns="0" bIns="0" rtlCol="0" anchor="t"/>
          <a:lstStyle/>
          <a:p>
            <a:pPr marL="0" indent="0">
              <a:buNone/>
            </a:pPr>
            <a:r>
              <a:rPr lang="en-US" sz="1400" dirty="0">
                <a:solidFill>
                  <a:schemeClr val="tx1"/>
                </a:solidFill>
              </a:rPr>
              <a:t>Un non-membre ne lit ni ne modifie les tâches (403). Les entrées sont validées.</a:t>
            </a:r>
            <a:endParaRPr lang="en-US" sz="1400" dirty="0"/>
          </a:p>
        </p:txBody>
      </p:sp>
      <p:sp>
        <p:nvSpPr>
          <p:cNvPr id="24" name="carte-52"/>
          <p:cNvSpPr/>
          <p:nvPr/>
        </p:nvSpPr>
        <p:spPr>
          <a:xfrm>
            <a:off x="8001000" y="1234440"/>
            <a:ext cx="3611880" cy="4846320"/>
          </a:xfrm>
          <a:prstGeom prst="roundRect">
            <a:avLst>
              <a:gd name="adj" fmla="val 3038"/>
            </a:avLst>
          </a:prstGeom>
          <a:solidFill>
            <a:schemeClr val="tx1"/>
          </a:solidFill>
          <a:ln/>
        </p:spPr>
        <p:txBody>
          <a:bodyPr/>
          <a:lstStyle/>
          <a:p>
            <a:endParaRPr lang="fr-FR"/>
          </a:p>
        </p:txBody>
      </p:sp>
      <p:sp>
        <p:nvSpPr>
          <p:cNvPr id="25" name="texte-53"/>
          <p:cNvSpPr txBox="1"/>
          <p:nvPr/>
        </p:nvSpPr>
        <p:spPr>
          <a:xfrm>
            <a:off x="8321040" y="1463040"/>
            <a:ext cx="3017520" cy="457200"/>
          </a:xfrm>
          <a:prstGeom prst="rect">
            <a:avLst/>
          </a:prstGeom>
          <a:noFill/>
          <a:ln/>
        </p:spPr>
        <p:txBody>
          <a:bodyPr wrap="square" lIns="0" tIns="0" rIns="0" bIns="0" rtlCol="0" anchor="t"/>
          <a:lstStyle/>
          <a:p>
            <a:pPr marL="0" indent="0">
              <a:buNone/>
            </a:pPr>
            <a:r>
              <a:rPr lang="en-US" sz="1800" b="1" dirty="0">
                <a:solidFill>
                  <a:schemeClr val="bg1"/>
                </a:solidFill>
              </a:rPr>
              <a:t>Stack technique</a:t>
            </a:r>
            <a:endParaRPr lang="en-US" sz="1800" dirty="0"/>
          </a:p>
        </p:txBody>
      </p:sp>
      <p:sp>
        <p:nvSpPr>
          <p:cNvPr id="26" name="pastille-54"/>
          <p:cNvSpPr/>
          <p:nvPr/>
        </p:nvSpPr>
        <p:spPr>
          <a:xfrm>
            <a:off x="8321040" y="2148840"/>
            <a:ext cx="640080" cy="640080"/>
          </a:xfrm>
          <a:prstGeom prst="ellipse">
            <a:avLst/>
          </a:prstGeom>
          <a:solidFill>
            <a:schemeClr val="accent3"/>
          </a:solidFill>
          <a:ln/>
        </p:spPr>
        <p:txBody>
          <a:bodyPr/>
          <a:lstStyle/>
          <a:p>
            <a:endParaRPr lang="fr-FR"/>
          </a:p>
        </p:txBody>
      </p:sp>
      <p:pic>
        <p:nvPicPr>
          <p:cNvPr id="27" name="icone-55" descr="icône"/>
          <p:cNvPicPr>
            <a:picLocks noChangeAspect="1"/>
          </p:cNvPicPr>
          <p:nvPr/>
        </p:nvPicPr>
        <p:blipFill>
          <a:blip r:embed="rId7"/>
          <a:stretch>
            <a:fillRect/>
          </a:stretch>
        </p:blipFill>
        <p:spPr>
          <a:xfrm>
            <a:off x="8474659" y="2302459"/>
            <a:ext cx="332842" cy="332842"/>
          </a:xfrm>
          <a:prstGeom prst="rect">
            <a:avLst/>
          </a:prstGeom>
        </p:spPr>
      </p:pic>
      <p:sp>
        <p:nvSpPr>
          <p:cNvPr id="28" name="texte-56"/>
          <p:cNvSpPr txBox="1"/>
          <p:nvPr/>
        </p:nvSpPr>
        <p:spPr>
          <a:xfrm>
            <a:off x="9144000" y="2148840"/>
            <a:ext cx="2286000" cy="640080"/>
          </a:xfrm>
          <a:prstGeom prst="rect">
            <a:avLst/>
          </a:prstGeom>
          <a:noFill/>
          <a:ln/>
        </p:spPr>
        <p:txBody>
          <a:bodyPr wrap="square" lIns="0" tIns="0" rIns="0" bIns="0" rtlCol="0" anchor="ctr"/>
          <a:lstStyle/>
          <a:p>
            <a:pPr marL="0" indent="0">
              <a:buNone/>
            </a:pPr>
            <a:r>
              <a:rPr lang="en-US" sz="1600" b="1" dirty="0">
                <a:solidFill>
                  <a:schemeClr val="bg1"/>
                </a:solidFill>
              </a:rPr>
              <a:t>MongoDB Atlas</a:t>
            </a:r>
            <a:endParaRPr lang="en-US" sz="1600" dirty="0"/>
          </a:p>
          <a:p>
            <a:pPr marL="0" indent="0">
              <a:buNone/>
            </a:pPr>
            <a:r>
              <a:rPr lang="en-US" sz="1400" dirty="0">
                <a:solidFill>
                  <a:schemeClr val="bg2"/>
                </a:solidFill>
              </a:rPr>
              <a:t>base de données</a:t>
            </a:r>
            <a:endParaRPr lang="en-US" sz="1600" dirty="0"/>
          </a:p>
        </p:txBody>
      </p:sp>
      <p:sp>
        <p:nvSpPr>
          <p:cNvPr id="29" name="pastille-57"/>
          <p:cNvSpPr/>
          <p:nvPr/>
        </p:nvSpPr>
        <p:spPr>
          <a:xfrm>
            <a:off x="8321040" y="3108960"/>
            <a:ext cx="640080" cy="640080"/>
          </a:xfrm>
          <a:prstGeom prst="ellipse">
            <a:avLst/>
          </a:prstGeom>
          <a:solidFill>
            <a:schemeClr val="accent3"/>
          </a:solidFill>
          <a:ln/>
        </p:spPr>
        <p:txBody>
          <a:bodyPr/>
          <a:lstStyle/>
          <a:p>
            <a:endParaRPr lang="fr-FR"/>
          </a:p>
        </p:txBody>
      </p:sp>
      <p:pic>
        <p:nvPicPr>
          <p:cNvPr id="30" name="icone-58" descr="icône"/>
          <p:cNvPicPr>
            <a:picLocks noChangeAspect="1"/>
          </p:cNvPicPr>
          <p:nvPr/>
        </p:nvPicPr>
        <p:blipFill>
          <a:blip r:embed="rId8"/>
          <a:stretch>
            <a:fillRect/>
          </a:stretch>
        </p:blipFill>
        <p:spPr>
          <a:xfrm>
            <a:off x="8474659" y="3262579"/>
            <a:ext cx="332842" cy="332842"/>
          </a:xfrm>
          <a:prstGeom prst="rect">
            <a:avLst/>
          </a:prstGeom>
        </p:spPr>
      </p:pic>
      <p:sp>
        <p:nvSpPr>
          <p:cNvPr id="31" name="texte-59"/>
          <p:cNvSpPr txBox="1"/>
          <p:nvPr/>
        </p:nvSpPr>
        <p:spPr>
          <a:xfrm>
            <a:off x="9144000" y="3108960"/>
            <a:ext cx="2286000" cy="640080"/>
          </a:xfrm>
          <a:prstGeom prst="rect">
            <a:avLst/>
          </a:prstGeom>
          <a:noFill/>
          <a:ln/>
        </p:spPr>
        <p:txBody>
          <a:bodyPr wrap="square" lIns="0" tIns="0" rIns="0" bIns="0" rtlCol="0" anchor="ctr"/>
          <a:lstStyle/>
          <a:p>
            <a:pPr marL="0" indent="0">
              <a:buNone/>
            </a:pPr>
            <a:r>
              <a:rPr lang="en-US" sz="1600" b="1" dirty="0">
                <a:solidFill>
                  <a:schemeClr val="bg1"/>
                </a:solidFill>
              </a:rPr>
              <a:t>Express</a:t>
            </a:r>
            <a:endParaRPr lang="en-US" sz="1600" dirty="0"/>
          </a:p>
          <a:p>
            <a:pPr marL="0" indent="0">
              <a:buNone/>
            </a:pPr>
            <a:r>
              <a:rPr lang="en-US" sz="1400" dirty="0">
                <a:solidFill>
                  <a:schemeClr val="bg2"/>
                </a:solidFill>
              </a:rPr>
              <a:t>API REST</a:t>
            </a:r>
            <a:endParaRPr lang="en-US" sz="1600" dirty="0"/>
          </a:p>
        </p:txBody>
      </p:sp>
      <p:sp>
        <p:nvSpPr>
          <p:cNvPr id="32" name="pastille-60"/>
          <p:cNvSpPr/>
          <p:nvPr/>
        </p:nvSpPr>
        <p:spPr>
          <a:xfrm>
            <a:off x="8321040" y="4069080"/>
            <a:ext cx="640080" cy="640080"/>
          </a:xfrm>
          <a:prstGeom prst="ellipse">
            <a:avLst/>
          </a:prstGeom>
          <a:solidFill>
            <a:schemeClr val="accent3"/>
          </a:solidFill>
          <a:ln/>
        </p:spPr>
        <p:txBody>
          <a:bodyPr/>
          <a:lstStyle/>
          <a:p>
            <a:endParaRPr lang="fr-FR"/>
          </a:p>
        </p:txBody>
      </p:sp>
      <p:pic>
        <p:nvPicPr>
          <p:cNvPr id="33" name="icone-61" descr="icône"/>
          <p:cNvPicPr>
            <a:picLocks noChangeAspect="1"/>
          </p:cNvPicPr>
          <p:nvPr/>
        </p:nvPicPr>
        <p:blipFill>
          <a:blip r:embed="rId9"/>
          <a:stretch>
            <a:fillRect/>
          </a:stretch>
        </p:blipFill>
        <p:spPr>
          <a:xfrm>
            <a:off x="8474659" y="4222699"/>
            <a:ext cx="332842" cy="332842"/>
          </a:xfrm>
          <a:prstGeom prst="rect">
            <a:avLst/>
          </a:prstGeom>
        </p:spPr>
      </p:pic>
      <p:sp>
        <p:nvSpPr>
          <p:cNvPr id="34" name="texte-62"/>
          <p:cNvSpPr txBox="1"/>
          <p:nvPr/>
        </p:nvSpPr>
        <p:spPr>
          <a:xfrm>
            <a:off x="9144000" y="4069080"/>
            <a:ext cx="2286000" cy="640080"/>
          </a:xfrm>
          <a:prstGeom prst="rect">
            <a:avLst/>
          </a:prstGeom>
          <a:noFill/>
          <a:ln/>
        </p:spPr>
        <p:txBody>
          <a:bodyPr wrap="square" lIns="0" tIns="0" rIns="0" bIns="0" rtlCol="0" anchor="ctr"/>
          <a:lstStyle/>
          <a:p>
            <a:pPr marL="0" indent="0">
              <a:buNone/>
            </a:pPr>
            <a:r>
              <a:rPr lang="en-US" sz="1600" b="1" dirty="0">
                <a:solidFill>
                  <a:schemeClr val="bg1"/>
                </a:solidFill>
              </a:rPr>
              <a:t>React</a:t>
            </a:r>
            <a:endParaRPr lang="en-US" sz="1600" dirty="0"/>
          </a:p>
          <a:p>
            <a:pPr marL="0" indent="0">
              <a:buNone/>
            </a:pPr>
            <a:r>
              <a:rPr lang="en-US" sz="1400" dirty="0">
                <a:solidFill>
                  <a:schemeClr val="bg2"/>
                </a:solidFill>
              </a:rPr>
              <a:t>interface</a:t>
            </a:r>
            <a:endParaRPr lang="en-US" sz="1600" dirty="0"/>
          </a:p>
        </p:txBody>
      </p:sp>
      <p:sp>
        <p:nvSpPr>
          <p:cNvPr id="35" name="pastille-63"/>
          <p:cNvSpPr/>
          <p:nvPr/>
        </p:nvSpPr>
        <p:spPr>
          <a:xfrm>
            <a:off x="8321040" y="5029200"/>
            <a:ext cx="640080" cy="640080"/>
          </a:xfrm>
          <a:prstGeom prst="ellipse">
            <a:avLst/>
          </a:prstGeom>
          <a:solidFill>
            <a:schemeClr val="accent3"/>
          </a:solidFill>
          <a:ln/>
        </p:spPr>
        <p:txBody>
          <a:bodyPr/>
          <a:lstStyle/>
          <a:p>
            <a:endParaRPr lang="fr-FR"/>
          </a:p>
        </p:txBody>
      </p:sp>
      <p:pic>
        <p:nvPicPr>
          <p:cNvPr id="36" name="icone-64" descr="icône"/>
          <p:cNvPicPr>
            <a:picLocks noChangeAspect="1"/>
          </p:cNvPicPr>
          <p:nvPr/>
        </p:nvPicPr>
        <p:blipFill>
          <a:blip r:embed="rId10"/>
          <a:stretch>
            <a:fillRect/>
          </a:stretch>
        </p:blipFill>
        <p:spPr>
          <a:xfrm>
            <a:off x="8474659" y="5182819"/>
            <a:ext cx="332842" cy="332842"/>
          </a:xfrm>
          <a:prstGeom prst="rect">
            <a:avLst/>
          </a:prstGeom>
        </p:spPr>
      </p:pic>
      <p:sp>
        <p:nvSpPr>
          <p:cNvPr id="37" name="texte-65"/>
          <p:cNvSpPr txBox="1"/>
          <p:nvPr/>
        </p:nvSpPr>
        <p:spPr>
          <a:xfrm>
            <a:off x="9144000" y="5029200"/>
            <a:ext cx="2286000" cy="640080"/>
          </a:xfrm>
          <a:prstGeom prst="rect">
            <a:avLst/>
          </a:prstGeom>
          <a:noFill/>
          <a:ln/>
        </p:spPr>
        <p:txBody>
          <a:bodyPr wrap="square" lIns="0" tIns="0" rIns="0" bIns="0" rtlCol="0" anchor="ctr"/>
          <a:lstStyle/>
          <a:p>
            <a:pPr marL="0" indent="0">
              <a:buNone/>
            </a:pPr>
            <a:r>
              <a:rPr lang="en-US" sz="1600" b="1" dirty="0">
                <a:solidFill>
                  <a:schemeClr val="bg1"/>
                </a:solidFill>
              </a:rPr>
              <a:t>Node.js</a:t>
            </a:r>
            <a:endParaRPr lang="en-US" sz="1600" dirty="0"/>
          </a:p>
          <a:p>
            <a:pPr marL="0" indent="0">
              <a:buNone/>
            </a:pPr>
            <a:r>
              <a:rPr lang="en-US" sz="1400" dirty="0">
                <a:solidFill>
                  <a:schemeClr val="bg2"/>
                </a:solidFill>
              </a:rPr>
              <a:t>serveur</a:t>
            </a:r>
            <a:endParaRPr lang="en-US" sz="1600" dirty="0"/>
          </a:p>
        </p:txBody>
      </p:sp>
      <p:sp>
        <p:nvSpPr>
          <p:cNvPr id="38"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Versioning avec Git et GitHub</a:t>
            </a:r>
            <a:endParaRPr lang="en-US" sz="3200" dirty="0"/>
          </a:p>
        </p:txBody>
      </p:sp>
      <p:sp>
        <p:nvSpPr>
          <p:cNvPr id="3" name="pastille-66"/>
          <p:cNvSpPr/>
          <p:nvPr/>
        </p:nvSpPr>
        <p:spPr>
          <a:xfrm>
            <a:off x="548640" y="1371600"/>
            <a:ext cx="640080" cy="640080"/>
          </a:xfrm>
          <a:prstGeom prst="ellipse">
            <a:avLst/>
          </a:prstGeom>
          <a:solidFill>
            <a:schemeClr val="tx1"/>
          </a:solidFill>
          <a:ln/>
        </p:spPr>
        <p:txBody>
          <a:bodyPr/>
          <a:lstStyle/>
          <a:p>
            <a:endParaRPr lang="fr-FR"/>
          </a:p>
        </p:txBody>
      </p:sp>
      <p:pic>
        <p:nvPicPr>
          <p:cNvPr id="4" name="icone-67" descr="icône"/>
          <p:cNvPicPr>
            <a:picLocks noChangeAspect="1"/>
          </p:cNvPicPr>
          <p:nvPr/>
        </p:nvPicPr>
        <p:blipFill>
          <a:blip r:embed="rId3"/>
          <a:stretch>
            <a:fillRect/>
          </a:stretch>
        </p:blipFill>
        <p:spPr>
          <a:xfrm>
            <a:off x="702259" y="1525219"/>
            <a:ext cx="332842" cy="332842"/>
          </a:xfrm>
          <a:prstGeom prst="rect">
            <a:avLst/>
          </a:prstGeom>
        </p:spPr>
      </p:pic>
      <p:sp>
        <p:nvSpPr>
          <p:cNvPr id="5" name="texte-68"/>
          <p:cNvSpPr txBox="1"/>
          <p:nvPr/>
        </p:nvSpPr>
        <p:spPr>
          <a:xfrm>
            <a:off x="1371600" y="1371600"/>
            <a:ext cx="4114800" cy="640080"/>
          </a:xfrm>
          <a:prstGeom prst="rect">
            <a:avLst/>
          </a:prstGeom>
          <a:noFill/>
          <a:ln/>
        </p:spPr>
        <p:txBody>
          <a:bodyPr wrap="square" lIns="0" tIns="0" rIns="0" bIns="0" rtlCol="0" anchor="ctr"/>
          <a:lstStyle/>
          <a:p>
            <a:pPr marL="0" indent="0">
              <a:buNone/>
            </a:pPr>
            <a:r>
              <a:rPr lang="en-US" sz="2000" b="1" dirty="0">
                <a:solidFill>
                  <a:schemeClr val="tx1"/>
                </a:solidFill>
              </a:rPr>
              <a:t>Deux dépôts GitHub</a:t>
            </a:r>
            <a:endParaRPr lang="en-US" sz="2000" dirty="0"/>
          </a:p>
        </p:txBody>
      </p:sp>
      <p:sp>
        <p:nvSpPr>
          <p:cNvPr id="6" name="texte-69"/>
          <p:cNvSpPr txBox="1"/>
          <p:nvPr/>
        </p:nvSpPr>
        <p:spPr>
          <a:xfrm>
            <a:off x="548640" y="2286000"/>
            <a:ext cx="4937760" cy="3291840"/>
          </a:xfrm>
          <a:prstGeom prst="rect">
            <a:avLst/>
          </a:prstGeom>
          <a:noFill/>
          <a:ln/>
        </p:spPr>
        <p:txBody>
          <a:bodyPr wrap="square" lIns="0" tIns="0" rIns="0" bIns="0" rtlCol="0" anchor="t"/>
          <a:lstStyle/>
          <a:p>
            <a:pPr marL="342900" indent="-342900">
              <a:spcAft>
                <a:spcPts val="600"/>
              </a:spcAft>
              <a:buSzPct val="100000"/>
              <a:buChar char="•"/>
            </a:pPr>
            <a:r>
              <a:rPr lang="en-US" sz="1600" b="1" dirty="0">
                <a:solidFill>
                  <a:schemeClr val="tx1"/>
                </a:solidFill>
              </a:rPr>
              <a:t>WS9_BackEnd</a:t>
            </a:r>
            <a:r>
              <a:rPr lang="en-US" sz="1600" dirty="0">
                <a:solidFill>
                  <a:schemeClr val="tx1"/>
                </a:solidFill>
              </a:rPr>
              <a:t> pour l'API</a:t>
            </a:r>
            <a:endParaRPr lang="en-US" sz="1600" dirty="0"/>
          </a:p>
          <a:p>
            <a:pPr marL="342900" indent="-342900">
              <a:spcAft>
                <a:spcPts val="600"/>
              </a:spcAft>
              <a:buSzPct val="100000"/>
              <a:buChar char="•"/>
            </a:pPr>
            <a:r>
              <a:rPr lang="en-US" sz="1600" b="1" dirty="0">
                <a:solidFill>
                  <a:schemeClr val="tx1"/>
                </a:solidFill>
              </a:rPr>
              <a:t>WS9_FrontEnd</a:t>
            </a:r>
            <a:r>
              <a:rPr lang="en-US" sz="1600" dirty="0">
                <a:solidFill>
                  <a:schemeClr val="tx1"/>
                </a:solidFill>
              </a:rPr>
              <a:t> pour l'interface React</a:t>
            </a:r>
            <a:endParaRPr lang="en-US" sz="1600" dirty="0"/>
          </a:p>
          <a:p>
            <a:pPr marL="342900" indent="-342900">
              <a:spcAft>
                <a:spcPts val="600"/>
              </a:spcAft>
              <a:buSzPct val="100000"/>
              <a:buChar char="•"/>
            </a:pPr>
            <a:r>
              <a:rPr lang="en-US" sz="1600" b="1" dirty="0">
                <a:solidFill>
                  <a:schemeClr val="tx1"/>
                </a:solidFill>
              </a:rPr>
              <a:t>.gitignore</a:t>
            </a:r>
            <a:r>
              <a:rPr lang="en-US" sz="1600" dirty="0">
                <a:solidFill>
                  <a:schemeClr val="tx1"/>
                </a:solidFill>
              </a:rPr>
              <a:t> : .env et node_modules ne sont jamais envoyés</a:t>
            </a:r>
            <a:endParaRPr lang="en-US" sz="1600" dirty="0"/>
          </a:p>
          <a:p>
            <a:pPr marL="342900" indent="-342900">
              <a:spcAft>
                <a:spcPts val="600"/>
              </a:spcAft>
              <a:buSzPct val="100000"/>
              <a:buChar char="•"/>
            </a:pPr>
            <a:r>
              <a:rPr lang="en-US" sz="1600" dirty="0">
                <a:solidFill>
                  <a:schemeClr val="tx1"/>
                </a:solidFill>
              </a:rPr>
              <a:t>Lien avec le dépôt : git init, add, commit, branch -M main, remote add origin, push</a:t>
            </a:r>
            <a:endParaRPr lang="en-US" sz="1600" dirty="0"/>
          </a:p>
        </p:txBody>
      </p:sp>
      <p:sp>
        <p:nvSpPr>
          <p:cNvPr id="7" name="carte-70"/>
          <p:cNvSpPr/>
          <p:nvPr/>
        </p:nvSpPr>
        <p:spPr>
          <a:xfrm>
            <a:off x="5852160" y="1375057"/>
            <a:ext cx="5760720" cy="2461965"/>
          </a:xfrm>
          <a:prstGeom prst="roundRect">
            <a:avLst>
              <a:gd name="adj" fmla="val 4457"/>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8" name="capture-71" descr="Capture i004"/>
          <p:cNvPicPr>
            <a:picLocks noChangeAspect="1"/>
          </p:cNvPicPr>
          <p:nvPr/>
        </p:nvPicPr>
        <p:blipFill>
          <a:blip r:embed="rId4"/>
          <a:stretch>
            <a:fillRect/>
          </a:stretch>
        </p:blipFill>
        <p:spPr>
          <a:xfrm>
            <a:off x="5916168" y="1439065"/>
            <a:ext cx="5632704" cy="2333949"/>
          </a:xfrm>
          <a:prstGeom prst="rect">
            <a:avLst/>
          </a:prstGeom>
        </p:spPr>
      </p:pic>
      <p:sp>
        <p:nvSpPr>
          <p:cNvPr id="9" name="carte-72"/>
          <p:cNvSpPr/>
          <p:nvPr/>
        </p:nvSpPr>
        <p:spPr>
          <a:xfrm>
            <a:off x="5852160" y="4284821"/>
            <a:ext cx="5760720" cy="1580198"/>
          </a:xfrm>
          <a:prstGeom prst="roundRect">
            <a:avLst>
              <a:gd name="adj" fmla="val 6944"/>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0" name="capture-73" descr="Capture i007"/>
          <p:cNvPicPr>
            <a:picLocks noChangeAspect="1"/>
          </p:cNvPicPr>
          <p:nvPr/>
        </p:nvPicPr>
        <p:blipFill>
          <a:blip r:embed="rId5"/>
          <a:stretch>
            <a:fillRect/>
          </a:stretch>
        </p:blipFill>
        <p:spPr>
          <a:xfrm>
            <a:off x="5916168" y="4348829"/>
            <a:ext cx="5632704" cy="1452182"/>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37360"/>
            <a:ext cx="2743200" cy="1280160"/>
          </a:xfrm>
          <a:prstGeom prst="rect">
            <a:avLst/>
          </a:prstGeom>
          <a:noFill/>
          <a:ln/>
        </p:spPr>
        <p:txBody>
          <a:bodyPr wrap="square" lIns="0" tIns="0" rIns="0" bIns="0" rtlCol="0" anchor="b"/>
          <a:lstStyle/>
          <a:p>
            <a:pPr marL="0" indent="0">
              <a:buNone/>
            </a:pPr>
            <a:r>
              <a:rPr lang="en-US" sz="8000" b="1" dirty="0">
                <a:solidFill>
                  <a:schemeClr val="accent3"/>
                </a:solidFill>
              </a:rPr>
              <a:t>02</a:t>
            </a:r>
            <a:endParaRPr lang="en-US" sz="8000" dirty="0"/>
          </a:p>
        </p:txBody>
      </p:sp>
      <p:sp>
        <p:nvSpPr>
          <p:cNvPr id="3" name="Text 0"/>
          <p:cNvSpPr>
            <a:spLocks noGrp="1"/>
          </p:cNvSpPr>
          <p:nvPr>
            <p:ph type="title" idx="101" hasCustomPrompt="1"/>
          </p:nvPr>
        </p:nvSpPr>
        <p:spPr>
          <a:xfrm>
            <a:off x="731520" y="3108960"/>
            <a:ext cx="10515600" cy="914400"/>
          </a:xfrm>
          <a:prstGeom prst="rect">
            <a:avLst/>
          </a:prstGeom>
          <a:noFill/>
          <a:ln/>
        </p:spPr>
        <p:txBody>
          <a:bodyPr wrap="square" lIns="0" tIns="0" rIns="0" bIns="0" rtlCol="0" anchor="t"/>
          <a:lstStyle/>
          <a:p>
            <a:pPr marL="0" indent="0" algn="l">
              <a:buNone/>
            </a:pPr>
            <a:r>
              <a:rPr lang="en-US" sz="4400" b="1" dirty="0">
                <a:solidFill>
                  <a:schemeClr val="bg1"/>
                </a:solidFill>
              </a:rPr>
              <a:t>Backend</a:t>
            </a:r>
            <a:endParaRPr lang="en-US" sz="4400" dirty="0"/>
          </a:p>
        </p:txBody>
      </p:sp>
      <p:sp>
        <p:nvSpPr>
          <p:cNvPr id="4" name="Text 0"/>
          <p:cNvSpPr>
            <a:spLocks noGrp="1"/>
          </p:cNvSpPr>
          <p:nvPr>
            <p:ph type="body" idx="102" hasCustomPrompt="1"/>
          </p:nvPr>
        </p:nvSpPr>
        <p:spPr>
          <a:xfrm>
            <a:off x="731520" y="4069080"/>
            <a:ext cx="10515600" cy="640080"/>
          </a:xfrm>
          <a:prstGeom prst="rect">
            <a:avLst/>
          </a:prstGeom>
          <a:noFill/>
          <a:ln/>
        </p:spPr>
        <p:txBody>
          <a:bodyPr wrap="square" lIns="0" tIns="0" rIns="0" bIns="0" rtlCol="0" anchor="t"/>
          <a:lstStyle/>
          <a:p>
            <a:pPr marL="0" indent="0">
              <a:buNone/>
            </a:pPr>
            <a:r>
              <a:rPr lang="en-US" sz="2000" dirty="0">
                <a:solidFill>
                  <a:schemeClr val="bg2"/>
                </a:solidFill>
              </a:rPr>
              <a:t>API REST avec Node.js, Express et MongoDB</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Analyse du besoin : diagramme de classes</a:t>
            </a:r>
            <a:endParaRPr lang="en-US" sz="3200" dirty="0"/>
          </a:p>
        </p:txBody>
      </p:sp>
      <p:sp>
        <p:nvSpPr>
          <p:cNvPr id="3" name="carte-74"/>
          <p:cNvSpPr/>
          <p:nvPr/>
        </p:nvSpPr>
        <p:spPr>
          <a:xfrm>
            <a:off x="548640" y="1234440"/>
            <a:ext cx="4937760" cy="4937760"/>
          </a:xfrm>
          <a:prstGeom prst="roundRect">
            <a:avLst>
              <a:gd name="adj" fmla="val 2222"/>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4" name="capture-75" descr="Capture i008"/>
          <p:cNvPicPr>
            <a:picLocks noChangeAspect="1"/>
          </p:cNvPicPr>
          <p:nvPr/>
        </p:nvPicPr>
        <p:blipFill>
          <a:blip r:embed="rId3"/>
          <a:stretch>
            <a:fillRect/>
          </a:stretch>
        </p:blipFill>
        <p:spPr>
          <a:xfrm>
            <a:off x="612648" y="1298448"/>
            <a:ext cx="4809744" cy="4809744"/>
          </a:xfrm>
          <a:prstGeom prst="rect">
            <a:avLst/>
          </a:prstGeom>
        </p:spPr>
      </p:pic>
      <p:sp>
        <p:nvSpPr>
          <p:cNvPr id="5" name="texte-76"/>
          <p:cNvSpPr txBox="1"/>
          <p:nvPr/>
        </p:nvSpPr>
        <p:spPr>
          <a:xfrm>
            <a:off x="5943600" y="1325880"/>
            <a:ext cx="5669280" cy="457200"/>
          </a:xfrm>
          <a:prstGeom prst="rect">
            <a:avLst/>
          </a:prstGeom>
          <a:noFill/>
          <a:ln/>
        </p:spPr>
        <p:txBody>
          <a:bodyPr wrap="square" lIns="0" tIns="0" rIns="0" bIns="0" rtlCol="0" anchor="t"/>
          <a:lstStyle/>
          <a:p>
            <a:pPr marL="0" indent="0">
              <a:buNone/>
            </a:pPr>
            <a:r>
              <a:rPr lang="en-US" sz="2000" b="1" dirty="0">
                <a:solidFill>
                  <a:schemeClr val="tx1"/>
                </a:solidFill>
              </a:rPr>
              <a:t>Quatre modèles Mongoose</a:t>
            </a:r>
            <a:endParaRPr lang="en-US" sz="2000" dirty="0"/>
          </a:p>
        </p:txBody>
      </p:sp>
      <p:sp>
        <p:nvSpPr>
          <p:cNvPr id="6" name="bloc-77"/>
          <p:cNvSpPr/>
          <p:nvPr/>
        </p:nvSpPr>
        <p:spPr>
          <a:xfrm>
            <a:off x="5943600" y="1920240"/>
            <a:ext cx="1554480" cy="731520"/>
          </a:xfrm>
          <a:prstGeom prst="roundRect">
            <a:avLst>
              <a:gd name="adj" fmla="val 12500"/>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600" b="1" dirty="0">
                <a:solidFill>
                  <a:schemeClr val="bg1"/>
                </a:solidFill>
              </a:rPr>
              <a:t>User</a:t>
            </a:r>
            <a:endParaRPr lang="en-US" sz="1600" dirty="0"/>
          </a:p>
        </p:txBody>
      </p:sp>
      <p:sp>
        <p:nvSpPr>
          <p:cNvPr id="7" name="texte-78"/>
          <p:cNvSpPr txBox="1"/>
          <p:nvPr/>
        </p:nvSpPr>
        <p:spPr>
          <a:xfrm>
            <a:off x="7726680" y="1920240"/>
            <a:ext cx="3886200" cy="731520"/>
          </a:xfrm>
          <a:prstGeom prst="rect">
            <a:avLst/>
          </a:prstGeom>
          <a:noFill/>
          <a:ln/>
        </p:spPr>
        <p:txBody>
          <a:bodyPr wrap="square" lIns="0" tIns="0" rIns="0" bIns="0" rtlCol="0" anchor="ctr"/>
          <a:lstStyle/>
          <a:p>
            <a:pPr marL="0" indent="0">
              <a:buNone/>
            </a:pPr>
            <a:r>
              <a:rPr lang="en-US" sz="1400" dirty="0">
                <a:solidFill>
                  <a:schemeClr val="tx1"/>
                </a:solidFill>
              </a:rPr>
              <a:t>nom, prénom, email unique, mot de passe haché, rôle</a:t>
            </a:r>
            <a:endParaRPr lang="en-US" sz="1400" dirty="0"/>
          </a:p>
        </p:txBody>
      </p:sp>
      <p:sp>
        <p:nvSpPr>
          <p:cNvPr id="8" name="bloc-79"/>
          <p:cNvSpPr/>
          <p:nvPr/>
        </p:nvSpPr>
        <p:spPr>
          <a:xfrm>
            <a:off x="5943600" y="2834640"/>
            <a:ext cx="1554480" cy="731520"/>
          </a:xfrm>
          <a:prstGeom prst="roundRect">
            <a:avLst>
              <a:gd name="adj" fmla="val 12500"/>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600" b="1" dirty="0">
                <a:solidFill>
                  <a:schemeClr val="bg1"/>
                </a:solidFill>
              </a:rPr>
              <a:t>Project</a:t>
            </a:r>
            <a:endParaRPr lang="en-US" sz="1600" dirty="0"/>
          </a:p>
        </p:txBody>
      </p:sp>
      <p:sp>
        <p:nvSpPr>
          <p:cNvPr id="9" name="texte-80"/>
          <p:cNvSpPr txBox="1"/>
          <p:nvPr/>
        </p:nvSpPr>
        <p:spPr>
          <a:xfrm>
            <a:off x="7726680" y="2834640"/>
            <a:ext cx="3886200" cy="731520"/>
          </a:xfrm>
          <a:prstGeom prst="rect">
            <a:avLst/>
          </a:prstGeom>
          <a:noFill/>
          <a:ln/>
        </p:spPr>
        <p:txBody>
          <a:bodyPr wrap="square" lIns="0" tIns="0" rIns="0" bIns="0" rtlCol="0" anchor="ctr"/>
          <a:lstStyle/>
          <a:p>
            <a:pPr marL="0" indent="0">
              <a:buNone/>
            </a:pPr>
            <a:r>
              <a:rPr lang="en-US" sz="1400" dirty="0">
                <a:solidFill>
                  <a:schemeClr val="tx1"/>
                </a:solidFill>
              </a:rPr>
              <a:t>titre, description, dates, statut, owner, membres</a:t>
            </a:r>
            <a:endParaRPr lang="en-US" sz="1400" dirty="0"/>
          </a:p>
        </p:txBody>
      </p:sp>
      <p:sp>
        <p:nvSpPr>
          <p:cNvPr id="10" name="bloc-81"/>
          <p:cNvSpPr/>
          <p:nvPr/>
        </p:nvSpPr>
        <p:spPr>
          <a:xfrm>
            <a:off x="5943600" y="3749040"/>
            <a:ext cx="1554480" cy="731520"/>
          </a:xfrm>
          <a:prstGeom prst="roundRect">
            <a:avLst>
              <a:gd name="adj" fmla="val 12500"/>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600" b="1" dirty="0">
                <a:solidFill>
                  <a:schemeClr val="bg1"/>
                </a:solidFill>
              </a:rPr>
              <a:t>Task</a:t>
            </a:r>
            <a:endParaRPr lang="en-US" sz="1600" dirty="0"/>
          </a:p>
        </p:txBody>
      </p:sp>
      <p:sp>
        <p:nvSpPr>
          <p:cNvPr id="11" name="texte-82"/>
          <p:cNvSpPr txBox="1"/>
          <p:nvPr/>
        </p:nvSpPr>
        <p:spPr>
          <a:xfrm>
            <a:off x="7726680" y="3749040"/>
            <a:ext cx="3886200" cy="731520"/>
          </a:xfrm>
          <a:prstGeom prst="rect">
            <a:avLst/>
          </a:prstGeom>
          <a:noFill/>
          <a:ln/>
        </p:spPr>
        <p:txBody>
          <a:bodyPr wrap="square" lIns="0" tIns="0" rIns="0" bIns="0" rtlCol="0" anchor="ctr"/>
          <a:lstStyle/>
          <a:p>
            <a:pPr marL="0" indent="0">
              <a:buNone/>
            </a:pPr>
            <a:r>
              <a:rPr lang="en-US" sz="1400" dirty="0">
                <a:solidFill>
                  <a:schemeClr val="tx1"/>
                </a:solidFill>
              </a:rPr>
              <a:t>titre, priorité, statut, projet, assigné, tags</a:t>
            </a:r>
            <a:endParaRPr lang="en-US" sz="1400" dirty="0"/>
          </a:p>
        </p:txBody>
      </p:sp>
      <p:sp>
        <p:nvSpPr>
          <p:cNvPr id="12" name="bloc-83"/>
          <p:cNvSpPr/>
          <p:nvPr/>
        </p:nvSpPr>
        <p:spPr>
          <a:xfrm>
            <a:off x="5943600" y="4663440"/>
            <a:ext cx="1554480" cy="731520"/>
          </a:xfrm>
          <a:prstGeom prst="roundRect">
            <a:avLst>
              <a:gd name="adj" fmla="val 12500"/>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600" b="1" dirty="0">
                <a:solidFill>
                  <a:schemeClr val="bg1"/>
                </a:solidFill>
              </a:rPr>
              <a:t>Tag</a:t>
            </a:r>
            <a:endParaRPr lang="en-US" sz="1600" dirty="0"/>
          </a:p>
        </p:txBody>
      </p:sp>
      <p:sp>
        <p:nvSpPr>
          <p:cNvPr id="13" name="texte-84"/>
          <p:cNvSpPr txBox="1"/>
          <p:nvPr/>
        </p:nvSpPr>
        <p:spPr>
          <a:xfrm>
            <a:off x="7726680" y="4663440"/>
            <a:ext cx="3886200" cy="731520"/>
          </a:xfrm>
          <a:prstGeom prst="rect">
            <a:avLst/>
          </a:prstGeom>
          <a:noFill/>
          <a:ln/>
        </p:spPr>
        <p:txBody>
          <a:bodyPr wrap="square" lIns="0" tIns="0" rIns="0" bIns="0" rtlCol="0" anchor="ctr"/>
          <a:lstStyle/>
          <a:p>
            <a:pPr marL="0" indent="0">
              <a:buNone/>
            </a:pPr>
            <a:r>
              <a:rPr lang="en-US" sz="1400" dirty="0">
                <a:solidFill>
                  <a:schemeClr val="tx1"/>
                </a:solidFill>
              </a:rPr>
              <a:t>nom, projet</a:t>
            </a:r>
            <a:endParaRPr lang="en-US" sz="1400" dirty="0"/>
          </a:p>
        </p:txBody>
      </p:sp>
      <p:sp>
        <p:nvSpPr>
          <p:cNvPr id="14" name="carte-85"/>
          <p:cNvSpPr/>
          <p:nvPr/>
        </p:nvSpPr>
        <p:spPr>
          <a:xfrm>
            <a:off x="5943600" y="5623560"/>
            <a:ext cx="5669280" cy="548640"/>
          </a:xfrm>
          <a:prstGeom prst="roundRect">
            <a:avLst>
              <a:gd name="adj" fmla="val 20000"/>
            </a:avLst>
          </a:prstGeom>
          <a:solidFill>
            <a:schemeClr val="bg2"/>
          </a:solidFill>
          <a:ln/>
        </p:spPr>
        <p:txBody>
          <a:bodyPr/>
          <a:lstStyle/>
          <a:p>
            <a:endParaRPr lang="fr-FR"/>
          </a:p>
        </p:txBody>
      </p:sp>
      <p:sp>
        <p:nvSpPr>
          <p:cNvPr id="15" name="texte-86"/>
          <p:cNvSpPr txBox="1"/>
          <p:nvPr/>
        </p:nvSpPr>
        <p:spPr>
          <a:xfrm>
            <a:off x="6126480" y="5623560"/>
            <a:ext cx="5394960" cy="548640"/>
          </a:xfrm>
          <a:prstGeom prst="rect">
            <a:avLst/>
          </a:prstGeom>
          <a:noFill/>
          <a:ln/>
        </p:spPr>
        <p:txBody>
          <a:bodyPr wrap="square" lIns="0" tIns="0" rIns="0" bIns="0" rtlCol="0" anchor="ctr"/>
          <a:lstStyle/>
          <a:p>
            <a:pPr marL="0" indent="0">
              <a:buNone/>
            </a:pPr>
            <a:r>
              <a:rPr lang="en-US" sz="1400" i="1" dirty="0">
                <a:solidFill>
                  <a:schemeClr val="tx1"/>
                </a:solidFill>
              </a:rPr>
              <a:t>Les clés PK / FK de l'UML deviennent des ObjectId avec ref dans Mongoose.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Architecture en couches</a:t>
            </a:r>
            <a:endParaRPr lang="en-US" sz="3200" dirty="0"/>
          </a:p>
        </p:txBody>
      </p:sp>
      <p:sp>
        <p:nvSpPr>
          <p:cNvPr id="3" name="bloc-87"/>
          <p:cNvSpPr/>
          <p:nvPr/>
        </p:nvSpPr>
        <p:spPr>
          <a:xfrm>
            <a:off x="548640" y="1463040"/>
            <a:ext cx="1143000" cy="868680"/>
          </a:xfrm>
          <a:prstGeom prst="roundRect">
            <a:avLst>
              <a:gd name="adj" fmla="val 10526"/>
            </a:avLst>
          </a:prstGeom>
          <a:solidFill>
            <a:schemeClr val="tx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Client React</a:t>
            </a:r>
            <a:endParaRPr lang="en-US" sz="1400" dirty="0"/>
          </a:p>
        </p:txBody>
      </p:sp>
      <p:sp>
        <p:nvSpPr>
          <p:cNvPr id="4" name="texte-88"/>
          <p:cNvSpPr txBox="1"/>
          <p:nvPr/>
        </p:nvSpPr>
        <p:spPr>
          <a:xfrm>
            <a:off x="54864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envoie la requête et le token</a:t>
            </a:r>
            <a:endParaRPr lang="en-US" sz="1200" dirty="0"/>
          </a:p>
        </p:txBody>
      </p:sp>
      <p:sp>
        <p:nvSpPr>
          <p:cNvPr id="5" name="fleche-89"/>
          <p:cNvSpPr/>
          <p:nvPr/>
        </p:nvSpPr>
        <p:spPr>
          <a:xfrm>
            <a:off x="1728216" y="1897380"/>
            <a:ext cx="201168" cy="0"/>
          </a:xfrm>
          <a:prstGeom prst="line">
            <a:avLst/>
          </a:prstGeom>
          <a:noFill/>
          <a:ln w="25400">
            <a:solidFill>
              <a:schemeClr val="accent6"/>
            </a:solidFill>
            <a:prstDash val="solid"/>
            <a:tailEnd type="triangle"/>
          </a:ln>
        </p:spPr>
        <p:txBody>
          <a:bodyPr/>
          <a:lstStyle/>
          <a:p>
            <a:endParaRPr lang="fr-FR"/>
          </a:p>
        </p:txBody>
      </p:sp>
      <p:sp>
        <p:nvSpPr>
          <p:cNvPr id="6" name="bloc-90"/>
          <p:cNvSpPr/>
          <p:nvPr/>
        </p:nvSpPr>
        <p:spPr>
          <a:xfrm>
            <a:off x="1965960" y="1463040"/>
            <a:ext cx="1143000" cy="868680"/>
          </a:xfrm>
          <a:prstGeom prst="roundRect">
            <a:avLst>
              <a:gd name="adj" fmla="val 1052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server.js</a:t>
            </a:r>
            <a:endParaRPr lang="en-US" sz="1400" dirty="0"/>
          </a:p>
        </p:txBody>
      </p:sp>
      <p:sp>
        <p:nvSpPr>
          <p:cNvPr id="7" name="texte-91"/>
          <p:cNvSpPr txBox="1"/>
          <p:nvPr/>
        </p:nvSpPr>
        <p:spPr>
          <a:xfrm>
            <a:off x="196596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port, erreurs de démarrage</a:t>
            </a:r>
            <a:endParaRPr lang="en-US" sz="1200" dirty="0"/>
          </a:p>
        </p:txBody>
      </p:sp>
      <p:sp>
        <p:nvSpPr>
          <p:cNvPr id="8" name="fleche-92"/>
          <p:cNvSpPr/>
          <p:nvPr/>
        </p:nvSpPr>
        <p:spPr>
          <a:xfrm>
            <a:off x="3145536" y="1897380"/>
            <a:ext cx="201168" cy="0"/>
          </a:xfrm>
          <a:prstGeom prst="line">
            <a:avLst/>
          </a:prstGeom>
          <a:noFill/>
          <a:ln w="25400">
            <a:solidFill>
              <a:schemeClr val="accent6"/>
            </a:solidFill>
            <a:prstDash val="solid"/>
            <a:tailEnd type="triangle"/>
          </a:ln>
        </p:spPr>
        <p:txBody>
          <a:bodyPr/>
          <a:lstStyle/>
          <a:p>
            <a:endParaRPr lang="fr-FR"/>
          </a:p>
        </p:txBody>
      </p:sp>
      <p:sp>
        <p:nvSpPr>
          <p:cNvPr id="9" name="bloc-93"/>
          <p:cNvSpPr/>
          <p:nvPr/>
        </p:nvSpPr>
        <p:spPr>
          <a:xfrm>
            <a:off x="3383280" y="1463040"/>
            <a:ext cx="1143000" cy="868680"/>
          </a:xfrm>
          <a:prstGeom prst="roundRect">
            <a:avLst>
              <a:gd name="adj" fmla="val 1052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app.js</a:t>
            </a:r>
            <a:endParaRPr lang="en-US" sz="1400" dirty="0"/>
          </a:p>
        </p:txBody>
      </p:sp>
      <p:sp>
        <p:nvSpPr>
          <p:cNvPr id="10" name="texte-94"/>
          <p:cNvSpPr txBox="1"/>
          <p:nvPr/>
        </p:nvSpPr>
        <p:spPr>
          <a:xfrm>
            <a:off x="338328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sécurité, JSON, routes</a:t>
            </a:r>
            <a:endParaRPr lang="en-US" sz="1200" dirty="0"/>
          </a:p>
        </p:txBody>
      </p:sp>
      <p:sp>
        <p:nvSpPr>
          <p:cNvPr id="11" name="fleche-95"/>
          <p:cNvSpPr/>
          <p:nvPr/>
        </p:nvSpPr>
        <p:spPr>
          <a:xfrm>
            <a:off x="4562856" y="1897380"/>
            <a:ext cx="201168" cy="0"/>
          </a:xfrm>
          <a:prstGeom prst="line">
            <a:avLst/>
          </a:prstGeom>
          <a:noFill/>
          <a:ln w="25400">
            <a:solidFill>
              <a:schemeClr val="accent6"/>
            </a:solidFill>
            <a:prstDash val="solid"/>
            <a:tailEnd type="triangle"/>
          </a:ln>
        </p:spPr>
        <p:txBody>
          <a:bodyPr/>
          <a:lstStyle/>
          <a:p>
            <a:endParaRPr lang="fr-FR"/>
          </a:p>
        </p:txBody>
      </p:sp>
      <p:sp>
        <p:nvSpPr>
          <p:cNvPr id="12" name="bloc-96"/>
          <p:cNvSpPr/>
          <p:nvPr/>
        </p:nvSpPr>
        <p:spPr>
          <a:xfrm>
            <a:off x="4800600" y="1463040"/>
            <a:ext cx="1143000" cy="868680"/>
          </a:xfrm>
          <a:prstGeom prst="roundRect">
            <a:avLst>
              <a:gd name="adj" fmla="val 1052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routes</a:t>
            </a:r>
            <a:endParaRPr lang="en-US" sz="1400" dirty="0"/>
          </a:p>
        </p:txBody>
      </p:sp>
      <p:sp>
        <p:nvSpPr>
          <p:cNvPr id="13" name="texte-97"/>
          <p:cNvSpPr txBox="1"/>
          <p:nvPr/>
        </p:nvSpPr>
        <p:spPr>
          <a:xfrm>
            <a:off x="480060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aiguillent vers un controller</a:t>
            </a:r>
            <a:endParaRPr lang="en-US" sz="1200" dirty="0"/>
          </a:p>
        </p:txBody>
      </p:sp>
      <p:sp>
        <p:nvSpPr>
          <p:cNvPr id="14" name="fleche-98"/>
          <p:cNvSpPr/>
          <p:nvPr/>
        </p:nvSpPr>
        <p:spPr>
          <a:xfrm>
            <a:off x="5980176" y="1897380"/>
            <a:ext cx="201168" cy="0"/>
          </a:xfrm>
          <a:prstGeom prst="line">
            <a:avLst/>
          </a:prstGeom>
          <a:noFill/>
          <a:ln w="25400">
            <a:solidFill>
              <a:schemeClr val="accent6"/>
            </a:solidFill>
            <a:prstDash val="solid"/>
            <a:tailEnd type="triangle"/>
          </a:ln>
        </p:spPr>
        <p:txBody>
          <a:bodyPr/>
          <a:lstStyle/>
          <a:p>
            <a:endParaRPr lang="fr-FR"/>
          </a:p>
        </p:txBody>
      </p:sp>
      <p:sp>
        <p:nvSpPr>
          <p:cNvPr id="15" name="bloc-99"/>
          <p:cNvSpPr/>
          <p:nvPr/>
        </p:nvSpPr>
        <p:spPr>
          <a:xfrm>
            <a:off x="6217920" y="1463040"/>
            <a:ext cx="1143000" cy="868680"/>
          </a:xfrm>
          <a:prstGeom prst="roundRect">
            <a:avLst>
              <a:gd name="adj" fmla="val 10526"/>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middlewares</a:t>
            </a:r>
            <a:endParaRPr lang="en-US" sz="1400" dirty="0"/>
          </a:p>
        </p:txBody>
      </p:sp>
      <p:sp>
        <p:nvSpPr>
          <p:cNvPr id="16" name="texte-100"/>
          <p:cNvSpPr txBox="1"/>
          <p:nvPr/>
        </p:nvSpPr>
        <p:spPr>
          <a:xfrm>
            <a:off x="621792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auth, dataValid, checkRole, multer</a:t>
            </a:r>
            <a:endParaRPr lang="en-US" sz="1200" dirty="0"/>
          </a:p>
        </p:txBody>
      </p:sp>
      <p:sp>
        <p:nvSpPr>
          <p:cNvPr id="17" name="fleche-101"/>
          <p:cNvSpPr/>
          <p:nvPr/>
        </p:nvSpPr>
        <p:spPr>
          <a:xfrm>
            <a:off x="7397496" y="1897380"/>
            <a:ext cx="201168" cy="0"/>
          </a:xfrm>
          <a:prstGeom prst="line">
            <a:avLst/>
          </a:prstGeom>
          <a:noFill/>
          <a:ln w="25400">
            <a:solidFill>
              <a:schemeClr val="accent6"/>
            </a:solidFill>
            <a:prstDash val="solid"/>
            <a:tailEnd type="triangle"/>
          </a:ln>
        </p:spPr>
        <p:txBody>
          <a:bodyPr/>
          <a:lstStyle/>
          <a:p>
            <a:endParaRPr lang="fr-FR"/>
          </a:p>
        </p:txBody>
      </p:sp>
      <p:sp>
        <p:nvSpPr>
          <p:cNvPr id="18" name="bloc-102"/>
          <p:cNvSpPr/>
          <p:nvPr/>
        </p:nvSpPr>
        <p:spPr>
          <a:xfrm>
            <a:off x="7635240" y="1463040"/>
            <a:ext cx="1143000" cy="868680"/>
          </a:xfrm>
          <a:prstGeom prst="roundRect">
            <a:avLst>
              <a:gd name="adj" fmla="val 1052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controllers</a:t>
            </a:r>
            <a:endParaRPr lang="en-US" sz="1400" dirty="0"/>
          </a:p>
        </p:txBody>
      </p:sp>
      <p:sp>
        <p:nvSpPr>
          <p:cNvPr id="19" name="texte-103"/>
          <p:cNvSpPr txBox="1"/>
          <p:nvPr/>
        </p:nvSpPr>
        <p:spPr>
          <a:xfrm>
            <a:off x="763524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logique métier</a:t>
            </a:r>
            <a:endParaRPr lang="en-US" sz="1200" dirty="0"/>
          </a:p>
        </p:txBody>
      </p:sp>
      <p:sp>
        <p:nvSpPr>
          <p:cNvPr id="20" name="fleche-104"/>
          <p:cNvSpPr/>
          <p:nvPr/>
        </p:nvSpPr>
        <p:spPr>
          <a:xfrm>
            <a:off x="8814816" y="1897380"/>
            <a:ext cx="201168" cy="0"/>
          </a:xfrm>
          <a:prstGeom prst="line">
            <a:avLst/>
          </a:prstGeom>
          <a:noFill/>
          <a:ln w="25400">
            <a:solidFill>
              <a:schemeClr val="accent6"/>
            </a:solidFill>
            <a:prstDash val="solid"/>
            <a:tailEnd type="triangle"/>
          </a:ln>
        </p:spPr>
        <p:txBody>
          <a:bodyPr/>
          <a:lstStyle/>
          <a:p>
            <a:endParaRPr lang="fr-FR"/>
          </a:p>
        </p:txBody>
      </p:sp>
      <p:sp>
        <p:nvSpPr>
          <p:cNvPr id="21" name="bloc-105"/>
          <p:cNvSpPr/>
          <p:nvPr/>
        </p:nvSpPr>
        <p:spPr>
          <a:xfrm>
            <a:off x="9052560" y="1463040"/>
            <a:ext cx="1143000" cy="868680"/>
          </a:xfrm>
          <a:prstGeom prst="roundRect">
            <a:avLst>
              <a:gd name="adj" fmla="val 1052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models</a:t>
            </a:r>
            <a:endParaRPr lang="en-US" sz="1400" dirty="0"/>
          </a:p>
        </p:txBody>
      </p:sp>
      <p:sp>
        <p:nvSpPr>
          <p:cNvPr id="22" name="texte-106"/>
          <p:cNvSpPr txBox="1"/>
          <p:nvPr/>
        </p:nvSpPr>
        <p:spPr>
          <a:xfrm>
            <a:off x="905256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schémas Mongoose</a:t>
            </a:r>
            <a:endParaRPr lang="en-US" sz="1200" dirty="0"/>
          </a:p>
        </p:txBody>
      </p:sp>
      <p:sp>
        <p:nvSpPr>
          <p:cNvPr id="23" name="fleche-107"/>
          <p:cNvSpPr/>
          <p:nvPr/>
        </p:nvSpPr>
        <p:spPr>
          <a:xfrm>
            <a:off x="10232136" y="1897380"/>
            <a:ext cx="201168" cy="0"/>
          </a:xfrm>
          <a:prstGeom prst="line">
            <a:avLst/>
          </a:prstGeom>
          <a:noFill/>
          <a:ln w="25400">
            <a:solidFill>
              <a:schemeClr val="accent6"/>
            </a:solidFill>
            <a:prstDash val="solid"/>
            <a:tailEnd type="triangle"/>
          </a:ln>
        </p:spPr>
        <p:txBody>
          <a:bodyPr/>
          <a:lstStyle/>
          <a:p>
            <a:endParaRPr lang="fr-FR"/>
          </a:p>
        </p:txBody>
      </p:sp>
      <p:sp>
        <p:nvSpPr>
          <p:cNvPr id="24" name="bloc-108"/>
          <p:cNvSpPr/>
          <p:nvPr/>
        </p:nvSpPr>
        <p:spPr>
          <a:xfrm>
            <a:off x="10469880" y="1463040"/>
            <a:ext cx="1143000" cy="868680"/>
          </a:xfrm>
          <a:prstGeom prst="roundRect">
            <a:avLst>
              <a:gd name="adj" fmla="val 10526"/>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MongoDB Atlas</a:t>
            </a:r>
            <a:endParaRPr lang="en-US" sz="1400" dirty="0"/>
          </a:p>
        </p:txBody>
      </p:sp>
      <p:sp>
        <p:nvSpPr>
          <p:cNvPr id="25" name="texte-109"/>
          <p:cNvSpPr txBox="1"/>
          <p:nvPr/>
        </p:nvSpPr>
        <p:spPr>
          <a:xfrm>
            <a:off x="10469880" y="2468880"/>
            <a:ext cx="1143000" cy="822960"/>
          </a:xfrm>
          <a:prstGeom prst="rect">
            <a:avLst/>
          </a:prstGeom>
          <a:noFill/>
          <a:ln/>
        </p:spPr>
        <p:txBody>
          <a:bodyPr wrap="square" lIns="0" tIns="0" rIns="0" bIns="0" rtlCol="0" anchor="t"/>
          <a:lstStyle/>
          <a:p>
            <a:pPr marL="0" indent="0" algn="ctr">
              <a:buNone/>
            </a:pPr>
            <a:r>
              <a:rPr lang="en-US" sz="1200" dirty="0">
                <a:solidFill>
                  <a:schemeClr val="accent6"/>
                </a:solidFill>
              </a:rPr>
              <a:t>stockage des données</a:t>
            </a:r>
            <a:endParaRPr lang="en-US" sz="1200" dirty="0"/>
          </a:p>
        </p:txBody>
      </p:sp>
      <p:sp>
        <p:nvSpPr>
          <p:cNvPr id="26" name="texte-110"/>
          <p:cNvSpPr txBox="1"/>
          <p:nvPr/>
        </p:nvSpPr>
        <p:spPr>
          <a:xfrm>
            <a:off x="548640" y="3429000"/>
            <a:ext cx="5486400" cy="411480"/>
          </a:xfrm>
          <a:prstGeom prst="rect">
            <a:avLst/>
          </a:prstGeom>
          <a:noFill/>
          <a:ln/>
        </p:spPr>
        <p:txBody>
          <a:bodyPr wrap="square" lIns="0" tIns="0" rIns="0" bIns="0" rtlCol="0" anchor="t"/>
          <a:lstStyle/>
          <a:p>
            <a:pPr marL="0" indent="0">
              <a:buNone/>
            </a:pPr>
            <a:r>
              <a:rPr lang="en-US" sz="1800" b="1" dirty="0">
                <a:solidFill>
                  <a:schemeClr val="tx1"/>
                </a:solidFill>
              </a:rPr>
              <a:t>Fichiers d'environnement</a:t>
            </a:r>
            <a:endParaRPr lang="en-US" sz="1800" dirty="0"/>
          </a:p>
        </p:txBody>
      </p:sp>
      <p:sp>
        <p:nvSpPr>
          <p:cNvPr id="27" name="carte-111"/>
          <p:cNvSpPr/>
          <p:nvPr/>
        </p:nvSpPr>
        <p:spPr>
          <a:xfrm>
            <a:off x="548640" y="3931920"/>
            <a:ext cx="2606040" cy="1371600"/>
          </a:xfrm>
          <a:prstGeom prst="roundRect">
            <a:avLst>
              <a:gd name="adj" fmla="val 8000"/>
            </a:avLst>
          </a:prstGeom>
          <a:solidFill>
            <a:schemeClr val="bg2"/>
          </a:solidFill>
          <a:ln/>
        </p:spPr>
        <p:txBody>
          <a:bodyPr/>
          <a:lstStyle/>
          <a:p>
            <a:endParaRPr lang="fr-FR"/>
          </a:p>
        </p:txBody>
      </p:sp>
      <p:sp>
        <p:nvSpPr>
          <p:cNvPr id="28" name="texte-112"/>
          <p:cNvSpPr txBox="1"/>
          <p:nvPr/>
        </p:nvSpPr>
        <p:spPr>
          <a:xfrm>
            <a:off x="777240" y="4069080"/>
            <a:ext cx="2148840" cy="4114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.env.dev</a:t>
            </a:r>
            <a:endParaRPr lang="en-US" sz="1600" dirty="0"/>
          </a:p>
        </p:txBody>
      </p:sp>
      <p:sp>
        <p:nvSpPr>
          <p:cNvPr id="29" name="texte-113"/>
          <p:cNvSpPr txBox="1"/>
          <p:nvPr/>
        </p:nvSpPr>
        <p:spPr>
          <a:xfrm>
            <a:off x="777240" y="4526280"/>
            <a:ext cx="2148840" cy="685800"/>
          </a:xfrm>
          <a:prstGeom prst="rect">
            <a:avLst/>
          </a:prstGeom>
          <a:noFill/>
          <a:ln/>
        </p:spPr>
        <p:txBody>
          <a:bodyPr wrap="square" lIns="0" tIns="0" rIns="0" bIns="0" rtlCol="0" anchor="t"/>
          <a:lstStyle/>
          <a:p>
            <a:pPr marL="0" indent="0">
              <a:buNone/>
            </a:pPr>
            <a:r>
              <a:rPr lang="en-US" sz="1400" dirty="0">
                <a:solidFill>
                  <a:schemeClr val="tx1"/>
                </a:solidFill>
              </a:rPr>
              <a:t>npm run dev → NODE_ENV=dev</a:t>
            </a:r>
            <a:endParaRPr lang="en-US" sz="1400" dirty="0"/>
          </a:p>
        </p:txBody>
      </p:sp>
      <p:sp>
        <p:nvSpPr>
          <p:cNvPr id="30" name="carte-114"/>
          <p:cNvSpPr/>
          <p:nvPr/>
        </p:nvSpPr>
        <p:spPr>
          <a:xfrm>
            <a:off x="3364992" y="3931920"/>
            <a:ext cx="2606040" cy="1371600"/>
          </a:xfrm>
          <a:prstGeom prst="roundRect">
            <a:avLst>
              <a:gd name="adj" fmla="val 8000"/>
            </a:avLst>
          </a:prstGeom>
          <a:solidFill>
            <a:schemeClr val="bg2"/>
          </a:solidFill>
          <a:ln/>
        </p:spPr>
        <p:txBody>
          <a:bodyPr/>
          <a:lstStyle/>
          <a:p>
            <a:endParaRPr lang="fr-FR"/>
          </a:p>
        </p:txBody>
      </p:sp>
      <p:sp>
        <p:nvSpPr>
          <p:cNvPr id="31" name="texte-115"/>
          <p:cNvSpPr txBox="1"/>
          <p:nvPr/>
        </p:nvSpPr>
        <p:spPr>
          <a:xfrm>
            <a:off x="3593592" y="4069080"/>
            <a:ext cx="2148840" cy="4114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.env.prod</a:t>
            </a:r>
            <a:endParaRPr lang="en-US" sz="1600" dirty="0"/>
          </a:p>
        </p:txBody>
      </p:sp>
      <p:sp>
        <p:nvSpPr>
          <p:cNvPr id="32" name="texte-116"/>
          <p:cNvSpPr txBox="1"/>
          <p:nvPr/>
        </p:nvSpPr>
        <p:spPr>
          <a:xfrm>
            <a:off x="3593592" y="4526280"/>
            <a:ext cx="2148840" cy="685800"/>
          </a:xfrm>
          <a:prstGeom prst="rect">
            <a:avLst/>
          </a:prstGeom>
          <a:noFill/>
          <a:ln/>
        </p:spPr>
        <p:txBody>
          <a:bodyPr wrap="square" lIns="0" tIns="0" rIns="0" bIns="0" rtlCol="0" anchor="t"/>
          <a:lstStyle/>
          <a:p>
            <a:pPr marL="0" indent="0">
              <a:buNone/>
            </a:pPr>
            <a:r>
              <a:rPr lang="en-US" sz="1400" dirty="0">
                <a:solidFill>
                  <a:schemeClr val="tx1"/>
                </a:solidFill>
              </a:rPr>
              <a:t>npm start → NODE_ENV=prod</a:t>
            </a:r>
            <a:endParaRPr lang="en-US" sz="1400" dirty="0"/>
          </a:p>
        </p:txBody>
      </p:sp>
      <p:sp>
        <p:nvSpPr>
          <p:cNvPr id="33" name="carte-117"/>
          <p:cNvSpPr/>
          <p:nvPr/>
        </p:nvSpPr>
        <p:spPr>
          <a:xfrm>
            <a:off x="6181344" y="3931920"/>
            <a:ext cx="2606040" cy="1371600"/>
          </a:xfrm>
          <a:prstGeom prst="roundRect">
            <a:avLst>
              <a:gd name="adj" fmla="val 8000"/>
            </a:avLst>
          </a:prstGeom>
          <a:solidFill>
            <a:schemeClr val="bg2"/>
          </a:solidFill>
          <a:ln/>
        </p:spPr>
        <p:txBody>
          <a:bodyPr/>
          <a:lstStyle/>
          <a:p>
            <a:endParaRPr lang="fr-FR"/>
          </a:p>
        </p:txBody>
      </p:sp>
      <p:sp>
        <p:nvSpPr>
          <p:cNvPr id="34" name="texte-118"/>
          <p:cNvSpPr txBox="1"/>
          <p:nvPr/>
        </p:nvSpPr>
        <p:spPr>
          <a:xfrm>
            <a:off x="6409944" y="4069080"/>
            <a:ext cx="2148840" cy="4114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.env.example</a:t>
            </a:r>
            <a:endParaRPr lang="en-US" sz="1600" dirty="0"/>
          </a:p>
        </p:txBody>
      </p:sp>
      <p:sp>
        <p:nvSpPr>
          <p:cNvPr id="35" name="texte-119"/>
          <p:cNvSpPr txBox="1"/>
          <p:nvPr/>
        </p:nvSpPr>
        <p:spPr>
          <a:xfrm>
            <a:off x="6409944" y="4526280"/>
            <a:ext cx="2148840" cy="685800"/>
          </a:xfrm>
          <a:prstGeom prst="rect">
            <a:avLst/>
          </a:prstGeom>
          <a:noFill/>
          <a:ln/>
        </p:spPr>
        <p:txBody>
          <a:bodyPr wrap="square" lIns="0" tIns="0" rIns="0" bIns="0" rtlCol="0" anchor="t"/>
          <a:lstStyle/>
          <a:p>
            <a:pPr marL="0" indent="0">
              <a:buNone/>
            </a:pPr>
            <a:r>
              <a:rPr lang="en-US" sz="1400" dirty="0">
                <a:solidFill>
                  <a:schemeClr val="tx1"/>
                </a:solidFill>
              </a:rPr>
              <a:t>modèle sans valeurs, envoyé sur GitHub</a:t>
            </a:r>
            <a:endParaRPr lang="en-US" sz="1400" dirty="0"/>
          </a:p>
        </p:txBody>
      </p:sp>
      <p:sp>
        <p:nvSpPr>
          <p:cNvPr id="36" name="carte-120"/>
          <p:cNvSpPr/>
          <p:nvPr/>
        </p:nvSpPr>
        <p:spPr>
          <a:xfrm>
            <a:off x="8997696" y="3931920"/>
            <a:ext cx="2606040" cy="1371600"/>
          </a:xfrm>
          <a:prstGeom prst="roundRect">
            <a:avLst>
              <a:gd name="adj" fmla="val 8000"/>
            </a:avLst>
          </a:prstGeom>
          <a:solidFill>
            <a:schemeClr val="bg2"/>
          </a:solidFill>
          <a:ln/>
        </p:spPr>
        <p:txBody>
          <a:bodyPr/>
          <a:lstStyle/>
          <a:p>
            <a:endParaRPr lang="fr-FR"/>
          </a:p>
        </p:txBody>
      </p:sp>
      <p:sp>
        <p:nvSpPr>
          <p:cNvPr id="37" name="texte-121"/>
          <p:cNvSpPr txBox="1"/>
          <p:nvPr/>
        </p:nvSpPr>
        <p:spPr>
          <a:xfrm>
            <a:off x="9226296" y="4069080"/>
            <a:ext cx="2148840" cy="4114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Variables</a:t>
            </a:r>
            <a:endParaRPr lang="en-US" sz="1600" dirty="0"/>
          </a:p>
        </p:txBody>
      </p:sp>
      <p:sp>
        <p:nvSpPr>
          <p:cNvPr id="38" name="texte-122"/>
          <p:cNvSpPr txBox="1"/>
          <p:nvPr/>
        </p:nvSpPr>
        <p:spPr>
          <a:xfrm>
            <a:off x="9226296" y="4526280"/>
            <a:ext cx="2148840" cy="685800"/>
          </a:xfrm>
          <a:prstGeom prst="rect">
            <a:avLst/>
          </a:prstGeom>
          <a:noFill/>
          <a:ln/>
        </p:spPr>
        <p:txBody>
          <a:bodyPr wrap="square" lIns="0" tIns="0" rIns="0" bIns="0" rtlCol="0" anchor="t"/>
          <a:lstStyle/>
          <a:p>
            <a:pPr marL="0" indent="0">
              <a:buNone/>
            </a:pPr>
            <a:r>
              <a:rPr lang="en-US" sz="1400" dirty="0">
                <a:solidFill>
                  <a:schemeClr val="tx1"/>
                </a:solidFill>
              </a:rPr>
              <a:t>JWT_SECRET, DB_USER, DB_PASSWORD, URL_Front</a:t>
            </a:r>
            <a:endParaRPr lang="en-US" sz="1400" dirty="0"/>
          </a:p>
        </p:txBody>
      </p:sp>
      <p:sp>
        <p:nvSpPr>
          <p:cNvPr id="39" name="texte-123"/>
          <p:cNvSpPr txBox="1"/>
          <p:nvPr/>
        </p:nvSpPr>
        <p:spPr>
          <a:xfrm>
            <a:off x="548640" y="5577840"/>
            <a:ext cx="11064240" cy="457200"/>
          </a:xfrm>
          <a:prstGeom prst="rect">
            <a:avLst/>
          </a:prstGeom>
          <a:noFill/>
          <a:ln/>
        </p:spPr>
        <p:txBody>
          <a:bodyPr wrap="square" lIns="0" tIns="0" rIns="0" bIns="0" rtlCol="0" anchor="t"/>
          <a:lstStyle/>
          <a:p>
            <a:pPr marL="0" indent="0">
              <a:buNone/>
            </a:pPr>
            <a:r>
              <a:rPr lang="en-US" sz="1400" i="1" dirty="0">
                <a:solidFill>
                  <a:schemeClr val="accent6"/>
                </a:solidFill>
              </a:rPr>
              <a:t>server.js est séparé de app.js : les tests importent l'application sans démarrer le serveur.</a:t>
            </a:r>
            <a:endParaRPr lang="en-US" sz="1400" dirty="0"/>
          </a:p>
        </p:txBody>
      </p:sp>
      <p:sp>
        <p:nvSpPr>
          <p:cNvPr id="40"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Parcours d'une requête</a:t>
            </a:r>
            <a:endParaRPr lang="en-US" sz="3200" dirty="0"/>
          </a:p>
        </p:txBody>
      </p:sp>
      <p:sp>
        <p:nvSpPr>
          <p:cNvPr id="3" name="texte-124"/>
          <p:cNvSpPr txBox="1"/>
          <p:nvPr/>
        </p:nvSpPr>
        <p:spPr>
          <a:xfrm>
            <a:off x="548640" y="1188720"/>
            <a:ext cx="11064240" cy="411480"/>
          </a:xfrm>
          <a:prstGeom prst="rect">
            <a:avLst/>
          </a:prstGeom>
          <a:noFill/>
          <a:ln/>
        </p:spPr>
        <p:txBody>
          <a:bodyPr wrap="square" lIns="0" tIns="0" rIns="0" bIns="0" rtlCol="0" anchor="t"/>
          <a:lstStyle/>
          <a:p>
            <a:pPr marL="0" indent="0">
              <a:buNone/>
            </a:pPr>
            <a:r>
              <a:rPr lang="en-US" sz="1600" i="1" dirty="0">
                <a:solidFill>
                  <a:schemeClr val="accent6"/>
                </a:solidFill>
              </a:rPr>
              <a:t>Exemple : modification d'un projet, PATCH /api/projet/:id avec le token JWT</a:t>
            </a:r>
            <a:endParaRPr lang="en-US" sz="1600" dirty="0"/>
          </a:p>
        </p:txBody>
      </p:sp>
      <p:sp>
        <p:nvSpPr>
          <p:cNvPr id="4" name="bloc-125"/>
          <p:cNvSpPr/>
          <p:nvPr/>
        </p:nvSpPr>
        <p:spPr>
          <a:xfrm>
            <a:off x="548640" y="1828800"/>
            <a:ext cx="1325880" cy="822960"/>
          </a:xfrm>
          <a:prstGeom prst="roundRect">
            <a:avLst>
              <a:gd name="adj" fmla="val 11111"/>
            </a:avLst>
          </a:prstGeom>
          <a:solidFill>
            <a:schemeClr val="tx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Client</a:t>
            </a:r>
            <a:endParaRPr lang="en-US" sz="1400" dirty="0"/>
          </a:p>
        </p:txBody>
      </p:sp>
      <p:sp>
        <p:nvSpPr>
          <p:cNvPr id="5" name="fleche-126"/>
          <p:cNvSpPr/>
          <p:nvPr/>
        </p:nvSpPr>
        <p:spPr>
          <a:xfrm>
            <a:off x="1911096" y="2240280"/>
            <a:ext cx="219456" cy="0"/>
          </a:xfrm>
          <a:prstGeom prst="line">
            <a:avLst/>
          </a:prstGeom>
          <a:noFill/>
          <a:ln w="25400">
            <a:solidFill>
              <a:schemeClr val="accent6"/>
            </a:solidFill>
            <a:prstDash val="solid"/>
            <a:tailEnd type="triangle"/>
          </a:ln>
        </p:spPr>
        <p:txBody>
          <a:bodyPr/>
          <a:lstStyle/>
          <a:p>
            <a:endParaRPr lang="fr-FR"/>
          </a:p>
        </p:txBody>
      </p:sp>
      <p:sp>
        <p:nvSpPr>
          <p:cNvPr id="6" name="bloc-127"/>
          <p:cNvSpPr/>
          <p:nvPr/>
        </p:nvSpPr>
        <p:spPr>
          <a:xfrm>
            <a:off x="2167128" y="1828800"/>
            <a:ext cx="1325880" cy="822960"/>
          </a:xfrm>
          <a:prstGeom prst="roundRect">
            <a:avLst>
              <a:gd name="adj" fmla="val 11111"/>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auth</a:t>
            </a:r>
            <a:endParaRPr lang="en-US" sz="1400" dirty="0"/>
          </a:p>
        </p:txBody>
      </p:sp>
      <p:sp>
        <p:nvSpPr>
          <p:cNvPr id="7" name="fleche-128"/>
          <p:cNvSpPr/>
          <p:nvPr/>
        </p:nvSpPr>
        <p:spPr>
          <a:xfrm>
            <a:off x="3529584" y="2240280"/>
            <a:ext cx="219456" cy="0"/>
          </a:xfrm>
          <a:prstGeom prst="line">
            <a:avLst/>
          </a:prstGeom>
          <a:noFill/>
          <a:ln w="25400">
            <a:solidFill>
              <a:schemeClr val="accent6"/>
            </a:solidFill>
            <a:prstDash val="solid"/>
            <a:tailEnd type="triangle"/>
          </a:ln>
        </p:spPr>
        <p:txBody>
          <a:bodyPr/>
          <a:lstStyle/>
          <a:p>
            <a:endParaRPr lang="fr-FR"/>
          </a:p>
        </p:txBody>
      </p:sp>
      <p:sp>
        <p:nvSpPr>
          <p:cNvPr id="8" name="erreur-129"/>
          <p:cNvSpPr txBox="1"/>
          <p:nvPr/>
        </p:nvSpPr>
        <p:spPr>
          <a:xfrm>
            <a:off x="2212848" y="2834640"/>
            <a:ext cx="1234440" cy="777240"/>
          </a:xfrm>
          <a:prstGeom prst="roundRect">
            <a:avLst>
              <a:gd name="adj" fmla="val 11765"/>
            </a:avLst>
          </a:prstGeom>
          <a:solidFill>
            <a:schemeClr val="bg2"/>
          </a:solidFill>
          <a:ln w="15875">
            <a:solidFill>
              <a:schemeClr val="accent4"/>
            </a:solidFill>
          </a:ln>
        </p:spPr>
        <p:txBody>
          <a:bodyPr wrap="square" lIns="25400" tIns="25400" rIns="25400" bIns="25400" rtlCol="0" anchor="ctr"/>
          <a:lstStyle/>
          <a:p>
            <a:pPr marL="0" indent="0" algn="ctr">
              <a:buNone/>
            </a:pPr>
            <a:r>
              <a:rPr lang="en-US" sz="1600" b="1" dirty="0">
                <a:solidFill>
                  <a:schemeClr val="accent4"/>
                </a:solidFill>
              </a:rPr>
              <a:t>401</a:t>
            </a:r>
            <a:endParaRPr lang="en-US" sz="1600" dirty="0"/>
          </a:p>
          <a:p>
            <a:pPr marL="0" indent="0" algn="ctr">
              <a:buNone/>
            </a:pPr>
            <a:r>
              <a:rPr lang="en-US" sz="1100" dirty="0">
                <a:solidFill>
                  <a:schemeClr val="accent4"/>
                </a:solidFill>
              </a:rPr>
              <a:t>token absent ou invalide</a:t>
            </a:r>
            <a:endParaRPr lang="en-US" sz="1600" dirty="0"/>
          </a:p>
        </p:txBody>
      </p:sp>
      <p:sp>
        <p:nvSpPr>
          <p:cNvPr id="9" name="bloc-130"/>
          <p:cNvSpPr/>
          <p:nvPr/>
        </p:nvSpPr>
        <p:spPr>
          <a:xfrm>
            <a:off x="3785616" y="1828800"/>
            <a:ext cx="1325880" cy="822960"/>
          </a:xfrm>
          <a:prstGeom prst="roundRect">
            <a:avLst>
              <a:gd name="adj" fmla="val 11111"/>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validate­Project</a:t>
            </a:r>
            <a:endParaRPr lang="en-US" sz="1400" dirty="0"/>
          </a:p>
        </p:txBody>
      </p:sp>
      <p:sp>
        <p:nvSpPr>
          <p:cNvPr id="10" name="fleche-131"/>
          <p:cNvSpPr/>
          <p:nvPr/>
        </p:nvSpPr>
        <p:spPr>
          <a:xfrm>
            <a:off x="5148072" y="2240280"/>
            <a:ext cx="219456" cy="0"/>
          </a:xfrm>
          <a:prstGeom prst="line">
            <a:avLst/>
          </a:prstGeom>
          <a:noFill/>
          <a:ln w="25400">
            <a:solidFill>
              <a:schemeClr val="accent6"/>
            </a:solidFill>
            <a:prstDash val="solid"/>
            <a:tailEnd type="triangle"/>
          </a:ln>
        </p:spPr>
        <p:txBody>
          <a:bodyPr/>
          <a:lstStyle/>
          <a:p>
            <a:endParaRPr lang="fr-FR"/>
          </a:p>
        </p:txBody>
      </p:sp>
      <p:sp>
        <p:nvSpPr>
          <p:cNvPr id="11" name="erreur-132"/>
          <p:cNvSpPr txBox="1"/>
          <p:nvPr/>
        </p:nvSpPr>
        <p:spPr>
          <a:xfrm>
            <a:off x="3831336" y="2834640"/>
            <a:ext cx="1234440" cy="777240"/>
          </a:xfrm>
          <a:prstGeom prst="roundRect">
            <a:avLst>
              <a:gd name="adj" fmla="val 11765"/>
            </a:avLst>
          </a:prstGeom>
          <a:solidFill>
            <a:schemeClr val="bg2"/>
          </a:solidFill>
          <a:ln w="15875">
            <a:solidFill>
              <a:schemeClr val="accent4"/>
            </a:solidFill>
          </a:ln>
        </p:spPr>
        <p:txBody>
          <a:bodyPr wrap="square" lIns="25400" tIns="25400" rIns="25400" bIns="25400" rtlCol="0" anchor="ctr"/>
          <a:lstStyle/>
          <a:p>
            <a:pPr marL="0" indent="0" algn="ctr">
              <a:buNone/>
            </a:pPr>
            <a:r>
              <a:rPr lang="en-US" sz="1600" b="1" dirty="0">
                <a:solidFill>
                  <a:schemeClr val="accent4"/>
                </a:solidFill>
              </a:rPr>
              <a:t>400</a:t>
            </a:r>
            <a:endParaRPr lang="en-US" sz="1600" dirty="0"/>
          </a:p>
          <a:p>
            <a:pPr marL="0" indent="0" algn="ctr">
              <a:buNone/>
            </a:pPr>
            <a:r>
              <a:rPr lang="en-US" sz="1100" dirty="0">
                <a:solidFill>
                  <a:schemeClr val="accent4"/>
                </a:solidFill>
              </a:rPr>
              <a:t>données invalides</a:t>
            </a:r>
            <a:endParaRPr lang="en-US" sz="1600" dirty="0"/>
          </a:p>
        </p:txBody>
      </p:sp>
      <p:sp>
        <p:nvSpPr>
          <p:cNvPr id="12" name="bloc-133"/>
          <p:cNvSpPr/>
          <p:nvPr/>
        </p:nvSpPr>
        <p:spPr>
          <a:xfrm>
            <a:off x="5404104" y="1828800"/>
            <a:ext cx="1325880" cy="822960"/>
          </a:xfrm>
          <a:prstGeom prst="roundRect">
            <a:avLst>
              <a:gd name="adj" fmla="val 11111"/>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checkRole</a:t>
            </a:r>
            <a:endParaRPr lang="en-US" sz="1400" dirty="0"/>
          </a:p>
        </p:txBody>
      </p:sp>
      <p:sp>
        <p:nvSpPr>
          <p:cNvPr id="13" name="fleche-134"/>
          <p:cNvSpPr/>
          <p:nvPr/>
        </p:nvSpPr>
        <p:spPr>
          <a:xfrm>
            <a:off x="6766560" y="2240280"/>
            <a:ext cx="219456" cy="0"/>
          </a:xfrm>
          <a:prstGeom prst="line">
            <a:avLst/>
          </a:prstGeom>
          <a:noFill/>
          <a:ln w="25400">
            <a:solidFill>
              <a:schemeClr val="accent6"/>
            </a:solidFill>
            <a:prstDash val="solid"/>
            <a:tailEnd type="triangle"/>
          </a:ln>
        </p:spPr>
        <p:txBody>
          <a:bodyPr/>
          <a:lstStyle/>
          <a:p>
            <a:endParaRPr lang="fr-FR"/>
          </a:p>
        </p:txBody>
      </p:sp>
      <p:sp>
        <p:nvSpPr>
          <p:cNvPr id="14" name="erreur-135"/>
          <p:cNvSpPr txBox="1"/>
          <p:nvPr/>
        </p:nvSpPr>
        <p:spPr>
          <a:xfrm>
            <a:off x="5449824" y="2834640"/>
            <a:ext cx="1234440" cy="777240"/>
          </a:xfrm>
          <a:prstGeom prst="roundRect">
            <a:avLst>
              <a:gd name="adj" fmla="val 11765"/>
            </a:avLst>
          </a:prstGeom>
          <a:solidFill>
            <a:schemeClr val="bg2"/>
          </a:solidFill>
          <a:ln w="15875">
            <a:solidFill>
              <a:schemeClr val="accent4"/>
            </a:solidFill>
          </a:ln>
        </p:spPr>
        <p:txBody>
          <a:bodyPr wrap="square" lIns="25400" tIns="25400" rIns="25400" bIns="25400" rtlCol="0" anchor="ctr"/>
          <a:lstStyle/>
          <a:p>
            <a:pPr marL="0" indent="0" algn="ctr">
              <a:buNone/>
            </a:pPr>
            <a:r>
              <a:rPr lang="en-US" sz="1600" b="1" dirty="0">
                <a:solidFill>
                  <a:schemeClr val="accent4"/>
                </a:solidFill>
              </a:rPr>
              <a:t>403</a:t>
            </a:r>
            <a:endParaRPr lang="en-US" sz="1600" dirty="0"/>
          </a:p>
          <a:p>
            <a:pPr marL="0" indent="0" algn="ctr">
              <a:buNone/>
            </a:pPr>
            <a:r>
              <a:rPr lang="en-US" sz="1100" dirty="0">
                <a:solidFill>
                  <a:schemeClr val="accent4"/>
                </a:solidFill>
              </a:rPr>
              <a:t>rôle insuffisant</a:t>
            </a:r>
            <a:endParaRPr lang="en-US" sz="1600" dirty="0"/>
          </a:p>
        </p:txBody>
      </p:sp>
      <p:sp>
        <p:nvSpPr>
          <p:cNvPr id="15" name="bloc-136"/>
          <p:cNvSpPr/>
          <p:nvPr/>
        </p:nvSpPr>
        <p:spPr>
          <a:xfrm>
            <a:off x="7022592" y="1828800"/>
            <a:ext cx="1325880" cy="822960"/>
          </a:xfrm>
          <a:prstGeom prst="roundRect">
            <a:avLst>
              <a:gd name="adj" fmla="val 11111"/>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multer</a:t>
            </a:r>
            <a:endParaRPr lang="en-US" sz="1400" dirty="0"/>
          </a:p>
        </p:txBody>
      </p:sp>
      <p:sp>
        <p:nvSpPr>
          <p:cNvPr id="16" name="fleche-137"/>
          <p:cNvSpPr/>
          <p:nvPr/>
        </p:nvSpPr>
        <p:spPr>
          <a:xfrm>
            <a:off x="8385048" y="2240280"/>
            <a:ext cx="219456" cy="0"/>
          </a:xfrm>
          <a:prstGeom prst="line">
            <a:avLst/>
          </a:prstGeom>
          <a:noFill/>
          <a:ln w="25400">
            <a:solidFill>
              <a:schemeClr val="accent6"/>
            </a:solidFill>
            <a:prstDash val="solid"/>
            <a:tailEnd type="triangle"/>
          </a:ln>
        </p:spPr>
        <p:txBody>
          <a:bodyPr/>
          <a:lstStyle/>
          <a:p>
            <a:endParaRPr lang="fr-FR"/>
          </a:p>
        </p:txBody>
      </p:sp>
      <p:sp>
        <p:nvSpPr>
          <p:cNvPr id="17" name="bloc-138"/>
          <p:cNvSpPr/>
          <p:nvPr/>
        </p:nvSpPr>
        <p:spPr>
          <a:xfrm>
            <a:off x="8641080" y="1828800"/>
            <a:ext cx="1325880" cy="822960"/>
          </a:xfrm>
          <a:prstGeom prst="roundRect">
            <a:avLst>
              <a:gd name="adj" fmla="val 11111"/>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modify­Project</a:t>
            </a:r>
            <a:endParaRPr lang="en-US" sz="1400" dirty="0"/>
          </a:p>
        </p:txBody>
      </p:sp>
      <p:sp>
        <p:nvSpPr>
          <p:cNvPr id="18" name="fleche-139"/>
          <p:cNvSpPr/>
          <p:nvPr/>
        </p:nvSpPr>
        <p:spPr>
          <a:xfrm>
            <a:off x="10003536" y="2240280"/>
            <a:ext cx="219456" cy="0"/>
          </a:xfrm>
          <a:prstGeom prst="line">
            <a:avLst/>
          </a:prstGeom>
          <a:noFill/>
          <a:ln w="25400">
            <a:solidFill>
              <a:schemeClr val="accent6"/>
            </a:solidFill>
            <a:prstDash val="solid"/>
            <a:tailEnd type="triangle"/>
          </a:ln>
        </p:spPr>
        <p:txBody>
          <a:bodyPr/>
          <a:lstStyle/>
          <a:p>
            <a:endParaRPr lang="fr-FR"/>
          </a:p>
        </p:txBody>
      </p:sp>
      <p:sp>
        <p:nvSpPr>
          <p:cNvPr id="19" name="bloc-140"/>
          <p:cNvSpPr/>
          <p:nvPr/>
        </p:nvSpPr>
        <p:spPr>
          <a:xfrm>
            <a:off x="10259568" y="1828800"/>
            <a:ext cx="1325880" cy="822960"/>
          </a:xfrm>
          <a:prstGeom prst="roundRect">
            <a:avLst>
              <a:gd name="adj" fmla="val 11111"/>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MongoDB</a:t>
            </a:r>
            <a:endParaRPr lang="en-US" sz="1400" dirty="0"/>
          </a:p>
        </p:txBody>
      </p:sp>
      <p:sp>
        <p:nvSpPr>
          <p:cNvPr id="20" name="retour"/>
          <p:cNvSpPr/>
          <p:nvPr/>
        </p:nvSpPr>
        <p:spPr>
          <a:xfrm>
            <a:off x="1211580" y="3886200"/>
            <a:ext cx="9710928" cy="0"/>
          </a:xfrm>
          <a:prstGeom prst="line">
            <a:avLst/>
          </a:prstGeom>
          <a:noFill/>
          <a:ln w="25400">
            <a:solidFill>
              <a:schemeClr val="accent1"/>
            </a:solidFill>
            <a:prstDash val="solid"/>
            <a:headEnd type="triangle"/>
          </a:ln>
        </p:spPr>
        <p:txBody>
          <a:bodyPr/>
          <a:lstStyle/>
          <a:p>
            <a:endParaRPr lang="fr-FR"/>
          </a:p>
        </p:txBody>
      </p:sp>
      <p:sp>
        <p:nvSpPr>
          <p:cNvPr id="21" name="texte-141"/>
          <p:cNvSpPr txBox="1"/>
          <p:nvPr/>
        </p:nvSpPr>
        <p:spPr>
          <a:xfrm>
            <a:off x="3657600" y="3950208"/>
            <a:ext cx="4846320" cy="365760"/>
          </a:xfrm>
          <a:prstGeom prst="rect">
            <a:avLst/>
          </a:prstGeom>
          <a:noFill/>
          <a:ln/>
        </p:spPr>
        <p:txBody>
          <a:bodyPr wrap="square" lIns="0" tIns="0" rIns="0" bIns="0" rtlCol="0" anchor="t"/>
          <a:lstStyle/>
          <a:p>
            <a:pPr marL="0" indent="0" algn="ctr">
              <a:buNone/>
            </a:pPr>
            <a:r>
              <a:rPr lang="en-US" sz="1400" b="1" dirty="0">
                <a:solidFill>
                  <a:schemeClr val="accent1"/>
                </a:solidFill>
              </a:rPr>
              <a:t>Réponse JSON 200 renvoyée au client</a:t>
            </a:r>
            <a:endParaRPr lang="en-US" sz="1400" dirty="0"/>
          </a:p>
        </p:txBody>
      </p:sp>
      <p:sp>
        <p:nvSpPr>
          <p:cNvPr id="22" name="carte-142"/>
          <p:cNvSpPr/>
          <p:nvPr/>
        </p:nvSpPr>
        <p:spPr>
          <a:xfrm>
            <a:off x="548640" y="4572000"/>
            <a:ext cx="11064240" cy="1600200"/>
          </a:xfrm>
          <a:prstGeom prst="roundRect">
            <a:avLst>
              <a:gd name="adj" fmla="val 6857"/>
            </a:avLst>
          </a:prstGeom>
          <a:solidFill>
            <a:schemeClr val="bg2"/>
          </a:solidFill>
          <a:ln/>
        </p:spPr>
        <p:txBody>
          <a:bodyPr/>
          <a:lstStyle/>
          <a:p>
            <a:endParaRPr lang="fr-FR"/>
          </a:p>
        </p:txBody>
      </p:sp>
      <p:sp>
        <p:nvSpPr>
          <p:cNvPr id="23" name="texte-143"/>
          <p:cNvSpPr txBox="1"/>
          <p:nvPr/>
        </p:nvSpPr>
        <p:spPr>
          <a:xfrm>
            <a:off x="822960" y="4754880"/>
            <a:ext cx="10515600" cy="1325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La sécurité est vérifiée avant d'arriver à la logique métier.</a:t>
            </a:r>
            <a:endParaRPr lang="en-US" sz="1600" dirty="0"/>
          </a:p>
          <a:p>
            <a:pPr marL="342900" indent="-342900">
              <a:spcAft>
                <a:spcPts val="600"/>
              </a:spcAft>
              <a:buSzPct val="100000"/>
              <a:buChar char="•"/>
            </a:pPr>
            <a:r>
              <a:rPr lang="en-US" sz="1600" dirty="0">
                <a:solidFill>
                  <a:schemeClr val="tx1"/>
                </a:solidFill>
              </a:rPr>
              <a:t>Chaque couche peut être modifiée et testée séparément.</a:t>
            </a:r>
            <a:endParaRPr lang="en-US" sz="1600" dirty="0"/>
          </a:p>
          <a:p>
            <a:pPr marL="342900" indent="-342900">
              <a:spcAft>
                <a:spcPts val="600"/>
              </a:spcAft>
              <a:buSzPct val="100000"/>
              <a:buChar char="•"/>
            </a:pPr>
            <a:r>
              <a:rPr lang="en-US" sz="1600" dirty="0">
                <a:solidFill>
                  <a:schemeClr val="tx1"/>
                </a:solidFill>
              </a:rPr>
              <a:t>Le code d'erreur indique au frontend pourquoi la requête a échoué.</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Sécurité de l'API</a:t>
            </a:r>
            <a:endParaRPr lang="en-US" sz="3200" dirty="0"/>
          </a:p>
        </p:txBody>
      </p:sp>
      <p:sp>
        <p:nvSpPr>
          <p:cNvPr id="3" name="carte-144"/>
          <p:cNvSpPr/>
          <p:nvPr/>
        </p:nvSpPr>
        <p:spPr>
          <a:xfrm>
            <a:off x="548640" y="1280160"/>
            <a:ext cx="3337560" cy="2286000"/>
          </a:xfrm>
          <a:prstGeom prst="roundRect">
            <a:avLst>
              <a:gd name="adj" fmla="val 4800"/>
            </a:avLst>
          </a:prstGeom>
          <a:solidFill>
            <a:schemeClr val="bg2"/>
          </a:solidFill>
          <a:ln/>
        </p:spPr>
        <p:txBody>
          <a:bodyPr/>
          <a:lstStyle/>
          <a:p>
            <a:endParaRPr lang="fr-FR"/>
          </a:p>
        </p:txBody>
      </p:sp>
      <p:sp>
        <p:nvSpPr>
          <p:cNvPr id="4" name="pastille-145"/>
          <p:cNvSpPr/>
          <p:nvPr/>
        </p:nvSpPr>
        <p:spPr>
          <a:xfrm>
            <a:off x="822960" y="1554480"/>
            <a:ext cx="548640" cy="548640"/>
          </a:xfrm>
          <a:prstGeom prst="ellipse">
            <a:avLst/>
          </a:prstGeom>
          <a:solidFill>
            <a:schemeClr val="accent1"/>
          </a:solidFill>
          <a:ln/>
        </p:spPr>
        <p:txBody>
          <a:bodyPr/>
          <a:lstStyle/>
          <a:p>
            <a:endParaRPr lang="fr-FR"/>
          </a:p>
        </p:txBody>
      </p:sp>
      <p:pic>
        <p:nvPicPr>
          <p:cNvPr id="5" name="icone-146" descr="icône"/>
          <p:cNvPicPr>
            <a:picLocks noChangeAspect="1"/>
          </p:cNvPicPr>
          <p:nvPr/>
        </p:nvPicPr>
        <p:blipFill>
          <a:blip r:embed="rId3"/>
          <a:stretch>
            <a:fillRect/>
          </a:stretch>
        </p:blipFill>
        <p:spPr>
          <a:xfrm>
            <a:off x="954634" y="1686154"/>
            <a:ext cx="285293" cy="285293"/>
          </a:xfrm>
          <a:prstGeom prst="rect">
            <a:avLst/>
          </a:prstGeom>
        </p:spPr>
      </p:pic>
      <p:sp>
        <p:nvSpPr>
          <p:cNvPr id="6" name="texte-147"/>
          <p:cNvSpPr txBox="1"/>
          <p:nvPr/>
        </p:nvSpPr>
        <p:spPr>
          <a:xfrm>
            <a:off x="1508760" y="1554480"/>
            <a:ext cx="2148840" cy="548640"/>
          </a:xfrm>
          <a:prstGeom prst="rect">
            <a:avLst/>
          </a:prstGeom>
          <a:noFill/>
          <a:ln/>
        </p:spPr>
        <p:txBody>
          <a:bodyPr wrap="square" lIns="0" tIns="0" rIns="0" bIns="0" rtlCol="0" anchor="ctr"/>
          <a:lstStyle/>
          <a:p>
            <a:pPr marL="0" indent="0">
              <a:buNone/>
            </a:pPr>
            <a:r>
              <a:rPr lang="en-US" sz="1800" b="1" dirty="0">
                <a:solidFill>
                  <a:schemeClr val="tx1"/>
                </a:solidFill>
              </a:rPr>
              <a:t>JWT</a:t>
            </a:r>
            <a:endParaRPr lang="en-US" sz="1800" dirty="0"/>
          </a:p>
        </p:txBody>
      </p:sp>
      <p:sp>
        <p:nvSpPr>
          <p:cNvPr id="7" name="texte-148"/>
          <p:cNvSpPr txBox="1"/>
          <p:nvPr/>
        </p:nvSpPr>
        <p:spPr>
          <a:xfrm>
            <a:off x="822960" y="2286000"/>
            <a:ext cx="2788920" cy="1143000"/>
          </a:xfrm>
          <a:prstGeom prst="rect">
            <a:avLst/>
          </a:prstGeom>
          <a:noFill/>
          <a:ln/>
        </p:spPr>
        <p:txBody>
          <a:bodyPr wrap="square" lIns="0" tIns="0" rIns="0" bIns="0" rtlCol="0" anchor="t"/>
          <a:lstStyle/>
          <a:p>
            <a:pPr marL="0" indent="0">
              <a:buNone/>
            </a:pPr>
            <a:r>
              <a:rPr lang="en-US" sz="1400" dirty="0">
                <a:solidFill>
                  <a:schemeClr val="tx1"/>
                </a:solidFill>
              </a:rPr>
              <a:t>Token signé avec JWT_SECRET, contient userId et rôle, expire après 24 h.</a:t>
            </a:r>
            <a:endParaRPr lang="en-US" sz="1400" dirty="0"/>
          </a:p>
        </p:txBody>
      </p:sp>
      <p:sp>
        <p:nvSpPr>
          <p:cNvPr id="8" name="carte-149"/>
          <p:cNvSpPr/>
          <p:nvPr/>
        </p:nvSpPr>
        <p:spPr>
          <a:xfrm>
            <a:off x="4069080" y="1280160"/>
            <a:ext cx="3337560" cy="2286000"/>
          </a:xfrm>
          <a:prstGeom prst="roundRect">
            <a:avLst>
              <a:gd name="adj" fmla="val 4800"/>
            </a:avLst>
          </a:prstGeom>
          <a:solidFill>
            <a:schemeClr val="bg2"/>
          </a:solidFill>
          <a:ln/>
        </p:spPr>
        <p:txBody>
          <a:bodyPr/>
          <a:lstStyle/>
          <a:p>
            <a:endParaRPr lang="fr-FR"/>
          </a:p>
        </p:txBody>
      </p:sp>
      <p:sp>
        <p:nvSpPr>
          <p:cNvPr id="9" name="pastille-150"/>
          <p:cNvSpPr/>
          <p:nvPr/>
        </p:nvSpPr>
        <p:spPr>
          <a:xfrm>
            <a:off x="4343400" y="1554480"/>
            <a:ext cx="548640" cy="548640"/>
          </a:xfrm>
          <a:prstGeom prst="ellipse">
            <a:avLst/>
          </a:prstGeom>
          <a:solidFill>
            <a:schemeClr val="accent1"/>
          </a:solidFill>
          <a:ln/>
        </p:spPr>
        <p:txBody>
          <a:bodyPr/>
          <a:lstStyle/>
          <a:p>
            <a:endParaRPr lang="fr-FR"/>
          </a:p>
        </p:txBody>
      </p:sp>
      <p:pic>
        <p:nvPicPr>
          <p:cNvPr id="10" name="icone-151" descr="icône"/>
          <p:cNvPicPr>
            <a:picLocks noChangeAspect="1"/>
          </p:cNvPicPr>
          <p:nvPr/>
        </p:nvPicPr>
        <p:blipFill>
          <a:blip r:embed="rId4"/>
          <a:stretch>
            <a:fillRect/>
          </a:stretch>
        </p:blipFill>
        <p:spPr>
          <a:xfrm>
            <a:off x="4475074" y="1686154"/>
            <a:ext cx="285293" cy="285293"/>
          </a:xfrm>
          <a:prstGeom prst="rect">
            <a:avLst/>
          </a:prstGeom>
        </p:spPr>
      </p:pic>
      <p:sp>
        <p:nvSpPr>
          <p:cNvPr id="11" name="texte-152"/>
          <p:cNvSpPr txBox="1"/>
          <p:nvPr/>
        </p:nvSpPr>
        <p:spPr>
          <a:xfrm>
            <a:off x="5029200" y="1554480"/>
            <a:ext cx="2148840" cy="548640"/>
          </a:xfrm>
          <a:prstGeom prst="rect">
            <a:avLst/>
          </a:prstGeom>
          <a:noFill/>
          <a:ln/>
        </p:spPr>
        <p:txBody>
          <a:bodyPr wrap="square" lIns="0" tIns="0" rIns="0" bIns="0" rtlCol="0" anchor="ctr"/>
          <a:lstStyle/>
          <a:p>
            <a:pPr marL="0" indent="0">
              <a:buNone/>
            </a:pPr>
            <a:r>
              <a:rPr lang="en-US" sz="1800" b="1" dirty="0">
                <a:solidFill>
                  <a:schemeClr val="tx1"/>
                </a:solidFill>
              </a:rPr>
              <a:t>Bcrypt</a:t>
            </a:r>
            <a:endParaRPr lang="en-US" sz="1800" dirty="0"/>
          </a:p>
        </p:txBody>
      </p:sp>
      <p:sp>
        <p:nvSpPr>
          <p:cNvPr id="12" name="texte-153"/>
          <p:cNvSpPr txBox="1"/>
          <p:nvPr/>
        </p:nvSpPr>
        <p:spPr>
          <a:xfrm>
            <a:off x="4343400" y="2286000"/>
            <a:ext cx="2788920" cy="1143000"/>
          </a:xfrm>
          <a:prstGeom prst="rect">
            <a:avLst/>
          </a:prstGeom>
          <a:noFill/>
          <a:ln/>
        </p:spPr>
        <p:txBody>
          <a:bodyPr wrap="square" lIns="0" tIns="0" rIns="0" bIns="0" rtlCol="0" anchor="t"/>
          <a:lstStyle/>
          <a:p>
            <a:pPr marL="0" indent="0">
              <a:buNone/>
            </a:pPr>
            <a:r>
              <a:rPr lang="en-US" sz="1400" dirty="0">
                <a:solidFill>
                  <a:schemeClr val="tx1"/>
                </a:solidFill>
              </a:rPr>
              <a:t>Mot de passe haché avant l'enregistrement : 10 salt rounds, soit 1 024 tours.</a:t>
            </a:r>
            <a:endParaRPr lang="en-US" sz="1400" dirty="0"/>
          </a:p>
        </p:txBody>
      </p:sp>
      <p:sp>
        <p:nvSpPr>
          <p:cNvPr id="13" name="carte-154"/>
          <p:cNvSpPr/>
          <p:nvPr/>
        </p:nvSpPr>
        <p:spPr>
          <a:xfrm>
            <a:off x="548640" y="3749040"/>
            <a:ext cx="3337560" cy="2286000"/>
          </a:xfrm>
          <a:prstGeom prst="roundRect">
            <a:avLst>
              <a:gd name="adj" fmla="val 4800"/>
            </a:avLst>
          </a:prstGeom>
          <a:solidFill>
            <a:schemeClr val="bg2"/>
          </a:solidFill>
          <a:ln/>
        </p:spPr>
        <p:txBody>
          <a:bodyPr/>
          <a:lstStyle/>
          <a:p>
            <a:endParaRPr lang="fr-FR"/>
          </a:p>
        </p:txBody>
      </p:sp>
      <p:sp>
        <p:nvSpPr>
          <p:cNvPr id="14" name="pastille-155"/>
          <p:cNvSpPr/>
          <p:nvPr/>
        </p:nvSpPr>
        <p:spPr>
          <a:xfrm>
            <a:off x="822960" y="4023360"/>
            <a:ext cx="548640" cy="548640"/>
          </a:xfrm>
          <a:prstGeom prst="ellipse">
            <a:avLst/>
          </a:prstGeom>
          <a:solidFill>
            <a:schemeClr val="accent1"/>
          </a:solidFill>
          <a:ln/>
        </p:spPr>
        <p:txBody>
          <a:bodyPr/>
          <a:lstStyle/>
          <a:p>
            <a:endParaRPr lang="fr-FR"/>
          </a:p>
        </p:txBody>
      </p:sp>
      <p:pic>
        <p:nvPicPr>
          <p:cNvPr id="15" name="icone-156" descr="icône"/>
          <p:cNvPicPr>
            <a:picLocks noChangeAspect="1"/>
          </p:cNvPicPr>
          <p:nvPr/>
        </p:nvPicPr>
        <p:blipFill>
          <a:blip r:embed="rId5"/>
          <a:stretch>
            <a:fillRect/>
          </a:stretch>
        </p:blipFill>
        <p:spPr>
          <a:xfrm>
            <a:off x="954634" y="4155034"/>
            <a:ext cx="285293" cy="285293"/>
          </a:xfrm>
          <a:prstGeom prst="rect">
            <a:avLst/>
          </a:prstGeom>
        </p:spPr>
      </p:pic>
      <p:sp>
        <p:nvSpPr>
          <p:cNvPr id="16" name="texte-157"/>
          <p:cNvSpPr txBox="1"/>
          <p:nvPr/>
        </p:nvSpPr>
        <p:spPr>
          <a:xfrm>
            <a:off x="1508760" y="4023360"/>
            <a:ext cx="2148840" cy="548640"/>
          </a:xfrm>
          <a:prstGeom prst="rect">
            <a:avLst/>
          </a:prstGeom>
          <a:noFill/>
          <a:ln/>
        </p:spPr>
        <p:txBody>
          <a:bodyPr wrap="square" lIns="0" tIns="0" rIns="0" bIns="0" rtlCol="0" anchor="ctr"/>
          <a:lstStyle/>
          <a:p>
            <a:pPr marL="0" indent="0">
              <a:buNone/>
            </a:pPr>
            <a:r>
              <a:rPr lang="en-US" sz="1800" b="1" dirty="0">
                <a:solidFill>
                  <a:schemeClr val="tx1"/>
                </a:solidFill>
              </a:rPr>
              <a:t>Contrôle d'accès</a:t>
            </a:r>
            <a:endParaRPr lang="en-US" sz="1800" dirty="0"/>
          </a:p>
        </p:txBody>
      </p:sp>
      <p:sp>
        <p:nvSpPr>
          <p:cNvPr id="17" name="texte-158"/>
          <p:cNvSpPr txBox="1"/>
          <p:nvPr/>
        </p:nvSpPr>
        <p:spPr>
          <a:xfrm>
            <a:off x="822960" y="4754880"/>
            <a:ext cx="2788920" cy="1143000"/>
          </a:xfrm>
          <a:prstGeom prst="rect">
            <a:avLst/>
          </a:prstGeom>
          <a:noFill/>
          <a:ln/>
        </p:spPr>
        <p:txBody>
          <a:bodyPr wrap="square" lIns="0" tIns="0" rIns="0" bIns="0" rtlCol="0" anchor="t"/>
          <a:lstStyle/>
          <a:p>
            <a:pPr marL="0" indent="0">
              <a:buNone/>
            </a:pPr>
            <a:r>
              <a:rPr lang="en-US" sz="1400" dirty="0">
                <a:solidFill>
                  <a:schemeClr val="tx1"/>
                </a:solidFill>
              </a:rPr>
              <a:t>auth.js refuse sans token valide (401), checkRole sans le rôle manager (403).</a:t>
            </a:r>
            <a:endParaRPr lang="en-US" sz="1400" dirty="0"/>
          </a:p>
        </p:txBody>
      </p:sp>
      <p:sp>
        <p:nvSpPr>
          <p:cNvPr id="18" name="carte-159"/>
          <p:cNvSpPr/>
          <p:nvPr/>
        </p:nvSpPr>
        <p:spPr>
          <a:xfrm>
            <a:off x="4069080" y="3749040"/>
            <a:ext cx="3337560" cy="2286000"/>
          </a:xfrm>
          <a:prstGeom prst="roundRect">
            <a:avLst>
              <a:gd name="adj" fmla="val 4800"/>
            </a:avLst>
          </a:prstGeom>
          <a:solidFill>
            <a:schemeClr val="bg2"/>
          </a:solidFill>
          <a:ln/>
        </p:spPr>
        <p:txBody>
          <a:bodyPr/>
          <a:lstStyle/>
          <a:p>
            <a:endParaRPr lang="fr-FR"/>
          </a:p>
        </p:txBody>
      </p:sp>
      <p:sp>
        <p:nvSpPr>
          <p:cNvPr id="19" name="pastille-160"/>
          <p:cNvSpPr/>
          <p:nvPr/>
        </p:nvSpPr>
        <p:spPr>
          <a:xfrm>
            <a:off x="4343400" y="4023360"/>
            <a:ext cx="548640" cy="548640"/>
          </a:xfrm>
          <a:prstGeom prst="ellipse">
            <a:avLst/>
          </a:prstGeom>
          <a:solidFill>
            <a:schemeClr val="accent1"/>
          </a:solidFill>
          <a:ln/>
        </p:spPr>
        <p:txBody>
          <a:bodyPr/>
          <a:lstStyle/>
          <a:p>
            <a:endParaRPr lang="fr-FR"/>
          </a:p>
        </p:txBody>
      </p:sp>
      <p:pic>
        <p:nvPicPr>
          <p:cNvPr id="20" name="icone-161" descr="icône"/>
          <p:cNvPicPr>
            <a:picLocks noChangeAspect="1"/>
          </p:cNvPicPr>
          <p:nvPr/>
        </p:nvPicPr>
        <p:blipFill>
          <a:blip r:embed="rId6"/>
          <a:stretch>
            <a:fillRect/>
          </a:stretch>
        </p:blipFill>
        <p:spPr>
          <a:xfrm>
            <a:off x="4475074" y="4155034"/>
            <a:ext cx="285293" cy="285293"/>
          </a:xfrm>
          <a:prstGeom prst="rect">
            <a:avLst/>
          </a:prstGeom>
        </p:spPr>
      </p:pic>
      <p:sp>
        <p:nvSpPr>
          <p:cNvPr id="21" name="texte-162"/>
          <p:cNvSpPr txBox="1"/>
          <p:nvPr/>
        </p:nvSpPr>
        <p:spPr>
          <a:xfrm>
            <a:off x="5029200" y="4023360"/>
            <a:ext cx="2148840" cy="548640"/>
          </a:xfrm>
          <a:prstGeom prst="rect">
            <a:avLst/>
          </a:prstGeom>
          <a:noFill/>
          <a:ln/>
        </p:spPr>
        <p:txBody>
          <a:bodyPr wrap="square" lIns="0" tIns="0" rIns="0" bIns="0" rtlCol="0" anchor="ctr"/>
          <a:lstStyle/>
          <a:p>
            <a:pPr marL="0" indent="0">
              <a:buNone/>
            </a:pPr>
            <a:r>
              <a:rPr lang="en-US" sz="1800" b="1" dirty="0">
                <a:solidFill>
                  <a:schemeClr val="tx1"/>
                </a:solidFill>
              </a:rPr>
              <a:t>CORS et rate limit</a:t>
            </a:r>
            <a:endParaRPr lang="en-US" sz="1800" dirty="0"/>
          </a:p>
        </p:txBody>
      </p:sp>
      <p:sp>
        <p:nvSpPr>
          <p:cNvPr id="22" name="texte-163"/>
          <p:cNvSpPr txBox="1"/>
          <p:nvPr/>
        </p:nvSpPr>
        <p:spPr>
          <a:xfrm>
            <a:off x="4343400" y="4754880"/>
            <a:ext cx="2788920" cy="1143000"/>
          </a:xfrm>
          <a:prstGeom prst="rect">
            <a:avLst/>
          </a:prstGeom>
          <a:noFill/>
          <a:ln/>
        </p:spPr>
        <p:txBody>
          <a:bodyPr wrap="square" lIns="0" tIns="0" rIns="0" bIns="0" rtlCol="0" anchor="t"/>
          <a:lstStyle/>
          <a:p>
            <a:pPr marL="0" indent="0">
              <a:buNone/>
            </a:pPr>
            <a:r>
              <a:rPr lang="en-US" sz="1400" dirty="0">
                <a:solidFill>
                  <a:schemeClr val="tx1"/>
                </a:solidFill>
              </a:rPr>
              <a:t>Seul le frontend (URL_Front) est accepté ; 100 requêtes max par 30 minutes.</a:t>
            </a:r>
            <a:endParaRPr lang="en-US" sz="1400" dirty="0"/>
          </a:p>
        </p:txBody>
      </p:sp>
      <p:sp>
        <p:nvSpPr>
          <p:cNvPr id="23" name="carte-164"/>
          <p:cNvSpPr/>
          <p:nvPr/>
        </p:nvSpPr>
        <p:spPr>
          <a:xfrm>
            <a:off x="7635240" y="1636865"/>
            <a:ext cx="3977640" cy="4132910"/>
          </a:xfrm>
          <a:prstGeom prst="roundRect">
            <a:avLst>
              <a:gd name="adj" fmla="val 2759"/>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24" name="capture-165" descr="Capture i034"/>
          <p:cNvPicPr>
            <a:picLocks noChangeAspect="1"/>
          </p:cNvPicPr>
          <p:nvPr/>
        </p:nvPicPr>
        <p:blipFill>
          <a:blip r:embed="rId7"/>
          <a:stretch>
            <a:fillRect/>
          </a:stretch>
        </p:blipFill>
        <p:spPr>
          <a:xfrm>
            <a:off x="7699248" y="1700873"/>
            <a:ext cx="3849624" cy="400489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Tests du backend</a:t>
            </a:r>
            <a:endParaRPr lang="en-US" sz="3200" dirty="0"/>
          </a:p>
        </p:txBody>
      </p:sp>
      <p:sp>
        <p:nvSpPr>
          <p:cNvPr id="3" name="pastille-166"/>
          <p:cNvSpPr/>
          <p:nvPr/>
        </p:nvSpPr>
        <p:spPr>
          <a:xfrm>
            <a:off x="548640" y="1280160"/>
            <a:ext cx="548640" cy="548640"/>
          </a:xfrm>
          <a:prstGeom prst="ellipse">
            <a:avLst/>
          </a:prstGeom>
          <a:solidFill>
            <a:schemeClr val="accent2"/>
          </a:solidFill>
          <a:ln/>
        </p:spPr>
        <p:txBody>
          <a:bodyPr/>
          <a:lstStyle/>
          <a:p>
            <a:endParaRPr lang="fr-FR"/>
          </a:p>
        </p:txBody>
      </p:sp>
      <p:pic>
        <p:nvPicPr>
          <p:cNvPr id="4" name="icone-167" descr="icône"/>
          <p:cNvPicPr>
            <a:picLocks noChangeAspect="1"/>
          </p:cNvPicPr>
          <p:nvPr/>
        </p:nvPicPr>
        <p:blipFill>
          <a:blip r:embed="rId3"/>
          <a:stretch>
            <a:fillRect/>
          </a:stretch>
        </p:blipFill>
        <p:spPr>
          <a:xfrm>
            <a:off x="680314" y="1411834"/>
            <a:ext cx="285293" cy="285293"/>
          </a:xfrm>
          <a:prstGeom prst="rect">
            <a:avLst/>
          </a:prstGeom>
        </p:spPr>
      </p:pic>
      <p:sp>
        <p:nvSpPr>
          <p:cNvPr id="5" name="texte-168"/>
          <p:cNvSpPr txBox="1"/>
          <p:nvPr/>
        </p:nvSpPr>
        <p:spPr>
          <a:xfrm>
            <a:off x="1234440" y="1280160"/>
            <a:ext cx="3108960" cy="548640"/>
          </a:xfrm>
          <a:prstGeom prst="rect">
            <a:avLst/>
          </a:prstGeom>
          <a:noFill/>
          <a:ln/>
        </p:spPr>
        <p:txBody>
          <a:bodyPr wrap="square" lIns="0" tIns="0" rIns="0" bIns="0" rtlCol="0" anchor="ctr"/>
          <a:lstStyle/>
          <a:p>
            <a:pPr marL="0" indent="0">
              <a:buNone/>
            </a:pPr>
            <a:r>
              <a:rPr lang="en-US" sz="1800" b="1" dirty="0">
                <a:solidFill>
                  <a:schemeClr val="tx1"/>
                </a:solidFill>
              </a:rPr>
              <a:t>Tests manuels — Postman</a:t>
            </a:r>
            <a:endParaRPr lang="en-US" sz="1800" dirty="0"/>
          </a:p>
        </p:txBody>
      </p:sp>
      <p:sp>
        <p:nvSpPr>
          <p:cNvPr id="6" name="texte-169"/>
          <p:cNvSpPr txBox="1"/>
          <p:nvPr/>
        </p:nvSpPr>
        <p:spPr>
          <a:xfrm>
            <a:off x="548640" y="1965960"/>
            <a:ext cx="3657600" cy="777240"/>
          </a:xfrm>
          <a:prstGeom prst="rect">
            <a:avLst/>
          </a:prstGeom>
          <a:noFill/>
          <a:ln/>
        </p:spPr>
        <p:txBody>
          <a:bodyPr wrap="square" lIns="0" tIns="0" rIns="0" bIns="0" rtlCol="0" anchor="t"/>
          <a:lstStyle/>
          <a:p>
            <a:pPr marL="0" indent="0">
              <a:buNone/>
            </a:pPr>
            <a:r>
              <a:rPr lang="en-US" sz="1400" dirty="0">
                <a:solidFill>
                  <a:schemeClr val="tx1"/>
                </a:solidFill>
              </a:rPr>
              <a:t>Connexion, récupération du token, puis Bearer Token pour tester chaque route.</a:t>
            </a:r>
            <a:endParaRPr lang="en-US" sz="1400" dirty="0"/>
          </a:p>
        </p:txBody>
      </p:sp>
      <p:sp>
        <p:nvSpPr>
          <p:cNvPr id="7" name="carte-170"/>
          <p:cNvSpPr/>
          <p:nvPr/>
        </p:nvSpPr>
        <p:spPr>
          <a:xfrm>
            <a:off x="548640" y="3222218"/>
            <a:ext cx="3657600" cy="2562403"/>
          </a:xfrm>
          <a:prstGeom prst="roundRect">
            <a:avLst>
              <a:gd name="adj" fmla="val 4282"/>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8" name="capture-171" descr="Capture i041"/>
          <p:cNvPicPr>
            <a:picLocks noChangeAspect="1"/>
          </p:cNvPicPr>
          <p:nvPr/>
        </p:nvPicPr>
        <p:blipFill>
          <a:blip r:embed="rId4"/>
          <a:stretch>
            <a:fillRect/>
          </a:stretch>
        </p:blipFill>
        <p:spPr>
          <a:xfrm>
            <a:off x="612648" y="3286226"/>
            <a:ext cx="3529584" cy="2434387"/>
          </a:xfrm>
          <a:prstGeom prst="rect">
            <a:avLst/>
          </a:prstGeom>
        </p:spPr>
      </p:pic>
      <p:sp>
        <p:nvSpPr>
          <p:cNvPr id="9" name="pastille-172"/>
          <p:cNvSpPr/>
          <p:nvPr/>
        </p:nvSpPr>
        <p:spPr>
          <a:xfrm>
            <a:off x="4572000" y="1280160"/>
            <a:ext cx="548640" cy="548640"/>
          </a:xfrm>
          <a:prstGeom prst="ellipse">
            <a:avLst/>
          </a:prstGeom>
          <a:solidFill>
            <a:schemeClr val="accent4"/>
          </a:solidFill>
          <a:ln/>
        </p:spPr>
        <p:txBody>
          <a:bodyPr/>
          <a:lstStyle/>
          <a:p>
            <a:endParaRPr lang="fr-FR"/>
          </a:p>
        </p:txBody>
      </p:sp>
      <p:pic>
        <p:nvPicPr>
          <p:cNvPr id="10" name="icone-173" descr="icône"/>
          <p:cNvPicPr>
            <a:picLocks noChangeAspect="1"/>
          </p:cNvPicPr>
          <p:nvPr/>
        </p:nvPicPr>
        <p:blipFill>
          <a:blip r:embed="rId5"/>
          <a:stretch>
            <a:fillRect/>
          </a:stretch>
        </p:blipFill>
        <p:spPr>
          <a:xfrm>
            <a:off x="4703674" y="1411834"/>
            <a:ext cx="285293" cy="285293"/>
          </a:xfrm>
          <a:prstGeom prst="rect">
            <a:avLst/>
          </a:prstGeom>
        </p:spPr>
      </p:pic>
      <p:sp>
        <p:nvSpPr>
          <p:cNvPr id="11" name="texte-174"/>
          <p:cNvSpPr txBox="1"/>
          <p:nvPr/>
        </p:nvSpPr>
        <p:spPr>
          <a:xfrm>
            <a:off x="5257800" y="1280160"/>
            <a:ext cx="6309360" cy="548640"/>
          </a:xfrm>
          <a:prstGeom prst="rect">
            <a:avLst/>
          </a:prstGeom>
          <a:noFill/>
          <a:ln/>
        </p:spPr>
        <p:txBody>
          <a:bodyPr wrap="square" lIns="0" tIns="0" rIns="0" bIns="0" rtlCol="0" anchor="ctr"/>
          <a:lstStyle/>
          <a:p>
            <a:pPr marL="0" indent="0">
              <a:buNone/>
            </a:pPr>
            <a:r>
              <a:rPr lang="en-US" sz="1800" b="1" dirty="0">
                <a:solidFill>
                  <a:schemeClr val="tx1"/>
                </a:solidFill>
              </a:rPr>
              <a:t>Tests automatisés — Jest et Supertest</a:t>
            </a:r>
            <a:endParaRPr lang="en-US" sz="1800" dirty="0"/>
          </a:p>
        </p:txBody>
      </p:sp>
      <p:sp>
        <p:nvSpPr>
          <p:cNvPr id="12" name="texte-175"/>
          <p:cNvSpPr txBox="1"/>
          <p:nvPr/>
        </p:nvSpPr>
        <p:spPr>
          <a:xfrm>
            <a:off x="4572000" y="1965960"/>
            <a:ext cx="7040880" cy="777240"/>
          </a:xfrm>
          <a:prstGeom prst="rect">
            <a:avLst/>
          </a:prstGeom>
          <a:noFill/>
          <a:ln/>
        </p:spPr>
        <p:txBody>
          <a:bodyPr wrap="square" lIns="0" tIns="0" rIns="0" bIns="0" rtlCol="0" anchor="t"/>
          <a:lstStyle/>
          <a:p>
            <a:pPr marL="0" indent="0">
              <a:buNone/>
            </a:pPr>
            <a:r>
              <a:rPr lang="en-US" sz="1400" dirty="0">
                <a:solidFill>
                  <a:schemeClr val="tx1"/>
                </a:solidFill>
              </a:rPr>
              <a:t>Supertest envoie de vraies requêtes HTTP. mongodb-memory-server crée une base temporaire : la vraie base n'est jamais touchée.</a:t>
            </a:r>
            <a:endParaRPr lang="en-US" sz="1400" dirty="0"/>
          </a:p>
        </p:txBody>
      </p:sp>
      <p:sp>
        <p:nvSpPr>
          <p:cNvPr id="13" name="carte-176"/>
          <p:cNvSpPr/>
          <p:nvPr/>
        </p:nvSpPr>
        <p:spPr>
          <a:xfrm>
            <a:off x="5917486" y="2788920"/>
            <a:ext cx="4349908" cy="2377440"/>
          </a:xfrm>
          <a:prstGeom prst="roundRect">
            <a:avLst>
              <a:gd name="adj" fmla="val 4615"/>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4" name="capture-177" descr="Capture i044"/>
          <p:cNvPicPr>
            <a:picLocks noChangeAspect="1"/>
          </p:cNvPicPr>
          <p:nvPr/>
        </p:nvPicPr>
        <p:blipFill>
          <a:blip r:embed="rId6"/>
          <a:stretch>
            <a:fillRect/>
          </a:stretch>
        </p:blipFill>
        <p:spPr>
          <a:xfrm>
            <a:off x="5981494" y="2852928"/>
            <a:ext cx="4221892" cy="2249424"/>
          </a:xfrm>
          <a:prstGeom prst="rect">
            <a:avLst/>
          </a:prstGeom>
        </p:spPr>
      </p:pic>
      <p:sp>
        <p:nvSpPr>
          <p:cNvPr id="15" name="carte-178"/>
          <p:cNvSpPr/>
          <p:nvPr/>
        </p:nvSpPr>
        <p:spPr>
          <a:xfrm>
            <a:off x="5867241" y="5303520"/>
            <a:ext cx="4450398" cy="868680"/>
          </a:xfrm>
          <a:prstGeom prst="roundRect">
            <a:avLst>
              <a:gd name="adj" fmla="val 12632"/>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6" name="capture-179" descr="Capture i048"/>
          <p:cNvPicPr>
            <a:picLocks noChangeAspect="1"/>
          </p:cNvPicPr>
          <p:nvPr/>
        </p:nvPicPr>
        <p:blipFill>
          <a:blip r:embed="rId7"/>
          <a:stretch>
            <a:fillRect/>
          </a:stretch>
        </p:blipFill>
        <p:spPr>
          <a:xfrm>
            <a:off x="5931249" y="5367528"/>
            <a:ext cx="4322382" cy="74066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Documentation : README et Swagger</a:t>
            </a:r>
            <a:endParaRPr lang="en-US" sz="3200" dirty="0"/>
          </a:p>
        </p:txBody>
      </p:sp>
      <p:sp>
        <p:nvSpPr>
          <p:cNvPr id="3" name="pastille-180"/>
          <p:cNvSpPr/>
          <p:nvPr/>
        </p:nvSpPr>
        <p:spPr>
          <a:xfrm>
            <a:off x="548640" y="1280160"/>
            <a:ext cx="548640" cy="548640"/>
          </a:xfrm>
          <a:prstGeom prst="ellipse">
            <a:avLst/>
          </a:prstGeom>
          <a:solidFill>
            <a:schemeClr val="accent1"/>
          </a:solidFill>
          <a:ln/>
        </p:spPr>
        <p:txBody>
          <a:bodyPr/>
          <a:lstStyle/>
          <a:p>
            <a:endParaRPr lang="fr-FR"/>
          </a:p>
        </p:txBody>
      </p:sp>
      <p:pic>
        <p:nvPicPr>
          <p:cNvPr id="4" name="icone-181" descr="icône"/>
          <p:cNvPicPr>
            <a:picLocks noChangeAspect="1"/>
          </p:cNvPicPr>
          <p:nvPr/>
        </p:nvPicPr>
        <p:blipFill>
          <a:blip r:embed="rId3"/>
          <a:stretch>
            <a:fillRect/>
          </a:stretch>
        </p:blipFill>
        <p:spPr>
          <a:xfrm>
            <a:off x="680314" y="1411834"/>
            <a:ext cx="285293" cy="285293"/>
          </a:xfrm>
          <a:prstGeom prst="rect">
            <a:avLst/>
          </a:prstGeom>
        </p:spPr>
      </p:pic>
      <p:sp>
        <p:nvSpPr>
          <p:cNvPr id="5" name="texte-182"/>
          <p:cNvSpPr txBox="1"/>
          <p:nvPr/>
        </p:nvSpPr>
        <p:spPr>
          <a:xfrm>
            <a:off x="1234440" y="1280160"/>
            <a:ext cx="3200400" cy="548640"/>
          </a:xfrm>
          <a:prstGeom prst="rect">
            <a:avLst/>
          </a:prstGeom>
          <a:noFill/>
          <a:ln/>
        </p:spPr>
        <p:txBody>
          <a:bodyPr wrap="square" lIns="0" tIns="0" rIns="0" bIns="0" rtlCol="0" anchor="ctr"/>
          <a:lstStyle/>
          <a:p>
            <a:pPr marL="0" indent="0">
              <a:buNone/>
            </a:pPr>
            <a:r>
              <a:rPr lang="en-US" sz="1800" b="1" dirty="0">
                <a:solidFill>
                  <a:schemeClr val="tx1"/>
                </a:solidFill>
              </a:rPr>
              <a:t>README.md</a:t>
            </a:r>
            <a:endParaRPr lang="en-US" sz="1800" dirty="0"/>
          </a:p>
        </p:txBody>
      </p:sp>
      <p:sp>
        <p:nvSpPr>
          <p:cNvPr id="6" name="texte-183"/>
          <p:cNvSpPr txBox="1"/>
          <p:nvPr/>
        </p:nvSpPr>
        <p:spPr>
          <a:xfrm>
            <a:off x="548640" y="2011680"/>
            <a:ext cx="4023360" cy="3931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Présentation et fonctionnalités</a:t>
            </a:r>
            <a:endParaRPr lang="en-US" sz="1600" dirty="0"/>
          </a:p>
          <a:p>
            <a:pPr marL="342900" indent="-342900">
              <a:spcAft>
                <a:spcPts val="600"/>
              </a:spcAft>
              <a:buSzPct val="100000"/>
              <a:buChar char="•"/>
            </a:pPr>
            <a:r>
              <a:rPr lang="en-US" sz="1600" dirty="0">
                <a:solidFill>
                  <a:schemeClr val="tx1"/>
                </a:solidFill>
              </a:rPr>
              <a:t>Technologies utilisées</a:t>
            </a:r>
            <a:endParaRPr lang="en-US" sz="1600" dirty="0"/>
          </a:p>
          <a:p>
            <a:pPr marL="342900" indent="-342900">
              <a:spcAft>
                <a:spcPts val="600"/>
              </a:spcAft>
              <a:buSzPct val="100000"/>
              <a:buChar char="•"/>
            </a:pPr>
            <a:r>
              <a:rPr lang="en-US" sz="1600" dirty="0">
                <a:solidFill>
                  <a:schemeClr val="tx1"/>
                </a:solidFill>
              </a:rPr>
              <a:t>Installation et configuration (.env)</a:t>
            </a:r>
            <a:endParaRPr lang="en-US" sz="1600" dirty="0"/>
          </a:p>
          <a:p>
            <a:pPr marL="342900" indent="-342900">
              <a:spcAft>
                <a:spcPts val="600"/>
              </a:spcAft>
              <a:buSzPct val="100000"/>
              <a:buChar char="•"/>
            </a:pPr>
            <a:r>
              <a:rPr lang="en-US" sz="1600" dirty="0">
                <a:solidFill>
                  <a:schemeClr val="tx1"/>
                </a:solidFill>
              </a:rPr>
              <a:t>Lancement : npm run dev / npm start</a:t>
            </a:r>
            <a:endParaRPr lang="en-US" sz="1600" dirty="0"/>
          </a:p>
          <a:p>
            <a:pPr marL="342900" indent="-342900">
              <a:spcAft>
                <a:spcPts val="600"/>
              </a:spcAft>
              <a:buSzPct val="100000"/>
              <a:buChar char="•"/>
            </a:pPr>
            <a:r>
              <a:rPr lang="en-US" sz="1600" dirty="0">
                <a:solidFill>
                  <a:schemeClr val="tx1"/>
                </a:solidFill>
              </a:rPr>
              <a:t>Qualité : lint, format, build</a:t>
            </a:r>
            <a:endParaRPr lang="en-US" sz="1600" dirty="0"/>
          </a:p>
          <a:p>
            <a:pPr marL="342900" indent="-342900">
              <a:spcAft>
                <a:spcPts val="600"/>
              </a:spcAft>
              <a:buSzPct val="100000"/>
              <a:buChar char="•"/>
            </a:pPr>
            <a:r>
              <a:rPr lang="en-US" sz="1600" dirty="0">
                <a:solidFill>
                  <a:schemeClr val="tx1"/>
                </a:solidFill>
              </a:rPr>
              <a:t>Tests Jest et routes principales</a:t>
            </a:r>
            <a:endParaRPr lang="en-US" sz="1600" dirty="0"/>
          </a:p>
        </p:txBody>
      </p:sp>
      <p:sp>
        <p:nvSpPr>
          <p:cNvPr id="7" name="pastille-184"/>
          <p:cNvSpPr/>
          <p:nvPr/>
        </p:nvSpPr>
        <p:spPr>
          <a:xfrm>
            <a:off x="4937760" y="1280160"/>
            <a:ext cx="548640" cy="548640"/>
          </a:xfrm>
          <a:prstGeom prst="ellipse">
            <a:avLst/>
          </a:prstGeom>
          <a:solidFill>
            <a:schemeClr val="accent3"/>
          </a:solidFill>
          <a:ln/>
        </p:spPr>
        <p:txBody>
          <a:bodyPr/>
          <a:lstStyle/>
          <a:p>
            <a:endParaRPr lang="fr-FR"/>
          </a:p>
        </p:txBody>
      </p:sp>
      <p:pic>
        <p:nvPicPr>
          <p:cNvPr id="8" name="icone-185" descr="icône"/>
          <p:cNvPicPr>
            <a:picLocks noChangeAspect="1"/>
          </p:cNvPicPr>
          <p:nvPr/>
        </p:nvPicPr>
        <p:blipFill>
          <a:blip r:embed="rId4"/>
          <a:stretch>
            <a:fillRect/>
          </a:stretch>
        </p:blipFill>
        <p:spPr>
          <a:xfrm>
            <a:off x="5069434" y="1411834"/>
            <a:ext cx="285293" cy="285293"/>
          </a:xfrm>
          <a:prstGeom prst="rect">
            <a:avLst/>
          </a:prstGeom>
        </p:spPr>
      </p:pic>
      <p:sp>
        <p:nvSpPr>
          <p:cNvPr id="9" name="texte-186"/>
          <p:cNvSpPr txBox="1"/>
          <p:nvPr/>
        </p:nvSpPr>
        <p:spPr>
          <a:xfrm>
            <a:off x="5623560" y="1280160"/>
            <a:ext cx="5943600" cy="548640"/>
          </a:xfrm>
          <a:prstGeom prst="rect">
            <a:avLst/>
          </a:prstGeom>
          <a:noFill/>
          <a:ln/>
        </p:spPr>
        <p:txBody>
          <a:bodyPr wrap="square" lIns="0" tIns="0" rIns="0" bIns="0" rtlCol="0" anchor="ctr"/>
          <a:lstStyle/>
          <a:p>
            <a:pPr marL="0" indent="0">
              <a:buNone/>
            </a:pPr>
            <a:r>
              <a:rPr lang="en-US" sz="1800" b="1" dirty="0">
                <a:solidFill>
                  <a:schemeClr val="tx1"/>
                </a:solidFill>
              </a:rPr>
              <a:t>Swagger — /api-docs</a:t>
            </a:r>
            <a:endParaRPr lang="en-US" sz="1800" dirty="0"/>
          </a:p>
        </p:txBody>
      </p:sp>
      <p:sp>
        <p:nvSpPr>
          <p:cNvPr id="10" name="carte-187"/>
          <p:cNvSpPr/>
          <p:nvPr/>
        </p:nvSpPr>
        <p:spPr>
          <a:xfrm>
            <a:off x="4937760" y="2302289"/>
            <a:ext cx="6675120" cy="3533581"/>
          </a:xfrm>
          <a:prstGeom prst="roundRect">
            <a:avLst>
              <a:gd name="adj" fmla="val 3105"/>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1" name="capture-188" descr="Capture i051"/>
          <p:cNvPicPr>
            <a:picLocks noChangeAspect="1"/>
          </p:cNvPicPr>
          <p:nvPr/>
        </p:nvPicPr>
        <p:blipFill>
          <a:blip r:embed="rId5"/>
          <a:stretch>
            <a:fillRect/>
          </a:stretch>
        </p:blipFill>
        <p:spPr>
          <a:xfrm>
            <a:off x="5001768" y="2366297"/>
            <a:ext cx="6547104" cy="3405565"/>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37360"/>
            <a:ext cx="2743200" cy="1280160"/>
          </a:xfrm>
          <a:prstGeom prst="rect">
            <a:avLst/>
          </a:prstGeom>
          <a:noFill/>
          <a:ln/>
        </p:spPr>
        <p:txBody>
          <a:bodyPr wrap="square" lIns="0" tIns="0" rIns="0" bIns="0" rtlCol="0" anchor="b"/>
          <a:lstStyle/>
          <a:p>
            <a:pPr marL="0" indent="0">
              <a:buNone/>
            </a:pPr>
            <a:r>
              <a:rPr lang="en-US" sz="8000" b="1" dirty="0">
                <a:solidFill>
                  <a:schemeClr val="accent3"/>
                </a:solidFill>
              </a:rPr>
              <a:t>03</a:t>
            </a:r>
            <a:endParaRPr lang="en-US" sz="8000" dirty="0"/>
          </a:p>
        </p:txBody>
      </p:sp>
      <p:sp>
        <p:nvSpPr>
          <p:cNvPr id="3" name="Text 0"/>
          <p:cNvSpPr>
            <a:spLocks noGrp="1"/>
          </p:cNvSpPr>
          <p:nvPr>
            <p:ph type="title" idx="101" hasCustomPrompt="1"/>
          </p:nvPr>
        </p:nvSpPr>
        <p:spPr>
          <a:xfrm>
            <a:off x="731520" y="3108960"/>
            <a:ext cx="10515600" cy="914400"/>
          </a:xfrm>
          <a:prstGeom prst="rect">
            <a:avLst/>
          </a:prstGeom>
          <a:noFill/>
          <a:ln/>
        </p:spPr>
        <p:txBody>
          <a:bodyPr wrap="square" lIns="0" tIns="0" rIns="0" bIns="0" rtlCol="0" anchor="t"/>
          <a:lstStyle/>
          <a:p>
            <a:pPr marL="0" indent="0" algn="l">
              <a:buNone/>
            </a:pPr>
            <a:r>
              <a:rPr lang="en-US" sz="4400" b="1" dirty="0">
                <a:solidFill>
                  <a:schemeClr val="bg1"/>
                </a:solidFill>
              </a:rPr>
              <a:t>Frontend</a:t>
            </a:r>
            <a:endParaRPr lang="en-US" sz="4400" dirty="0"/>
          </a:p>
        </p:txBody>
      </p:sp>
      <p:sp>
        <p:nvSpPr>
          <p:cNvPr id="4" name="Text 0"/>
          <p:cNvSpPr>
            <a:spLocks noGrp="1"/>
          </p:cNvSpPr>
          <p:nvPr>
            <p:ph type="body" idx="102" hasCustomPrompt="1"/>
          </p:nvPr>
        </p:nvSpPr>
        <p:spPr>
          <a:xfrm>
            <a:off x="731520" y="4069080"/>
            <a:ext cx="10515600" cy="640080"/>
          </a:xfrm>
          <a:prstGeom prst="rect">
            <a:avLst/>
          </a:prstGeom>
          <a:noFill/>
          <a:ln/>
        </p:spPr>
        <p:txBody>
          <a:bodyPr wrap="square" lIns="0" tIns="0" rIns="0" bIns="0" rtlCol="0" anchor="t"/>
          <a:lstStyle/>
          <a:p>
            <a:pPr marL="0" indent="0">
              <a:buNone/>
            </a:pPr>
            <a:r>
              <a:rPr lang="en-US" sz="2000" dirty="0">
                <a:solidFill>
                  <a:schemeClr val="bg2"/>
                </a:solidFill>
              </a:rPr>
              <a:t>Interface React construite avec Vite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Analyse du besoin et choix techniques</a:t>
            </a:r>
            <a:endParaRPr lang="en-US" sz="3200" dirty="0"/>
          </a:p>
        </p:txBody>
      </p:sp>
      <p:sp>
        <p:nvSpPr>
          <p:cNvPr id="3" name="carte-189"/>
          <p:cNvSpPr/>
          <p:nvPr/>
        </p:nvSpPr>
        <p:spPr>
          <a:xfrm>
            <a:off x="597758" y="1234440"/>
            <a:ext cx="3467924" cy="4937760"/>
          </a:xfrm>
          <a:prstGeom prst="roundRect">
            <a:avLst>
              <a:gd name="adj" fmla="val 3164"/>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4" name="capture-190" descr="Capture i052"/>
          <p:cNvPicPr>
            <a:picLocks noChangeAspect="1"/>
          </p:cNvPicPr>
          <p:nvPr/>
        </p:nvPicPr>
        <p:blipFill>
          <a:blip r:embed="rId3"/>
          <a:stretch>
            <a:fillRect/>
          </a:stretch>
        </p:blipFill>
        <p:spPr>
          <a:xfrm>
            <a:off x="661766" y="1298448"/>
            <a:ext cx="3339908" cy="4809744"/>
          </a:xfrm>
          <a:prstGeom prst="rect">
            <a:avLst/>
          </a:prstGeom>
        </p:spPr>
      </p:pic>
      <p:sp>
        <p:nvSpPr>
          <p:cNvPr id="5" name="pastille-191"/>
          <p:cNvSpPr/>
          <p:nvPr/>
        </p:nvSpPr>
        <p:spPr>
          <a:xfrm>
            <a:off x="4572000" y="1325880"/>
            <a:ext cx="566928" cy="566928"/>
          </a:xfrm>
          <a:prstGeom prst="ellipse">
            <a:avLst/>
          </a:prstGeom>
          <a:solidFill>
            <a:schemeClr val="accent1"/>
          </a:solidFill>
          <a:ln/>
        </p:spPr>
        <p:txBody>
          <a:bodyPr/>
          <a:lstStyle/>
          <a:p>
            <a:endParaRPr lang="fr-FR"/>
          </a:p>
        </p:txBody>
      </p:sp>
      <p:pic>
        <p:nvPicPr>
          <p:cNvPr id="6" name="icone-192" descr="icône"/>
          <p:cNvPicPr>
            <a:picLocks noChangeAspect="1"/>
          </p:cNvPicPr>
          <p:nvPr/>
        </p:nvPicPr>
        <p:blipFill>
          <a:blip r:embed="rId4"/>
          <a:stretch>
            <a:fillRect/>
          </a:stretch>
        </p:blipFill>
        <p:spPr>
          <a:xfrm>
            <a:off x="4708063" y="1461943"/>
            <a:ext cx="294803" cy="294803"/>
          </a:xfrm>
          <a:prstGeom prst="rect">
            <a:avLst/>
          </a:prstGeom>
        </p:spPr>
      </p:pic>
      <p:sp>
        <p:nvSpPr>
          <p:cNvPr id="7" name="texte-193"/>
          <p:cNvSpPr txBox="1"/>
          <p:nvPr/>
        </p:nvSpPr>
        <p:spPr>
          <a:xfrm>
            <a:off x="5349240" y="1289304"/>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React</a:t>
            </a:r>
            <a:endParaRPr lang="en-US" sz="1400" dirty="0"/>
          </a:p>
          <a:p>
            <a:pPr marL="0" indent="0">
              <a:buNone/>
            </a:pPr>
            <a:r>
              <a:rPr lang="en-US" sz="1400" dirty="0">
                <a:solidFill>
                  <a:schemeClr val="accent6"/>
                </a:solidFill>
              </a:rPr>
              <a:t>Composants réutilisables, affichage mis à jour automatiquement.</a:t>
            </a:r>
            <a:endParaRPr lang="en-US" sz="1400" dirty="0"/>
          </a:p>
        </p:txBody>
      </p:sp>
      <p:sp>
        <p:nvSpPr>
          <p:cNvPr id="8" name="pastille-194"/>
          <p:cNvSpPr/>
          <p:nvPr/>
        </p:nvSpPr>
        <p:spPr>
          <a:xfrm>
            <a:off x="4572000" y="2130552"/>
            <a:ext cx="566928" cy="566928"/>
          </a:xfrm>
          <a:prstGeom prst="ellipse">
            <a:avLst/>
          </a:prstGeom>
          <a:solidFill>
            <a:schemeClr val="accent1"/>
          </a:solidFill>
          <a:ln/>
        </p:spPr>
        <p:txBody>
          <a:bodyPr/>
          <a:lstStyle/>
          <a:p>
            <a:endParaRPr lang="fr-FR"/>
          </a:p>
        </p:txBody>
      </p:sp>
      <p:pic>
        <p:nvPicPr>
          <p:cNvPr id="9" name="icone-195" descr="icône"/>
          <p:cNvPicPr>
            <a:picLocks noChangeAspect="1"/>
          </p:cNvPicPr>
          <p:nvPr/>
        </p:nvPicPr>
        <p:blipFill>
          <a:blip r:embed="rId5"/>
          <a:stretch>
            <a:fillRect/>
          </a:stretch>
        </p:blipFill>
        <p:spPr>
          <a:xfrm>
            <a:off x="4708063" y="2266615"/>
            <a:ext cx="294803" cy="294803"/>
          </a:xfrm>
          <a:prstGeom prst="rect">
            <a:avLst/>
          </a:prstGeom>
        </p:spPr>
      </p:pic>
      <p:sp>
        <p:nvSpPr>
          <p:cNvPr id="10" name="texte-196"/>
          <p:cNvSpPr txBox="1"/>
          <p:nvPr/>
        </p:nvSpPr>
        <p:spPr>
          <a:xfrm>
            <a:off x="5349240" y="2093976"/>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Vite</a:t>
            </a:r>
            <a:endParaRPr lang="en-US" sz="1400" dirty="0"/>
          </a:p>
          <a:p>
            <a:pPr marL="0" indent="0">
              <a:buNone/>
            </a:pPr>
            <a:r>
              <a:rPr lang="en-US" sz="1400" dirty="0">
                <a:solidFill>
                  <a:schemeClr val="accent6"/>
                </a:solidFill>
              </a:rPr>
              <a:t>Serveur de développement et build de production.</a:t>
            </a:r>
            <a:endParaRPr lang="en-US" sz="1400" dirty="0"/>
          </a:p>
        </p:txBody>
      </p:sp>
      <p:sp>
        <p:nvSpPr>
          <p:cNvPr id="11" name="pastille-197"/>
          <p:cNvSpPr/>
          <p:nvPr/>
        </p:nvSpPr>
        <p:spPr>
          <a:xfrm>
            <a:off x="4572000" y="2935224"/>
            <a:ext cx="566928" cy="566928"/>
          </a:xfrm>
          <a:prstGeom prst="ellipse">
            <a:avLst/>
          </a:prstGeom>
          <a:solidFill>
            <a:schemeClr val="accent1"/>
          </a:solidFill>
          <a:ln/>
        </p:spPr>
        <p:txBody>
          <a:bodyPr/>
          <a:lstStyle/>
          <a:p>
            <a:endParaRPr lang="fr-FR"/>
          </a:p>
        </p:txBody>
      </p:sp>
      <p:pic>
        <p:nvPicPr>
          <p:cNvPr id="12" name="icone-198" descr="icône"/>
          <p:cNvPicPr>
            <a:picLocks noChangeAspect="1"/>
          </p:cNvPicPr>
          <p:nvPr/>
        </p:nvPicPr>
        <p:blipFill>
          <a:blip r:embed="rId6"/>
          <a:stretch>
            <a:fillRect/>
          </a:stretch>
        </p:blipFill>
        <p:spPr>
          <a:xfrm>
            <a:off x="4708063" y="3071287"/>
            <a:ext cx="294803" cy="294803"/>
          </a:xfrm>
          <a:prstGeom prst="rect">
            <a:avLst/>
          </a:prstGeom>
        </p:spPr>
      </p:pic>
      <p:sp>
        <p:nvSpPr>
          <p:cNvPr id="13" name="texte-199"/>
          <p:cNvSpPr txBox="1"/>
          <p:nvPr/>
        </p:nvSpPr>
        <p:spPr>
          <a:xfrm>
            <a:off x="5349240" y="2898648"/>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React Router</a:t>
            </a:r>
            <a:endParaRPr lang="en-US" sz="1400" dirty="0"/>
          </a:p>
          <a:p>
            <a:pPr marL="0" indent="0">
              <a:buNone/>
            </a:pPr>
            <a:r>
              <a:rPr lang="en-US" sz="1400" dirty="0">
                <a:solidFill>
                  <a:schemeClr val="accent6"/>
                </a:solidFill>
              </a:rPr>
              <a:t>Navigation entre les pages sans rechargement.</a:t>
            </a:r>
            <a:endParaRPr lang="en-US" sz="1400" dirty="0"/>
          </a:p>
        </p:txBody>
      </p:sp>
      <p:sp>
        <p:nvSpPr>
          <p:cNvPr id="14" name="pastille-200"/>
          <p:cNvSpPr/>
          <p:nvPr/>
        </p:nvSpPr>
        <p:spPr>
          <a:xfrm>
            <a:off x="4572000" y="3739896"/>
            <a:ext cx="566928" cy="566928"/>
          </a:xfrm>
          <a:prstGeom prst="ellipse">
            <a:avLst/>
          </a:prstGeom>
          <a:solidFill>
            <a:schemeClr val="accent1"/>
          </a:solidFill>
          <a:ln/>
        </p:spPr>
        <p:txBody>
          <a:bodyPr/>
          <a:lstStyle/>
          <a:p>
            <a:endParaRPr lang="fr-FR"/>
          </a:p>
        </p:txBody>
      </p:sp>
      <p:pic>
        <p:nvPicPr>
          <p:cNvPr id="15" name="icone-201" descr="icône"/>
          <p:cNvPicPr>
            <a:picLocks noChangeAspect="1"/>
          </p:cNvPicPr>
          <p:nvPr/>
        </p:nvPicPr>
        <p:blipFill>
          <a:blip r:embed="rId7"/>
          <a:stretch>
            <a:fillRect/>
          </a:stretch>
        </p:blipFill>
        <p:spPr>
          <a:xfrm>
            <a:off x="4708063" y="3875959"/>
            <a:ext cx="294803" cy="294803"/>
          </a:xfrm>
          <a:prstGeom prst="rect">
            <a:avLst/>
          </a:prstGeom>
        </p:spPr>
      </p:pic>
      <p:sp>
        <p:nvSpPr>
          <p:cNvPr id="16" name="texte-202"/>
          <p:cNvSpPr txBox="1"/>
          <p:nvPr/>
        </p:nvSpPr>
        <p:spPr>
          <a:xfrm>
            <a:off x="5349240" y="3703320"/>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Axios</a:t>
            </a:r>
            <a:endParaRPr lang="en-US" sz="1400" dirty="0"/>
          </a:p>
          <a:p>
            <a:pPr marL="0" indent="0">
              <a:buNone/>
            </a:pPr>
            <a:r>
              <a:rPr lang="en-US" sz="1400" dirty="0">
                <a:solidFill>
                  <a:schemeClr val="accent6"/>
                </a:solidFill>
              </a:rPr>
              <a:t>Requêtes HTTP vers l'API, avec intercepteurs.</a:t>
            </a:r>
            <a:endParaRPr lang="en-US" sz="1400" dirty="0"/>
          </a:p>
        </p:txBody>
      </p:sp>
      <p:sp>
        <p:nvSpPr>
          <p:cNvPr id="17" name="pastille-203"/>
          <p:cNvSpPr/>
          <p:nvPr/>
        </p:nvSpPr>
        <p:spPr>
          <a:xfrm>
            <a:off x="4572000" y="4544568"/>
            <a:ext cx="566928" cy="566928"/>
          </a:xfrm>
          <a:prstGeom prst="ellipse">
            <a:avLst/>
          </a:prstGeom>
          <a:solidFill>
            <a:schemeClr val="accent1"/>
          </a:solidFill>
          <a:ln/>
        </p:spPr>
        <p:txBody>
          <a:bodyPr/>
          <a:lstStyle/>
          <a:p>
            <a:endParaRPr lang="fr-FR"/>
          </a:p>
        </p:txBody>
      </p:sp>
      <p:pic>
        <p:nvPicPr>
          <p:cNvPr id="18" name="icone-204" descr="icône"/>
          <p:cNvPicPr>
            <a:picLocks noChangeAspect="1"/>
          </p:cNvPicPr>
          <p:nvPr/>
        </p:nvPicPr>
        <p:blipFill>
          <a:blip r:embed="rId8"/>
          <a:stretch>
            <a:fillRect/>
          </a:stretch>
        </p:blipFill>
        <p:spPr>
          <a:xfrm>
            <a:off x="4708063" y="4680631"/>
            <a:ext cx="294803" cy="294803"/>
          </a:xfrm>
          <a:prstGeom prst="rect">
            <a:avLst/>
          </a:prstGeom>
        </p:spPr>
      </p:pic>
      <p:sp>
        <p:nvSpPr>
          <p:cNvPr id="19" name="texte-205"/>
          <p:cNvSpPr txBox="1"/>
          <p:nvPr/>
        </p:nvSpPr>
        <p:spPr>
          <a:xfrm>
            <a:off x="5349240" y="4507992"/>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Tailwind CSS</a:t>
            </a:r>
            <a:endParaRPr lang="en-US" sz="1400" dirty="0"/>
          </a:p>
          <a:p>
            <a:pPr marL="0" indent="0">
              <a:buNone/>
            </a:pPr>
            <a:r>
              <a:rPr lang="en-US" sz="1400" dirty="0">
                <a:solidFill>
                  <a:schemeClr val="accent6"/>
                </a:solidFill>
              </a:rPr>
              <a:t>Mise en forme avec des classes dans le JSX.</a:t>
            </a:r>
            <a:endParaRPr lang="en-US" sz="1400" dirty="0"/>
          </a:p>
        </p:txBody>
      </p:sp>
      <p:sp>
        <p:nvSpPr>
          <p:cNvPr id="20" name="pastille-206"/>
          <p:cNvSpPr/>
          <p:nvPr/>
        </p:nvSpPr>
        <p:spPr>
          <a:xfrm>
            <a:off x="4572000" y="5349240"/>
            <a:ext cx="566928" cy="566928"/>
          </a:xfrm>
          <a:prstGeom prst="ellipse">
            <a:avLst/>
          </a:prstGeom>
          <a:solidFill>
            <a:schemeClr val="accent1"/>
          </a:solidFill>
          <a:ln/>
        </p:spPr>
        <p:txBody>
          <a:bodyPr/>
          <a:lstStyle/>
          <a:p>
            <a:endParaRPr lang="fr-FR"/>
          </a:p>
        </p:txBody>
      </p:sp>
      <p:pic>
        <p:nvPicPr>
          <p:cNvPr id="21" name="icone-207" descr="icône"/>
          <p:cNvPicPr>
            <a:picLocks noChangeAspect="1"/>
          </p:cNvPicPr>
          <p:nvPr/>
        </p:nvPicPr>
        <p:blipFill>
          <a:blip r:embed="rId9"/>
          <a:stretch>
            <a:fillRect/>
          </a:stretch>
        </p:blipFill>
        <p:spPr>
          <a:xfrm>
            <a:off x="4708063" y="5485303"/>
            <a:ext cx="294803" cy="294803"/>
          </a:xfrm>
          <a:prstGeom prst="rect">
            <a:avLst/>
          </a:prstGeom>
        </p:spPr>
      </p:pic>
      <p:sp>
        <p:nvSpPr>
          <p:cNvPr id="22" name="texte-208"/>
          <p:cNvSpPr txBox="1"/>
          <p:nvPr/>
        </p:nvSpPr>
        <p:spPr>
          <a:xfrm>
            <a:off x="5349240" y="5312664"/>
            <a:ext cx="6263640" cy="685800"/>
          </a:xfrm>
          <a:prstGeom prst="rect">
            <a:avLst/>
          </a:prstGeom>
          <a:noFill/>
          <a:ln/>
        </p:spPr>
        <p:txBody>
          <a:bodyPr wrap="square" lIns="0" tIns="0" rIns="0" bIns="0" rtlCol="0" anchor="ctr"/>
          <a:lstStyle/>
          <a:p>
            <a:pPr marL="0" indent="0">
              <a:buNone/>
            </a:pPr>
            <a:r>
              <a:rPr lang="en-US" sz="1600" b="1" dirty="0">
                <a:solidFill>
                  <a:schemeClr val="tx1"/>
                </a:solidFill>
              </a:rPr>
              <a:t>Vitest et Testing Library</a:t>
            </a:r>
            <a:endParaRPr lang="en-US" sz="1400" dirty="0"/>
          </a:p>
          <a:p>
            <a:pPr marL="0" indent="0">
              <a:buNone/>
            </a:pPr>
            <a:r>
              <a:rPr lang="en-US" sz="1400" dirty="0">
                <a:solidFill>
                  <a:schemeClr val="accent6"/>
                </a:solidFill>
              </a:rPr>
              <a:t>Tests automatisés des pages et formulaires.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Couches logicielles du frontend</a:t>
            </a:r>
            <a:endParaRPr lang="en-US" sz="3200" dirty="0"/>
          </a:p>
        </p:txBody>
      </p:sp>
      <p:sp>
        <p:nvSpPr>
          <p:cNvPr id="3" name="bloc-209"/>
          <p:cNvSpPr/>
          <p:nvPr/>
        </p:nvSpPr>
        <p:spPr>
          <a:xfrm>
            <a:off x="3931920" y="1417320"/>
            <a:ext cx="1783080" cy="658368"/>
          </a:xfrm>
          <a:prstGeom prst="roundRect">
            <a:avLst>
              <a:gd name="adj" fmla="val 13889"/>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Backend</a:t>
            </a:r>
            <a:endParaRPr lang="en-US" sz="1400" dirty="0"/>
          </a:p>
        </p:txBody>
      </p:sp>
      <p:sp>
        <p:nvSpPr>
          <p:cNvPr id="4" name="bloc-210"/>
          <p:cNvSpPr/>
          <p:nvPr/>
        </p:nvSpPr>
        <p:spPr>
          <a:xfrm>
            <a:off x="3931920" y="2606040"/>
            <a:ext cx="1783080" cy="658368"/>
          </a:xfrm>
          <a:prstGeom prst="roundRect">
            <a:avLst>
              <a:gd name="adj" fmla="val 13889"/>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services/api.js</a:t>
            </a:r>
            <a:endParaRPr lang="en-US" sz="1400" dirty="0"/>
          </a:p>
        </p:txBody>
      </p:sp>
      <p:sp>
        <p:nvSpPr>
          <p:cNvPr id="5" name="bloc-211"/>
          <p:cNvSpPr/>
          <p:nvPr/>
        </p:nvSpPr>
        <p:spPr>
          <a:xfrm>
            <a:off x="3931920" y="3794760"/>
            <a:ext cx="1783080" cy="658368"/>
          </a:xfrm>
          <a:prstGeom prst="roundRect">
            <a:avLst>
              <a:gd name="adj" fmla="val 13889"/>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page</a:t>
            </a:r>
            <a:endParaRPr lang="en-US" sz="1400" dirty="0"/>
          </a:p>
        </p:txBody>
      </p:sp>
      <p:sp>
        <p:nvSpPr>
          <p:cNvPr id="6" name="bloc-212"/>
          <p:cNvSpPr/>
          <p:nvPr/>
        </p:nvSpPr>
        <p:spPr>
          <a:xfrm>
            <a:off x="3931920" y="4983480"/>
            <a:ext cx="1783080" cy="658368"/>
          </a:xfrm>
          <a:prstGeom prst="roundRect">
            <a:avLst>
              <a:gd name="adj" fmla="val 13889"/>
            </a:avLst>
          </a:prstGeom>
          <a:solidFill>
            <a:schemeClr val="accent3"/>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tx1"/>
                </a:solidFill>
              </a:rPr>
              <a:t>component</a:t>
            </a:r>
            <a:endParaRPr lang="en-US" sz="1400" dirty="0"/>
          </a:p>
        </p:txBody>
      </p:sp>
      <p:sp>
        <p:nvSpPr>
          <p:cNvPr id="7" name="fleche-213"/>
          <p:cNvSpPr/>
          <p:nvPr/>
        </p:nvSpPr>
        <p:spPr>
          <a:xfrm>
            <a:off x="4823460" y="2121408"/>
            <a:ext cx="0" cy="438912"/>
          </a:xfrm>
          <a:prstGeom prst="line">
            <a:avLst/>
          </a:prstGeom>
          <a:noFill/>
          <a:ln w="25400">
            <a:solidFill>
              <a:schemeClr val="accent1"/>
            </a:solidFill>
            <a:prstDash val="solid"/>
            <a:headEnd type="triangle"/>
            <a:tailEnd type="triangle"/>
          </a:ln>
        </p:spPr>
        <p:txBody>
          <a:bodyPr/>
          <a:lstStyle/>
          <a:p>
            <a:endParaRPr lang="fr-FR"/>
          </a:p>
        </p:txBody>
      </p:sp>
      <p:sp>
        <p:nvSpPr>
          <p:cNvPr id="8" name="fleche-214"/>
          <p:cNvSpPr/>
          <p:nvPr/>
        </p:nvSpPr>
        <p:spPr>
          <a:xfrm>
            <a:off x="4823460" y="3310128"/>
            <a:ext cx="0" cy="438912"/>
          </a:xfrm>
          <a:prstGeom prst="line">
            <a:avLst/>
          </a:prstGeom>
          <a:noFill/>
          <a:ln w="25400">
            <a:solidFill>
              <a:schemeClr val="accent1"/>
            </a:solidFill>
            <a:prstDash val="solid"/>
            <a:headEnd type="triangle"/>
            <a:tailEnd type="triangle"/>
          </a:ln>
        </p:spPr>
        <p:txBody>
          <a:bodyPr/>
          <a:lstStyle/>
          <a:p>
            <a:endParaRPr lang="fr-FR"/>
          </a:p>
        </p:txBody>
      </p:sp>
      <p:sp>
        <p:nvSpPr>
          <p:cNvPr id="9" name="fleche-215"/>
          <p:cNvSpPr/>
          <p:nvPr/>
        </p:nvSpPr>
        <p:spPr>
          <a:xfrm>
            <a:off x="4823460" y="4498848"/>
            <a:ext cx="0" cy="438912"/>
          </a:xfrm>
          <a:prstGeom prst="line">
            <a:avLst/>
          </a:prstGeom>
          <a:noFill/>
          <a:ln w="25400">
            <a:solidFill>
              <a:schemeClr val="accent1"/>
            </a:solidFill>
            <a:prstDash val="solid"/>
            <a:tailEnd type="triangle"/>
          </a:ln>
        </p:spPr>
        <p:txBody>
          <a:bodyPr/>
          <a:lstStyle/>
          <a:p>
            <a:endParaRPr lang="fr-FR"/>
          </a:p>
        </p:txBody>
      </p:sp>
      <p:sp>
        <p:nvSpPr>
          <p:cNvPr id="10" name="texte-216"/>
          <p:cNvSpPr txBox="1"/>
          <p:nvPr/>
        </p:nvSpPr>
        <p:spPr>
          <a:xfrm>
            <a:off x="4933188" y="4526280"/>
            <a:ext cx="914400" cy="365760"/>
          </a:xfrm>
          <a:prstGeom prst="rect">
            <a:avLst/>
          </a:prstGeom>
          <a:noFill/>
          <a:ln/>
        </p:spPr>
        <p:txBody>
          <a:bodyPr wrap="square" lIns="0" tIns="0" rIns="0" bIns="0" rtlCol="0" anchor="ctr"/>
          <a:lstStyle/>
          <a:p>
            <a:pPr marL="0" indent="0">
              <a:buNone/>
            </a:pPr>
            <a:r>
              <a:rPr lang="en-US" sz="1200" i="1" dirty="0">
                <a:solidFill>
                  <a:schemeClr val="accent6"/>
                </a:solidFill>
              </a:rPr>
              <a:t>props</a:t>
            </a:r>
            <a:endParaRPr lang="en-US" sz="1200" dirty="0"/>
          </a:p>
        </p:txBody>
      </p:sp>
      <p:sp>
        <p:nvSpPr>
          <p:cNvPr id="11" name="bloc-217"/>
          <p:cNvSpPr/>
          <p:nvPr/>
        </p:nvSpPr>
        <p:spPr>
          <a:xfrm>
            <a:off x="548640" y="3794760"/>
            <a:ext cx="1280160" cy="658368"/>
          </a:xfrm>
          <a:prstGeom prst="roundRect">
            <a:avLst>
              <a:gd name="adj" fmla="val 13889"/>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App.jsx</a:t>
            </a:r>
            <a:endParaRPr lang="en-US" sz="1400" dirty="0"/>
          </a:p>
        </p:txBody>
      </p:sp>
      <p:sp>
        <p:nvSpPr>
          <p:cNvPr id="12" name="bloc-218"/>
          <p:cNvSpPr/>
          <p:nvPr/>
        </p:nvSpPr>
        <p:spPr>
          <a:xfrm>
            <a:off x="2148840" y="3794760"/>
            <a:ext cx="1463040" cy="658368"/>
          </a:xfrm>
          <a:prstGeom prst="roundRect">
            <a:avLst>
              <a:gd name="adj" fmla="val 13889"/>
            </a:avLst>
          </a:prstGeom>
          <a:solidFill>
            <a:schemeClr val="accent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PrivateRoute</a:t>
            </a:r>
            <a:endParaRPr lang="en-US" sz="1400" dirty="0"/>
          </a:p>
        </p:txBody>
      </p:sp>
      <p:sp>
        <p:nvSpPr>
          <p:cNvPr id="13" name="fleche-219"/>
          <p:cNvSpPr/>
          <p:nvPr/>
        </p:nvSpPr>
        <p:spPr>
          <a:xfrm>
            <a:off x="1856232" y="4123944"/>
            <a:ext cx="265176" cy="0"/>
          </a:xfrm>
          <a:prstGeom prst="line">
            <a:avLst/>
          </a:prstGeom>
          <a:noFill/>
          <a:ln w="25400">
            <a:solidFill>
              <a:schemeClr val="accent2"/>
            </a:solidFill>
            <a:prstDash val="solid"/>
            <a:tailEnd type="triangle"/>
          </a:ln>
        </p:spPr>
        <p:txBody>
          <a:bodyPr/>
          <a:lstStyle/>
          <a:p>
            <a:endParaRPr lang="fr-FR"/>
          </a:p>
        </p:txBody>
      </p:sp>
      <p:sp>
        <p:nvSpPr>
          <p:cNvPr id="14" name="fleche-220"/>
          <p:cNvSpPr/>
          <p:nvPr/>
        </p:nvSpPr>
        <p:spPr>
          <a:xfrm>
            <a:off x="3639312" y="4123944"/>
            <a:ext cx="265176" cy="0"/>
          </a:xfrm>
          <a:prstGeom prst="line">
            <a:avLst/>
          </a:prstGeom>
          <a:noFill/>
          <a:ln w="25400">
            <a:solidFill>
              <a:schemeClr val="accent2"/>
            </a:solidFill>
            <a:prstDash val="solid"/>
            <a:tailEnd type="triangle"/>
          </a:ln>
        </p:spPr>
        <p:txBody>
          <a:bodyPr/>
          <a:lstStyle/>
          <a:p>
            <a:endParaRPr lang="fr-FR"/>
          </a:p>
        </p:txBody>
      </p:sp>
      <p:sp>
        <p:nvSpPr>
          <p:cNvPr id="15" name="texte-221"/>
          <p:cNvSpPr txBox="1"/>
          <p:nvPr/>
        </p:nvSpPr>
        <p:spPr>
          <a:xfrm>
            <a:off x="548640" y="3383280"/>
            <a:ext cx="3017520" cy="365760"/>
          </a:xfrm>
          <a:prstGeom prst="rect">
            <a:avLst/>
          </a:prstGeom>
          <a:noFill/>
          <a:ln/>
        </p:spPr>
        <p:txBody>
          <a:bodyPr wrap="square" lIns="0" tIns="0" rIns="0" bIns="0" rtlCol="0" anchor="t"/>
          <a:lstStyle/>
          <a:p>
            <a:pPr marL="0" indent="0">
              <a:buNone/>
            </a:pPr>
            <a:r>
              <a:rPr lang="en-US" sz="1200" i="1" dirty="0">
                <a:solidFill>
                  <a:schemeClr val="accent2"/>
                </a:solidFill>
              </a:rPr>
              <a:t>navigation</a:t>
            </a:r>
            <a:endParaRPr lang="en-US" sz="1200" dirty="0"/>
          </a:p>
        </p:txBody>
      </p:sp>
      <p:sp>
        <p:nvSpPr>
          <p:cNvPr id="16" name="texte-222"/>
          <p:cNvSpPr txBox="1"/>
          <p:nvPr/>
        </p:nvSpPr>
        <p:spPr>
          <a:xfrm>
            <a:off x="3063240" y="2194560"/>
            <a:ext cx="777240" cy="365760"/>
          </a:xfrm>
          <a:prstGeom prst="rect">
            <a:avLst/>
          </a:prstGeom>
          <a:noFill/>
          <a:ln/>
        </p:spPr>
        <p:txBody>
          <a:bodyPr wrap="square" lIns="0" tIns="0" rIns="0" bIns="0" rtlCol="0" anchor="t"/>
          <a:lstStyle/>
          <a:p>
            <a:pPr marL="0" indent="0" algn="r">
              <a:buNone/>
            </a:pPr>
            <a:r>
              <a:rPr lang="en-US" sz="1200" i="1" dirty="0">
                <a:solidFill>
                  <a:schemeClr val="accent1"/>
                </a:solidFill>
              </a:rPr>
              <a:t>données</a:t>
            </a:r>
            <a:endParaRPr lang="en-US" sz="1200" dirty="0"/>
          </a:p>
        </p:txBody>
      </p:sp>
      <p:graphicFrame>
        <p:nvGraphicFramePr>
          <p:cNvPr id="17" name="tableau-couches"/>
          <p:cNvGraphicFramePr>
            <a:graphicFrameLocks noGrp="1"/>
          </p:cNvGraphicFramePr>
          <p:nvPr>
            <p:extLst>
              <p:ext uri="{D42A27DB-BD31-4B8C-83A1-F6EECF244321}">
                <p14:modId xmlns:p14="http://schemas.microsoft.com/office/powerpoint/2010/main" val="1579011935"/>
              </p:ext>
            </p:extLst>
          </p:nvPr>
        </p:nvGraphicFramePr>
        <p:xfrm>
          <a:off x="6400800" y="1417320"/>
          <a:ext cx="521208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Rôle</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models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services/api.js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accès aux données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controllers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pages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logique, état, appels API</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routes + middlewares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App.jsx + PrivateRoute</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aiguillage et protection</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(réponse JSON)</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components</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affichage</a:t>
                      </a:r>
                      <a:endParaRPr lang="en-US" sz="1400" dirty="0">
                        <a:latin typeface="Calibri" charset="0"/>
                        <a:ea typeface="Calibri" charset="0"/>
                        <a:cs typeface="Calibri" charset="0"/>
                      </a:endParaRPr>
                    </a:p>
                  </a:txBody>
                  <a:tcPr marL="73152" marR="73152" marT="73152" marB="73152"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8" name="carte-223"/>
          <p:cNvSpPr/>
          <p:nvPr/>
        </p:nvSpPr>
        <p:spPr>
          <a:xfrm>
            <a:off x="6400800" y="4343400"/>
            <a:ext cx="5212080" cy="1325880"/>
          </a:xfrm>
          <a:prstGeom prst="roundRect">
            <a:avLst>
              <a:gd name="adj" fmla="val 8276"/>
            </a:avLst>
          </a:prstGeom>
          <a:solidFill>
            <a:schemeClr val="bg2"/>
          </a:solidFill>
          <a:ln/>
        </p:spPr>
        <p:txBody>
          <a:bodyPr/>
          <a:lstStyle/>
          <a:p>
            <a:endParaRPr lang="fr-FR"/>
          </a:p>
        </p:txBody>
      </p:sp>
      <p:sp>
        <p:nvSpPr>
          <p:cNvPr id="19" name="texte-224"/>
          <p:cNvSpPr txBox="1"/>
          <p:nvPr/>
        </p:nvSpPr>
        <p:spPr>
          <a:xfrm>
            <a:off x="6629400" y="4480560"/>
            <a:ext cx="4754880" cy="1097280"/>
          </a:xfrm>
          <a:prstGeom prst="rect">
            <a:avLst/>
          </a:prstGeom>
          <a:noFill/>
          <a:ln/>
        </p:spPr>
        <p:txBody>
          <a:bodyPr wrap="square" lIns="0" tIns="0" rIns="0" bIns="0" rtlCol="0" anchor="ctr"/>
          <a:lstStyle/>
          <a:p>
            <a:pPr marL="0" indent="0">
              <a:buNone/>
            </a:pPr>
            <a:r>
              <a:rPr lang="en-US" sz="1400" dirty="0">
                <a:solidFill>
                  <a:schemeClr val="tx1"/>
                </a:solidFill>
              </a:rPr>
              <a:t>App choisit la page, PrivateRoute vérifie la connexion, la page récupère les données via api.js et les passe au composant qui les affiche.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Communication avec l'API</a:t>
            </a:r>
            <a:endParaRPr lang="en-US" sz="3200" dirty="0"/>
          </a:p>
        </p:txBody>
      </p:sp>
      <p:sp>
        <p:nvSpPr>
          <p:cNvPr id="3" name="etape-225"/>
          <p:cNvSpPr txBox="1"/>
          <p:nvPr/>
        </p:nvSpPr>
        <p:spPr>
          <a:xfrm>
            <a:off x="548640" y="132588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4" name="texte-226"/>
          <p:cNvSpPr txBox="1"/>
          <p:nvPr/>
        </p:nvSpPr>
        <p:spPr>
          <a:xfrm>
            <a:off x="1280160" y="1280160"/>
            <a:ext cx="4572000" cy="1051560"/>
          </a:xfrm>
          <a:prstGeom prst="rect">
            <a:avLst/>
          </a:prstGeom>
          <a:noFill/>
          <a:ln/>
        </p:spPr>
        <p:txBody>
          <a:bodyPr wrap="square" lIns="0" tIns="0" rIns="0" bIns="0" rtlCol="0" anchor="t"/>
          <a:lstStyle/>
          <a:p>
            <a:pPr marL="0" indent="0">
              <a:buNone/>
            </a:pPr>
            <a:r>
              <a:rPr lang="en-US" sz="1600" b="1" dirty="0">
                <a:solidFill>
                  <a:schemeClr val="tx1"/>
                </a:solidFill>
              </a:rPr>
              <a:t>VITE_API_URL</a:t>
            </a:r>
            <a:endParaRPr lang="en-US" sz="1400" dirty="0"/>
          </a:p>
          <a:p>
            <a:pPr marL="0" indent="0">
              <a:buNone/>
            </a:pPr>
            <a:r>
              <a:rPr lang="en-US" sz="1400" dirty="0">
                <a:solidFill>
                  <a:schemeClr val="tx1"/>
                </a:solidFill>
              </a:rPr>
              <a:t>Adresse de l'API : .env.development ou .env.production, intégrée au moment du build.</a:t>
            </a:r>
            <a:endParaRPr lang="en-US" sz="1400" dirty="0"/>
          </a:p>
        </p:txBody>
      </p:sp>
      <p:sp>
        <p:nvSpPr>
          <p:cNvPr id="5" name="etape-227"/>
          <p:cNvSpPr txBox="1"/>
          <p:nvPr/>
        </p:nvSpPr>
        <p:spPr>
          <a:xfrm>
            <a:off x="548640" y="2532888"/>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6" name="texte-228"/>
          <p:cNvSpPr txBox="1"/>
          <p:nvPr/>
        </p:nvSpPr>
        <p:spPr>
          <a:xfrm>
            <a:off x="1280160" y="2487168"/>
            <a:ext cx="4572000" cy="1051560"/>
          </a:xfrm>
          <a:prstGeom prst="rect">
            <a:avLst/>
          </a:prstGeom>
          <a:noFill/>
          <a:ln/>
        </p:spPr>
        <p:txBody>
          <a:bodyPr wrap="square" lIns="0" tIns="0" rIns="0" bIns="0" rtlCol="0" anchor="t"/>
          <a:lstStyle/>
          <a:p>
            <a:pPr marL="0" indent="0">
              <a:buNone/>
            </a:pPr>
            <a:r>
              <a:rPr lang="en-US" sz="1600" b="1" dirty="0">
                <a:solidFill>
                  <a:schemeClr val="tx1"/>
                </a:solidFill>
              </a:rPr>
              <a:t>Instance Axios</a:t>
            </a:r>
            <a:endParaRPr lang="en-US" sz="1400" dirty="0"/>
          </a:p>
          <a:p>
            <a:pPr marL="0" indent="0">
              <a:buNone/>
            </a:pPr>
            <a:r>
              <a:rPr lang="en-US" sz="1400" dirty="0">
                <a:solidFill>
                  <a:schemeClr val="tx1"/>
                </a:solidFill>
              </a:rPr>
              <a:t>services/api.js crée Axios avec baseURL et exporte get, post, patch et del.</a:t>
            </a:r>
            <a:endParaRPr lang="en-US" sz="1400" dirty="0"/>
          </a:p>
        </p:txBody>
      </p:sp>
      <p:sp>
        <p:nvSpPr>
          <p:cNvPr id="7" name="etape-229"/>
          <p:cNvSpPr txBox="1"/>
          <p:nvPr/>
        </p:nvSpPr>
        <p:spPr>
          <a:xfrm>
            <a:off x="548640" y="3739896"/>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8" name="texte-230"/>
          <p:cNvSpPr txBox="1"/>
          <p:nvPr/>
        </p:nvSpPr>
        <p:spPr>
          <a:xfrm>
            <a:off x="1280160" y="3694176"/>
            <a:ext cx="4572000" cy="1051560"/>
          </a:xfrm>
          <a:prstGeom prst="rect">
            <a:avLst/>
          </a:prstGeom>
          <a:noFill/>
          <a:ln/>
        </p:spPr>
        <p:txBody>
          <a:bodyPr wrap="square" lIns="0" tIns="0" rIns="0" bIns="0" rtlCol="0" anchor="t"/>
          <a:lstStyle/>
          <a:p>
            <a:pPr marL="0" indent="0">
              <a:buNone/>
            </a:pPr>
            <a:r>
              <a:rPr lang="en-US" sz="1600" b="1" dirty="0">
                <a:solidFill>
                  <a:schemeClr val="tx1"/>
                </a:solidFill>
              </a:rPr>
              <a:t>Intercepteur de requête</a:t>
            </a:r>
            <a:endParaRPr lang="en-US" sz="1400" dirty="0"/>
          </a:p>
          <a:p>
            <a:pPr marL="0" indent="0">
              <a:buNone/>
            </a:pPr>
            <a:r>
              <a:rPr lang="en-US" sz="1400" dirty="0">
                <a:solidFill>
                  <a:schemeClr val="tx1"/>
                </a:solidFill>
              </a:rPr>
              <a:t>Ajoute le token dans l'en-tête Authorization (Bearer).</a:t>
            </a:r>
            <a:endParaRPr lang="en-US" sz="1400" dirty="0"/>
          </a:p>
        </p:txBody>
      </p:sp>
      <p:sp>
        <p:nvSpPr>
          <p:cNvPr id="9" name="etape-231"/>
          <p:cNvSpPr txBox="1"/>
          <p:nvPr/>
        </p:nvSpPr>
        <p:spPr>
          <a:xfrm>
            <a:off x="548640" y="4946904"/>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0" name="texte-232"/>
          <p:cNvSpPr txBox="1"/>
          <p:nvPr/>
        </p:nvSpPr>
        <p:spPr>
          <a:xfrm>
            <a:off x="1280160" y="4901184"/>
            <a:ext cx="4572000" cy="1051560"/>
          </a:xfrm>
          <a:prstGeom prst="rect">
            <a:avLst/>
          </a:prstGeom>
          <a:noFill/>
          <a:ln/>
        </p:spPr>
        <p:txBody>
          <a:bodyPr wrap="square" lIns="0" tIns="0" rIns="0" bIns="0" rtlCol="0" anchor="t"/>
          <a:lstStyle/>
          <a:p>
            <a:pPr marL="0" indent="0">
              <a:buNone/>
            </a:pPr>
            <a:r>
              <a:rPr lang="en-US" sz="1600" b="1" dirty="0">
                <a:solidFill>
                  <a:schemeClr val="tx1"/>
                </a:solidFill>
              </a:rPr>
              <a:t>Intercepteur de réponse</a:t>
            </a:r>
            <a:endParaRPr lang="en-US" sz="1400" dirty="0"/>
          </a:p>
          <a:p>
            <a:pPr marL="0" indent="0">
              <a:buNone/>
            </a:pPr>
            <a:r>
              <a:rPr lang="en-US" sz="1400" dirty="0">
                <a:solidFill>
                  <a:schemeClr val="tx1"/>
                </a:solidFill>
              </a:rPr>
              <a:t>Supprime le token si l'API répond 401 (token invalide ou expiré).</a:t>
            </a:r>
            <a:endParaRPr lang="en-US" sz="1400" dirty="0"/>
          </a:p>
        </p:txBody>
      </p:sp>
      <p:sp>
        <p:nvSpPr>
          <p:cNvPr id="11" name="carte-233"/>
          <p:cNvSpPr/>
          <p:nvPr/>
        </p:nvSpPr>
        <p:spPr>
          <a:xfrm>
            <a:off x="6915061" y="1234440"/>
            <a:ext cx="4000679" cy="3429000"/>
          </a:xfrm>
          <a:prstGeom prst="roundRect">
            <a:avLst>
              <a:gd name="adj" fmla="val 3200"/>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2" name="capture-234" descr="Capture i059"/>
          <p:cNvPicPr>
            <a:picLocks noChangeAspect="1"/>
          </p:cNvPicPr>
          <p:nvPr/>
        </p:nvPicPr>
        <p:blipFill>
          <a:blip r:embed="rId3"/>
          <a:stretch>
            <a:fillRect/>
          </a:stretch>
        </p:blipFill>
        <p:spPr>
          <a:xfrm>
            <a:off x="6979069" y="1298448"/>
            <a:ext cx="3872663" cy="3300984"/>
          </a:xfrm>
          <a:prstGeom prst="rect">
            <a:avLst/>
          </a:prstGeom>
        </p:spPr>
      </p:pic>
      <p:sp>
        <p:nvSpPr>
          <p:cNvPr id="13" name="carte-235"/>
          <p:cNvSpPr/>
          <p:nvPr/>
        </p:nvSpPr>
        <p:spPr>
          <a:xfrm>
            <a:off x="6891601" y="4800600"/>
            <a:ext cx="4047599" cy="1371600"/>
          </a:xfrm>
          <a:prstGeom prst="roundRect">
            <a:avLst>
              <a:gd name="adj" fmla="val 8000"/>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4" name="capture-236" descr="Capture i054"/>
          <p:cNvPicPr>
            <a:picLocks noChangeAspect="1"/>
          </p:cNvPicPr>
          <p:nvPr/>
        </p:nvPicPr>
        <p:blipFill>
          <a:blip r:embed="rId4"/>
          <a:stretch>
            <a:fillRect/>
          </a:stretch>
        </p:blipFill>
        <p:spPr>
          <a:xfrm>
            <a:off x="6955609" y="4864608"/>
            <a:ext cx="3919583" cy="124358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Pages et composants</a:t>
            </a:r>
            <a:endParaRPr lang="en-US" sz="3200" dirty="0"/>
          </a:p>
        </p:txBody>
      </p:sp>
      <p:sp>
        <p:nvSpPr>
          <p:cNvPr id="3" name="texte-237"/>
          <p:cNvSpPr txBox="1"/>
          <p:nvPr/>
        </p:nvSpPr>
        <p:spPr>
          <a:xfrm>
            <a:off x="548640" y="1234440"/>
            <a:ext cx="5120640" cy="411480"/>
          </a:xfrm>
          <a:prstGeom prst="rect">
            <a:avLst/>
          </a:prstGeom>
          <a:noFill/>
          <a:ln/>
        </p:spPr>
        <p:txBody>
          <a:bodyPr wrap="square" lIns="0" tIns="0" rIns="0" bIns="0" rtlCol="0" anchor="t"/>
          <a:lstStyle/>
          <a:p>
            <a:pPr marL="0" indent="0">
              <a:buNone/>
            </a:pPr>
            <a:r>
              <a:rPr lang="en-US" sz="1800" b="1" dirty="0">
                <a:solidFill>
                  <a:schemeClr val="accent1"/>
                </a:solidFill>
              </a:rPr>
              <a:t>Page Projects</a:t>
            </a:r>
            <a:endParaRPr lang="en-US" sz="1800" dirty="0"/>
          </a:p>
        </p:txBody>
      </p:sp>
      <p:sp>
        <p:nvSpPr>
          <p:cNvPr id="4" name="carte-238"/>
          <p:cNvSpPr/>
          <p:nvPr/>
        </p:nvSpPr>
        <p:spPr>
          <a:xfrm>
            <a:off x="615098" y="1691640"/>
            <a:ext cx="4987725" cy="3611880"/>
          </a:xfrm>
          <a:prstGeom prst="roundRect">
            <a:avLst>
              <a:gd name="adj" fmla="val 3038"/>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5" name="capture-239" descr="Capture i057"/>
          <p:cNvPicPr>
            <a:picLocks noChangeAspect="1"/>
          </p:cNvPicPr>
          <p:nvPr/>
        </p:nvPicPr>
        <p:blipFill>
          <a:blip r:embed="rId3"/>
          <a:stretch>
            <a:fillRect/>
          </a:stretch>
        </p:blipFill>
        <p:spPr>
          <a:xfrm>
            <a:off x="679106" y="1755648"/>
            <a:ext cx="4859709" cy="3483864"/>
          </a:xfrm>
          <a:prstGeom prst="rect">
            <a:avLst/>
          </a:prstGeom>
        </p:spPr>
      </p:pic>
      <p:sp>
        <p:nvSpPr>
          <p:cNvPr id="6" name="texte-240"/>
          <p:cNvSpPr txBox="1"/>
          <p:nvPr/>
        </p:nvSpPr>
        <p:spPr>
          <a:xfrm>
            <a:off x="6492240" y="1234440"/>
            <a:ext cx="5120640" cy="411480"/>
          </a:xfrm>
          <a:prstGeom prst="rect">
            <a:avLst/>
          </a:prstGeom>
          <a:noFill/>
          <a:ln/>
        </p:spPr>
        <p:txBody>
          <a:bodyPr wrap="square" lIns="0" tIns="0" rIns="0" bIns="0" rtlCol="0" anchor="t"/>
          <a:lstStyle/>
          <a:p>
            <a:pPr marL="0" indent="0">
              <a:buNone/>
            </a:pPr>
            <a:r>
              <a:rPr lang="en-US" sz="1800" b="1" dirty="0">
                <a:solidFill>
                  <a:schemeClr val="accent1"/>
                </a:solidFill>
              </a:rPr>
              <a:t>Composant Project</a:t>
            </a:r>
            <a:endParaRPr lang="en-US" sz="1800" dirty="0"/>
          </a:p>
        </p:txBody>
      </p:sp>
      <p:sp>
        <p:nvSpPr>
          <p:cNvPr id="7" name="carte-241"/>
          <p:cNvSpPr/>
          <p:nvPr/>
        </p:nvSpPr>
        <p:spPr>
          <a:xfrm>
            <a:off x="6492240" y="1771371"/>
            <a:ext cx="5120640" cy="1989378"/>
          </a:xfrm>
          <a:prstGeom prst="roundRect">
            <a:avLst>
              <a:gd name="adj" fmla="val 5516"/>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8" name="capture-242" descr="Capture i061"/>
          <p:cNvPicPr>
            <a:picLocks noChangeAspect="1"/>
          </p:cNvPicPr>
          <p:nvPr/>
        </p:nvPicPr>
        <p:blipFill>
          <a:blip r:embed="rId4"/>
          <a:stretch>
            <a:fillRect/>
          </a:stretch>
        </p:blipFill>
        <p:spPr>
          <a:xfrm>
            <a:off x="6556248" y="1835379"/>
            <a:ext cx="4992624" cy="1861362"/>
          </a:xfrm>
          <a:prstGeom prst="rect">
            <a:avLst/>
          </a:prstGeom>
        </p:spPr>
      </p:pic>
      <p:sp>
        <p:nvSpPr>
          <p:cNvPr id="9" name="fleche-243"/>
          <p:cNvSpPr/>
          <p:nvPr/>
        </p:nvSpPr>
        <p:spPr>
          <a:xfrm>
            <a:off x="5760720" y="2606040"/>
            <a:ext cx="640080" cy="0"/>
          </a:xfrm>
          <a:prstGeom prst="line">
            <a:avLst/>
          </a:prstGeom>
          <a:noFill/>
          <a:ln w="31750">
            <a:solidFill>
              <a:schemeClr val="accent1"/>
            </a:solidFill>
            <a:prstDash val="solid"/>
            <a:tailEnd type="triangle"/>
          </a:ln>
        </p:spPr>
        <p:txBody>
          <a:bodyPr/>
          <a:lstStyle/>
          <a:p>
            <a:endParaRPr lang="fr-FR"/>
          </a:p>
        </p:txBody>
      </p:sp>
      <p:sp>
        <p:nvSpPr>
          <p:cNvPr id="10" name="texte-244"/>
          <p:cNvSpPr txBox="1"/>
          <p:nvPr/>
        </p:nvSpPr>
        <p:spPr>
          <a:xfrm>
            <a:off x="6492240" y="3977640"/>
            <a:ext cx="5120640" cy="365760"/>
          </a:xfrm>
          <a:prstGeom prst="rect">
            <a:avLst/>
          </a:prstGeom>
          <a:noFill/>
          <a:ln/>
        </p:spPr>
        <p:txBody>
          <a:bodyPr wrap="square" lIns="0" tIns="0" rIns="0" bIns="0" rtlCol="0" anchor="t"/>
          <a:lstStyle/>
          <a:p>
            <a:pPr marL="0" indent="0">
              <a:buNone/>
            </a:pPr>
            <a:r>
              <a:rPr lang="en-US" sz="1400" b="1" dirty="0">
                <a:solidFill>
                  <a:schemeClr val="accent1"/>
                </a:solidFill>
              </a:rPr>
              <a:t>props : project, onUpdate</a:t>
            </a:r>
            <a:endParaRPr lang="en-US" sz="1400" dirty="0"/>
          </a:p>
        </p:txBody>
      </p:sp>
      <p:sp>
        <p:nvSpPr>
          <p:cNvPr id="11" name="texte-245"/>
          <p:cNvSpPr txBox="1"/>
          <p:nvPr/>
        </p:nvSpPr>
        <p:spPr>
          <a:xfrm>
            <a:off x="6492240" y="4389120"/>
            <a:ext cx="5120640" cy="914400"/>
          </a:xfrm>
          <a:prstGeom prst="rect">
            <a:avLst/>
          </a:prstGeom>
          <a:noFill/>
          <a:ln/>
        </p:spPr>
        <p:txBody>
          <a:bodyPr wrap="square" lIns="0" tIns="0" rIns="0" bIns="0" rtlCol="0" anchor="t"/>
          <a:lstStyle/>
          <a:p>
            <a:pPr marL="0" indent="0">
              <a:buNone/>
            </a:pPr>
            <a:r>
              <a:rPr lang="en-US" sz="1400" dirty="0">
                <a:solidFill>
                  <a:schemeClr val="tx1"/>
                </a:solidFill>
              </a:rPr>
              <a:t>« Terminer » envoie un PATCH, « Supprimer » un DELETE, « Modifier » ouvre EditProject. Ensuite onUpdate() demande à la page de recharger la liste.</a:t>
            </a:r>
            <a:endParaRPr lang="en-US" sz="1400" dirty="0"/>
          </a:p>
        </p:txBody>
      </p:sp>
      <p:sp>
        <p:nvSpPr>
          <p:cNvPr id="12" name="carte-246"/>
          <p:cNvSpPr/>
          <p:nvPr/>
        </p:nvSpPr>
        <p:spPr>
          <a:xfrm>
            <a:off x="548640" y="5486400"/>
            <a:ext cx="3566160" cy="685800"/>
          </a:xfrm>
          <a:prstGeom prst="roundRect">
            <a:avLst>
              <a:gd name="adj" fmla="val 16000"/>
            </a:avLst>
          </a:prstGeom>
          <a:solidFill>
            <a:schemeClr val="bg2"/>
          </a:solidFill>
          <a:ln/>
        </p:spPr>
        <p:txBody>
          <a:bodyPr/>
          <a:lstStyle/>
          <a:p>
            <a:endParaRPr lang="fr-FR"/>
          </a:p>
        </p:txBody>
      </p:sp>
      <p:sp>
        <p:nvSpPr>
          <p:cNvPr id="13" name="texte-247"/>
          <p:cNvSpPr txBox="1"/>
          <p:nvPr/>
        </p:nvSpPr>
        <p:spPr>
          <a:xfrm>
            <a:off x="731520" y="5486400"/>
            <a:ext cx="3291840" cy="685800"/>
          </a:xfrm>
          <a:prstGeom prst="rect">
            <a:avLst/>
          </a:prstGeom>
          <a:noFill/>
          <a:ln/>
        </p:spPr>
        <p:txBody>
          <a:bodyPr wrap="square" lIns="0" tIns="0" rIns="0" bIns="0" rtlCol="0" anchor="ctr"/>
          <a:lstStyle/>
          <a:p>
            <a:pPr marL="0" indent="0">
              <a:buNone/>
            </a:pPr>
            <a:r>
              <a:rPr lang="en-US" sz="1400" b="1" dirty="0">
                <a:solidFill>
                  <a:schemeClr val="accent1"/>
                </a:solidFill>
              </a:rPr>
              <a:t>useState  </a:t>
            </a:r>
            <a:r>
              <a:rPr lang="en-US" sz="1400" dirty="0">
                <a:solidFill>
                  <a:schemeClr val="tx1"/>
                </a:solidFill>
              </a:rPr>
              <a:t>stocke les projets et la page</a:t>
            </a:r>
            <a:endParaRPr lang="en-US" sz="1400" dirty="0"/>
          </a:p>
        </p:txBody>
      </p:sp>
      <p:sp>
        <p:nvSpPr>
          <p:cNvPr id="14" name="carte-248"/>
          <p:cNvSpPr/>
          <p:nvPr/>
        </p:nvSpPr>
        <p:spPr>
          <a:xfrm>
            <a:off x="4297680" y="5486400"/>
            <a:ext cx="3566160" cy="685800"/>
          </a:xfrm>
          <a:prstGeom prst="roundRect">
            <a:avLst>
              <a:gd name="adj" fmla="val 16000"/>
            </a:avLst>
          </a:prstGeom>
          <a:solidFill>
            <a:schemeClr val="bg2"/>
          </a:solidFill>
          <a:ln/>
        </p:spPr>
        <p:txBody>
          <a:bodyPr/>
          <a:lstStyle/>
          <a:p>
            <a:endParaRPr lang="fr-FR"/>
          </a:p>
        </p:txBody>
      </p:sp>
      <p:sp>
        <p:nvSpPr>
          <p:cNvPr id="15" name="texte-249"/>
          <p:cNvSpPr txBox="1"/>
          <p:nvPr/>
        </p:nvSpPr>
        <p:spPr>
          <a:xfrm>
            <a:off x="4480560" y="5486400"/>
            <a:ext cx="3291840" cy="685800"/>
          </a:xfrm>
          <a:prstGeom prst="rect">
            <a:avLst/>
          </a:prstGeom>
          <a:noFill/>
          <a:ln/>
        </p:spPr>
        <p:txBody>
          <a:bodyPr wrap="square" lIns="0" tIns="0" rIns="0" bIns="0" rtlCol="0" anchor="ctr"/>
          <a:lstStyle/>
          <a:p>
            <a:pPr marL="0" indent="0">
              <a:buNone/>
            </a:pPr>
            <a:r>
              <a:rPr lang="en-US" sz="1400" b="1" dirty="0">
                <a:solidFill>
                  <a:schemeClr val="accent1"/>
                </a:solidFill>
              </a:rPr>
              <a:t>useEffect  </a:t>
            </a:r>
            <a:r>
              <a:rPr lang="en-US" sz="1400" dirty="0">
                <a:solidFill>
                  <a:schemeClr val="tx1"/>
                </a:solidFill>
              </a:rPr>
              <a:t>lance la requête au chargement</a:t>
            </a:r>
            <a:endParaRPr lang="en-US" sz="1400" dirty="0"/>
          </a:p>
        </p:txBody>
      </p:sp>
      <p:sp>
        <p:nvSpPr>
          <p:cNvPr id="16" name="carte-250"/>
          <p:cNvSpPr/>
          <p:nvPr/>
        </p:nvSpPr>
        <p:spPr>
          <a:xfrm>
            <a:off x="8046720" y="5486400"/>
            <a:ext cx="3566160" cy="685800"/>
          </a:xfrm>
          <a:prstGeom prst="roundRect">
            <a:avLst>
              <a:gd name="adj" fmla="val 16000"/>
            </a:avLst>
          </a:prstGeom>
          <a:solidFill>
            <a:schemeClr val="bg2"/>
          </a:solidFill>
          <a:ln/>
        </p:spPr>
        <p:txBody>
          <a:bodyPr/>
          <a:lstStyle/>
          <a:p>
            <a:endParaRPr lang="fr-FR"/>
          </a:p>
        </p:txBody>
      </p:sp>
      <p:sp>
        <p:nvSpPr>
          <p:cNvPr id="17" name="texte-251"/>
          <p:cNvSpPr txBox="1"/>
          <p:nvPr/>
        </p:nvSpPr>
        <p:spPr>
          <a:xfrm>
            <a:off x="8229600" y="5486400"/>
            <a:ext cx="3291840" cy="685800"/>
          </a:xfrm>
          <a:prstGeom prst="rect">
            <a:avLst/>
          </a:prstGeom>
          <a:noFill/>
          <a:ln/>
        </p:spPr>
        <p:txBody>
          <a:bodyPr wrap="square" lIns="0" tIns="0" rIns="0" bIns="0" rtlCol="0" anchor="ctr"/>
          <a:lstStyle/>
          <a:p>
            <a:pPr marL="0" indent="0">
              <a:buNone/>
            </a:pPr>
            <a:r>
              <a:rPr lang="en-US" sz="1400" b="1" dirty="0">
                <a:solidFill>
                  <a:schemeClr val="accent1"/>
                </a:solidFill>
              </a:rPr>
              <a:t>Pagination et filtres  </a:t>
            </a:r>
            <a:r>
              <a:rPr lang="en-US" sz="1400" dirty="0">
                <a:solidFill>
                  <a:schemeClr val="tx1"/>
                </a:solidFill>
              </a:rPr>
              <a:t>page, statut, priorité, tri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Interface utilisateur</a:t>
            </a:r>
            <a:endParaRPr lang="en-US" sz="3200" dirty="0"/>
          </a:p>
        </p:txBody>
      </p:sp>
      <p:sp>
        <p:nvSpPr>
          <p:cNvPr id="3" name="carte-252"/>
          <p:cNvSpPr/>
          <p:nvPr/>
        </p:nvSpPr>
        <p:spPr>
          <a:xfrm>
            <a:off x="879695" y="1234440"/>
            <a:ext cx="4732851" cy="3794760"/>
          </a:xfrm>
          <a:prstGeom prst="roundRect">
            <a:avLst>
              <a:gd name="adj" fmla="val 2892"/>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4" name="capture-253" descr="Capture i067"/>
          <p:cNvPicPr>
            <a:picLocks noChangeAspect="1"/>
          </p:cNvPicPr>
          <p:nvPr/>
        </p:nvPicPr>
        <p:blipFill>
          <a:blip r:embed="rId3"/>
          <a:stretch>
            <a:fillRect/>
          </a:stretch>
        </p:blipFill>
        <p:spPr>
          <a:xfrm>
            <a:off x="943703" y="1298448"/>
            <a:ext cx="4604835" cy="3666744"/>
          </a:xfrm>
          <a:prstGeom prst="rect">
            <a:avLst/>
          </a:prstGeom>
        </p:spPr>
      </p:pic>
      <p:sp>
        <p:nvSpPr>
          <p:cNvPr id="5" name="carte-254"/>
          <p:cNvSpPr/>
          <p:nvPr/>
        </p:nvSpPr>
        <p:spPr>
          <a:xfrm>
            <a:off x="577298" y="5120640"/>
            <a:ext cx="5337644" cy="1051560"/>
          </a:xfrm>
          <a:prstGeom prst="roundRect">
            <a:avLst>
              <a:gd name="adj" fmla="val 10435"/>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6" name="capture-255" descr="Capture i068"/>
          <p:cNvPicPr>
            <a:picLocks noChangeAspect="1"/>
          </p:cNvPicPr>
          <p:nvPr/>
        </p:nvPicPr>
        <p:blipFill>
          <a:blip r:embed="rId4"/>
          <a:stretch>
            <a:fillRect/>
          </a:stretch>
        </p:blipFill>
        <p:spPr>
          <a:xfrm>
            <a:off x="641306" y="5184648"/>
            <a:ext cx="5209628" cy="923544"/>
          </a:xfrm>
          <a:prstGeom prst="rect">
            <a:avLst/>
          </a:prstGeom>
        </p:spPr>
      </p:pic>
      <p:sp>
        <p:nvSpPr>
          <p:cNvPr id="7" name="carte-256"/>
          <p:cNvSpPr/>
          <p:nvPr/>
        </p:nvSpPr>
        <p:spPr>
          <a:xfrm>
            <a:off x="6172200" y="2204233"/>
            <a:ext cx="2606040" cy="2998174"/>
          </a:xfrm>
          <a:prstGeom prst="roundRect">
            <a:avLst>
              <a:gd name="adj" fmla="val 4211"/>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8" name="capture-257" descr="Capture i069"/>
          <p:cNvPicPr>
            <a:picLocks noChangeAspect="1"/>
          </p:cNvPicPr>
          <p:nvPr/>
        </p:nvPicPr>
        <p:blipFill>
          <a:blip r:embed="rId5"/>
          <a:stretch>
            <a:fillRect/>
          </a:stretch>
        </p:blipFill>
        <p:spPr>
          <a:xfrm>
            <a:off x="6236208" y="2268241"/>
            <a:ext cx="2478024" cy="2870158"/>
          </a:xfrm>
          <a:prstGeom prst="rect">
            <a:avLst/>
          </a:prstGeom>
        </p:spPr>
      </p:pic>
      <p:sp>
        <p:nvSpPr>
          <p:cNvPr id="9" name="carte-258"/>
          <p:cNvSpPr/>
          <p:nvPr/>
        </p:nvSpPr>
        <p:spPr>
          <a:xfrm>
            <a:off x="9006840" y="1234440"/>
            <a:ext cx="2606040" cy="1115568"/>
          </a:xfrm>
          <a:prstGeom prst="roundRect">
            <a:avLst>
              <a:gd name="adj" fmla="val 9836"/>
            </a:avLst>
          </a:prstGeom>
          <a:solidFill>
            <a:schemeClr val="bg2"/>
          </a:solidFill>
          <a:ln/>
        </p:spPr>
        <p:txBody>
          <a:bodyPr/>
          <a:lstStyle/>
          <a:p>
            <a:endParaRPr lang="fr-FR"/>
          </a:p>
        </p:txBody>
      </p:sp>
      <p:sp>
        <p:nvSpPr>
          <p:cNvPr id="10" name="pastille-259"/>
          <p:cNvSpPr/>
          <p:nvPr/>
        </p:nvSpPr>
        <p:spPr>
          <a:xfrm>
            <a:off x="9144000" y="1399032"/>
            <a:ext cx="457200" cy="457200"/>
          </a:xfrm>
          <a:prstGeom prst="ellipse">
            <a:avLst/>
          </a:prstGeom>
          <a:solidFill>
            <a:schemeClr val="accent1"/>
          </a:solidFill>
          <a:ln/>
        </p:spPr>
        <p:txBody>
          <a:bodyPr/>
          <a:lstStyle/>
          <a:p>
            <a:endParaRPr lang="fr-FR"/>
          </a:p>
        </p:txBody>
      </p:sp>
      <p:pic>
        <p:nvPicPr>
          <p:cNvPr id="11" name="icone-260" descr="icône"/>
          <p:cNvPicPr>
            <a:picLocks noChangeAspect="1"/>
          </p:cNvPicPr>
          <p:nvPr/>
        </p:nvPicPr>
        <p:blipFill>
          <a:blip r:embed="rId6"/>
          <a:stretch>
            <a:fillRect/>
          </a:stretch>
        </p:blipFill>
        <p:spPr>
          <a:xfrm>
            <a:off x="9253728" y="1508760"/>
            <a:ext cx="237744" cy="237744"/>
          </a:xfrm>
          <a:prstGeom prst="rect">
            <a:avLst/>
          </a:prstGeom>
        </p:spPr>
      </p:pic>
      <p:sp>
        <p:nvSpPr>
          <p:cNvPr id="12" name="texte-261"/>
          <p:cNvSpPr txBox="1"/>
          <p:nvPr/>
        </p:nvSpPr>
        <p:spPr>
          <a:xfrm>
            <a:off x="9692640" y="1399032"/>
            <a:ext cx="1828800" cy="457200"/>
          </a:xfrm>
          <a:prstGeom prst="rect">
            <a:avLst/>
          </a:prstGeom>
          <a:noFill/>
          <a:ln/>
        </p:spPr>
        <p:txBody>
          <a:bodyPr wrap="square" lIns="0" tIns="0" rIns="0" bIns="0" rtlCol="0" anchor="ctr"/>
          <a:lstStyle/>
          <a:p>
            <a:pPr marL="0" indent="0">
              <a:buNone/>
            </a:pPr>
            <a:r>
              <a:rPr lang="en-US" sz="1500" b="1" dirty="0">
                <a:solidFill>
                  <a:schemeClr val="tx1"/>
                </a:solidFill>
              </a:rPr>
              <a:t>Cartes et couleurs</a:t>
            </a:r>
            <a:endParaRPr lang="en-US" sz="1500" dirty="0"/>
          </a:p>
        </p:txBody>
      </p:sp>
      <p:sp>
        <p:nvSpPr>
          <p:cNvPr id="13" name="texte-262"/>
          <p:cNvSpPr txBox="1"/>
          <p:nvPr/>
        </p:nvSpPr>
        <p:spPr>
          <a:xfrm>
            <a:off x="9144000" y="1892808"/>
            <a:ext cx="2377440" cy="411480"/>
          </a:xfrm>
          <a:prstGeom prst="rect">
            <a:avLst/>
          </a:prstGeom>
          <a:noFill/>
          <a:ln/>
        </p:spPr>
        <p:txBody>
          <a:bodyPr wrap="square" lIns="0" tIns="0" rIns="0" bIns="0" rtlCol="0" anchor="t"/>
          <a:lstStyle/>
          <a:p>
            <a:pPr marL="0" indent="0">
              <a:buNone/>
            </a:pPr>
            <a:r>
              <a:rPr lang="en-US" sz="1200" dirty="0">
                <a:solidFill>
                  <a:schemeClr val="accent6"/>
                </a:solidFill>
              </a:rPr>
              <a:t>vert terminer, orange modifier, rouge supprimer</a:t>
            </a:r>
            <a:endParaRPr lang="en-US" sz="1200" dirty="0"/>
          </a:p>
        </p:txBody>
      </p:sp>
      <p:sp>
        <p:nvSpPr>
          <p:cNvPr id="14" name="carte-263"/>
          <p:cNvSpPr/>
          <p:nvPr/>
        </p:nvSpPr>
        <p:spPr>
          <a:xfrm>
            <a:off x="9006840" y="2496312"/>
            <a:ext cx="2606040" cy="1115568"/>
          </a:xfrm>
          <a:prstGeom prst="roundRect">
            <a:avLst>
              <a:gd name="adj" fmla="val 9836"/>
            </a:avLst>
          </a:prstGeom>
          <a:solidFill>
            <a:schemeClr val="bg2"/>
          </a:solidFill>
          <a:ln/>
        </p:spPr>
        <p:txBody>
          <a:bodyPr/>
          <a:lstStyle/>
          <a:p>
            <a:endParaRPr lang="fr-FR"/>
          </a:p>
        </p:txBody>
      </p:sp>
      <p:sp>
        <p:nvSpPr>
          <p:cNvPr id="15" name="pastille-264"/>
          <p:cNvSpPr/>
          <p:nvPr/>
        </p:nvSpPr>
        <p:spPr>
          <a:xfrm>
            <a:off x="9144000" y="2660904"/>
            <a:ext cx="457200" cy="457200"/>
          </a:xfrm>
          <a:prstGeom prst="ellipse">
            <a:avLst/>
          </a:prstGeom>
          <a:solidFill>
            <a:schemeClr val="accent1"/>
          </a:solidFill>
          <a:ln/>
        </p:spPr>
        <p:txBody>
          <a:bodyPr/>
          <a:lstStyle/>
          <a:p>
            <a:endParaRPr lang="fr-FR"/>
          </a:p>
        </p:txBody>
      </p:sp>
      <p:pic>
        <p:nvPicPr>
          <p:cNvPr id="16" name="icone-265" descr="icône"/>
          <p:cNvPicPr>
            <a:picLocks noChangeAspect="1"/>
          </p:cNvPicPr>
          <p:nvPr/>
        </p:nvPicPr>
        <p:blipFill>
          <a:blip r:embed="rId7"/>
          <a:stretch>
            <a:fillRect/>
          </a:stretch>
        </p:blipFill>
        <p:spPr>
          <a:xfrm>
            <a:off x="9253728" y="2770632"/>
            <a:ext cx="237744" cy="237744"/>
          </a:xfrm>
          <a:prstGeom prst="rect">
            <a:avLst/>
          </a:prstGeom>
        </p:spPr>
      </p:pic>
      <p:sp>
        <p:nvSpPr>
          <p:cNvPr id="17" name="texte-266"/>
          <p:cNvSpPr txBox="1"/>
          <p:nvPr/>
        </p:nvSpPr>
        <p:spPr>
          <a:xfrm>
            <a:off x="9692640" y="2660904"/>
            <a:ext cx="1828800" cy="457200"/>
          </a:xfrm>
          <a:prstGeom prst="rect">
            <a:avLst/>
          </a:prstGeom>
          <a:noFill/>
          <a:ln/>
        </p:spPr>
        <p:txBody>
          <a:bodyPr wrap="square" lIns="0" tIns="0" rIns="0" bIns="0" rtlCol="0" anchor="ctr"/>
          <a:lstStyle/>
          <a:p>
            <a:pPr marL="0" indent="0">
              <a:buNone/>
            </a:pPr>
            <a:r>
              <a:rPr lang="en-US" sz="1500" b="1" dirty="0">
                <a:solidFill>
                  <a:schemeClr val="tx1"/>
                </a:solidFill>
              </a:rPr>
              <a:t>Responsive</a:t>
            </a:r>
            <a:endParaRPr lang="en-US" sz="1500" dirty="0"/>
          </a:p>
        </p:txBody>
      </p:sp>
      <p:sp>
        <p:nvSpPr>
          <p:cNvPr id="18" name="texte-267"/>
          <p:cNvSpPr txBox="1"/>
          <p:nvPr/>
        </p:nvSpPr>
        <p:spPr>
          <a:xfrm>
            <a:off x="9144000" y="3154680"/>
            <a:ext cx="2377440" cy="411480"/>
          </a:xfrm>
          <a:prstGeom prst="rect">
            <a:avLst/>
          </a:prstGeom>
          <a:noFill/>
          <a:ln/>
        </p:spPr>
        <p:txBody>
          <a:bodyPr wrap="square" lIns="0" tIns="0" rIns="0" bIns="0" rtlCol="0" anchor="t"/>
          <a:lstStyle/>
          <a:p>
            <a:pPr marL="0" indent="0">
              <a:buNone/>
            </a:pPr>
            <a:r>
              <a:rPr lang="en-US" sz="1200" dirty="0">
                <a:solidFill>
                  <a:schemeClr val="accent6"/>
                </a:solidFill>
              </a:rPr>
              <a:t>menu hamburger sur mobile</a:t>
            </a:r>
            <a:endParaRPr lang="en-US" sz="1200" dirty="0"/>
          </a:p>
        </p:txBody>
      </p:sp>
      <p:sp>
        <p:nvSpPr>
          <p:cNvPr id="19" name="carte-268"/>
          <p:cNvSpPr/>
          <p:nvPr/>
        </p:nvSpPr>
        <p:spPr>
          <a:xfrm>
            <a:off x="9006840" y="3758184"/>
            <a:ext cx="2606040" cy="1115568"/>
          </a:xfrm>
          <a:prstGeom prst="roundRect">
            <a:avLst>
              <a:gd name="adj" fmla="val 9836"/>
            </a:avLst>
          </a:prstGeom>
          <a:solidFill>
            <a:schemeClr val="bg2"/>
          </a:solidFill>
          <a:ln/>
        </p:spPr>
        <p:txBody>
          <a:bodyPr/>
          <a:lstStyle/>
          <a:p>
            <a:endParaRPr lang="fr-FR"/>
          </a:p>
        </p:txBody>
      </p:sp>
      <p:sp>
        <p:nvSpPr>
          <p:cNvPr id="20" name="pastille-269"/>
          <p:cNvSpPr/>
          <p:nvPr/>
        </p:nvSpPr>
        <p:spPr>
          <a:xfrm>
            <a:off x="9144000" y="3922776"/>
            <a:ext cx="457200" cy="457200"/>
          </a:xfrm>
          <a:prstGeom prst="ellipse">
            <a:avLst/>
          </a:prstGeom>
          <a:solidFill>
            <a:schemeClr val="accent1"/>
          </a:solidFill>
          <a:ln/>
        </p:spPr>
        <p:txBody>
          <a:bodyPr/>
          <a:lstStyle/>
          <a:p>
            <a:endParaRPr lang="fr-FR"/>
          </a:p>
        </p:txBody>
      </p:sp>
      <p:pic>
        <p:nvPicPr>
          <p:cNvPr id="21" name="icone-270" descr="icône"/>
          <p:cNvPicPr>
            <a:picLocks noChangeAspect="1"/>
          </p:cNvPicPr>
          <p:nvPr/>
        </p:nvPicPr>
        <p:blipFill>
          <a:blip r:embed="rId8"/>
          <a:stretch>
            <a:fillRect/>
          </a:stretch>
        </p:blipFill>
        <p:spPr>
          <a:xfrm>
            <a:off x="9253728" y="4032504"/>
            <a:ext cx="237744" cy="237744"/>
          </a:xfrm>
          <a:prstGeom prst="rect">
            <a:avLst/>
          </a:prstGeom>
        </p:spPr>
      </p:pic>
      <p:sp>
        <p:nvSpPr>
          <p:cNvPr id="22" name="texte-271"/>
          <p:cNvSpPr txBox="1"/>
          <p:nvPr/>
        </p:nvSpPr>
        <p:spPr>
          <a:xfrm>
            <a:off x="9692640" y="3922776"/>
            <a:ext cx="1828800" cy="457200"/>
          </a:xfrm>
          <a:prstGeom prst="rect">
            <a:avLst/>
          </a:prstGeom>
          <a:noFill/>
          <a:ln/>
        </p:spPr>
        <p:txBody>
          <a:bodyPr wrap="square" lIns="0" tIns="0" rIns="0" bIns="0" rtlCol="0" anchor="ctr"/>
          <a:lstStyle/>
          <a:p>
            <a:pPr marL="0" indent="0">
              <a:buNone/>
            </a:pPr>
            <a:r>
              <a:rPr lang="en-US" sz="1500" b="1" dirty="0">
                <a:solidFill>
                  <a:schemeClr val="tx1"/>
                </a:solidFill>
              </a:rPr>
              <a:t>Mode sombre</a:t>
            </a:r>
            <a:endParaRPr lang="en-US" sz="1500" dirty="0"/>
          </a:p>
        </p:txBody>
      </p:sp>
      <p:sp>
        <p:nvSpPr>
          <p:cNvPr id="23" name="texte-272"/>
          <p:cNvSpPr txBox="1"/>
          <p:nvPr/>
        </p:nvSpPr>
        <p:spPr>
          <a:xfrm>
            <a:off x="9144000" y="4416552"/>
            <a:ext cx="2377440" cy="411480"/>
          </a:xfrm>
          <a:prstGeom prst="rect">
            <a:avLst/>
          </a:prstGeom>
          <a:noFill/>
          <a:ln/>
        </p:spPr>
        <p:txBody>
          <a:bodyPr wrap="square" lIns="0" tIns="0" rIns="0" bIns="0" rtlCol="0" anchor="t"/>
          <a:lstStyle/>
          <a:p>
            <a:pPr marL="0" indent="0">
              <a:buNone/>
            </a:pPr>
            <a:r>
              <a:rPr lang="en-US" sz="1200" dirty="0">
                <a:solidFill>
                  <a:schemeClr val="accent6"/>
                </a:solidFill>
              </a:rPr>
              <a:t>suit prefers-color-scheme</a:t>
            </a:r>
            <a:endParaRPr lang="en-US" sz="1200" dirty="0"/>
          </a:p>
        </p:txBody>
      </p:sp>
      <p:sp>
        <p:nvSpPr>
          <p:cNvPr id="24" name="carte-273"/>
          <p:cNvSpPr/>
          <p:nvPr/>
        </p:nvSpPr>
        <p:spPr>
          <a:xfrm>
            <a:off x="9006840" y="5020056"/>
            <a:ext cx="2606040" cy="1115568"/>
          </a:xfrm>
          <a:prstGeom prst="roundRect">
            <a:avLst>
              <a:gd name="adj" fmla="val 9836"/>
            </a:avLst>
          </a:prstGeom>
          <a:solidFill>
            <a:schemeClr val="bg2"/>
          </a:solidFill>
          <a:ln/>
        </p:spPr>
        <p:txBody>
          <a:bodyPr/>
          <a:lstStyle/>
          <a:p>
            <a:endParaRPr lang="fr-FR"/>
          </a:p>
        </p:txBody>
      </p:sp>
      <p:sp>
        <p:nvSpPr>
          <p:cNvPr id="25" name="pastille-274"/>
          <p:cNvSpPr/>
          <p:nvPr/>
        </p:nvSpPr>
        <p:spPr>
          <a:xfrm>
            <a:off x="9144000" y="5184648"/>
            <a:ext cx="457200" cy="457200"/>
          </a:xfrm>
          <a:prstGeom prst="ellipse">
            <a:avLst/>
          </a:prstGeom>
          <a:solidFill>
            <a:schemeClr val="accent1"/>
          </a:solidFill>
          <a:ln/>
        </p:spPr>
        <p:txBody>
          <a:bodyPr/>
          <a:lstStyle/>
          <a:p>
            <a:endParaRPr lang="fr-FR"/>
          </a:p>
        </p:txBody>
      </p:sp>
      <p:pic>
        <p:nvPicPr>
          <p:cNvPr id="26" name="icone-275" descr="icône"/>
          <p:cNvPicPr>
            <a:picLocks noChangeAspect="1"/>
          </p:cNvPicPr>
          <p:nvPr/>
        </p:nvPicPr>
        <p:blipFill>
          <a:blip r:embed="rId9"/>
          <a:stretch>
            <a:fillRect/>
          </a:stretch>
        </p:blipFill>
        <p:spPr>
          <a:xfrm>
            <a:off x="9253728" y="5294376"/>
            <a:ext cx="237744" cy="237744"/>
          </a:xfrm>
          <a:prstGeom prst="rect">
            <a:avLst/>
          </a:prstGeom>
        </p:spPr>
      </p:pic>
      <p:sp>
        <p:nvSpPr>
          <p:cNvPr id="27" name="texte-276"/>
          <p:cNvSpPr txBox="1"/>
          <p:nvPr/>
        </p:nvSpPr>
        <p:spPr>
          <a:xfrm>
            <a:off x="9692640" y="5184648"/>
            <a:ext cx="1828800" cy="457200"/>
          </a:xfrm>
          <a:prstGeom prst="rect">
            <a:avLst/>
          </a:prstGeom>
          <a:noFill/>
          <a:ln/>
        </p:spPr>
        <p:txBody>
          <a:bodyPr wrap="square" lIns="0" tIns="0" rIns="0" bIns="0" rtlCol="0" anchor="ctr"/>
          <a:lstStyle/>
          <a:p>
            <a:pPr marL="0" indent="0">
              <a:buNone/>
            </a:pPr>
            <a:r>
              <a:rPr lang="en-US" sz="1500" b="1" dirty="0">
                <a:solidFill>
                  <a:schemeClr val="tx1"/>
                </a:solidFill>
              </a:rPr>
              <a:t>Accessibilité</a:t>
            </a:r>
            <a:endParaRPr lang="en-US" sz="1500" dirty="0"/>
          </a:p>
        </p:txBody>
      </p:sp>
      <p:sp>
        <p:nvSpPr>
          <p:cNvPr id="28" name="texte-277"/>
          <p:cNvSpPr txBox="1"/>
          <p:nvPr/>
        </p:nvSpPr>
        <p:spPr>
          <a:xfrm>
            <a:off x="9144000" y="5678424"/>
            <a:ext cx="2377440" cy="411480"/>
          </a:xfrm>
          <a:prstGeom prst="rect">
            <a:avLst/>
          </a:prstGeom>
          <a:noFill/>
          <a:ln/>
        </p:spPr>
        <p:txBody>
          <a:bodyPr wrap="square" lIns="0" tIns="0" rIns="0" bIns="0" rtlCol="0" anchor="t"/>
          <a:lstStyle/>
          <a:p>
            <a:pPr marL="0" indent="0">
              <a:buNone/>
            </a:pPr>
            <a:r>
              <a:rPr lang="en-US" sz="1200" dirty="0">
                <a:solidFill>
                  <a:schemeClr val="accent6"/>
                </a:solidFill>
              </a:rPr>
              <a:t>pages vérifiées avec WAVE</a:t>
            </a:r>
            <a:endParaRPr lang="en-US" sz="1200" dirty="0"/>
          </a:p>
        </p:txBody>
      </p:sp>
      <p:sp>
        <p:nvSpPr>
          <p:cNvPr id="2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Sécurité et tests du frontend</a:t>
            </a:r>
            <a:endParaRPr lang="en-US" sz="3200" dirty="0"/>
          </a:p>
        </p:txBody>
      </p:sp>
      <p:sp>
        <p:nvSpPr>
          <p:cNvPr id="3" name="carte-278"/>
          <p:cNvSpPr/>
          <p:nvPr/>
        </p:nvSpPr>
        <p:spPr>
          <a:xfrm>
            <a:off x="548640" y="1234440"/>
            <a:ext cx="5212080" cy="4937760"/>
          </a:xfrm>
          <a:prstGeom prst="roundRect">
            <a:avLst>
              <a:gd name="adj" fmla="val 2222"/>
            </a:avLst>
          </a:prstGeom>
          <a:solidFill>
            <a:schemeClr val="bg2"/>
          </a:solidFill>
          <a:ln/>
        </p:spPr>
        <p:txBody>
          <a:bodyPr/>
          <a:lstStyle/>
          <a:p>
            <a:endParaRPr lang="fr-FR"/>
          </a:p>
        </p:txBody>
      </p:sp>
      <p:sp>
        <p:nvSpPr>
          <p:cNvPr id="4" name="texte-279"/>
          <p:cNvSpPr txBox="1"/>
          <p:nvPr/>
        </p:nvSpPr>
        <p:spPr>
          <a:xfrm>
            <a:off x="822960" y="1417320"/>
            <a:ext cx="4663440" cy="457200"/>
          </a:xfrm>
          <a:prstGeom prst="rect">
            <a:avLst/>
          </a:prstGeom>
          <a:noFill/>
          <a:ln/>
        </p:spPr>
        <p:txBody>
          <a:bodyPr wrap="square" lIns="0" tIns="0" rIns="0" bIns="0" rtlCol="0" anchor="t"/>
          <a:lstStyle/>
          <a:p>
            <a:pPr marL="0" indent="0">
              <a:buNone/>
            </a:pPr>
            <a:r>
              <a:rPr lang="en-US" sz="1800" b="1" dirty="0">
                <a:solidFill>
                  <a:schemeClr val="tx1"/>
                </a:solidFill>
              </a:rPr>
              <a:t>Sécurité côté frontend</a:t>
            </a:r>
            <a:endParaRPr lang="en-US" sz="1800" dirty="0"/>
          </a:p>
        </p:txBody>
      </p:sp>
      <p:sp>
        <p:nvSpPr>
          <p:cNvPr id="5" name="texte-280"/>
          <p:cNvSpPr txBox="1"/>
          <p:nvPr/>
        </p:nvSpPr>
        <p:spPr>
          <a:xfrm>
            <a:off x="822960" y="2057400"/>
            <a:ext cx="4663440" cy="265176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1"/>
                </a:solidFill>
              </a:rPr>
              <a:t>PrivateRoute</a:t>
            </a:r>
            <a:r>
              <a:rPr lang="en-US" sz="1700" dirty="0">
                <a:solidFill>
                  <a:schemeClr val="tx1"/>
                </a:solidFill>
              </a:rPr>
              <a:t> redirige vers /login sans token</a:t>
            </a:r>
            <a:endParaRPr lang="en-US" sz="1700" dirty="0"/>
          </a:p>
          <a:p>
            <a:pPr marL="342900" indent="-342900">
              <a:spcAft>
                <a:spcPts val="600"/>
              </a:spcAft>
              <a:buSzPct val="100000"/>
              <a:buChar char="•"/>
            </a:pPr>
            <a:r>
              <a:rPr lang="en-US" sz="1700" b="1" dirty="0">
                <a:solidFill>
                  <a:schemeClr val="tx1"/>
                </a:solidFill>
              </a:rPr>
              <a:t>Intercepteurs Axios</a:t>
            </a:r>
            <a:r>
              <a:rPr lang="en-US" sz="1700" dirty="0">
                <a:solidFill>
                  <a:schemeClr val="tx1"/>
                </a:solidFill>
              </a:rPr>
              <a:t> : token ajouté, supprimé si 401</a:t>
            </a:r>
            <a:endParaRPr lang="en-US" sz="1700" dirty="0"/>
          </a:p>
          <a:p>
            <a:pPr marL="342900" indent="-342900">
              <a:spcAft>
                <a:spcPts val="600"/>
              </a:spcAft>
              <a:buSzPct val="100000"/>
              <a:buChar char="•"/>
            </a:pPr>
            <a:r>
              <a:rPr lang="en-US" sz="1700" b="1" dirty="0">
                <a:solidFill>
                  <a:schemeClr val="tx1"/>
                </a:solidFill>
              </a:rPr>
              <a:t>Aucun secret</a:t>
            </a:r>
            <a:r>
              <a:rPr lang="en-US" sz="1700" dirty="0">
                <a:solidFill>
                  <a:schemeClr val="tx1"/>
                </a:solidFill>
              </a:rPr>
              <a:t> : seule l'adresse de l'API est exposée</a:t>
            </a:r>
            <a:endParaRPr lang="en-US" sz="1700" dirty="0"/>
          </a:p>
          <a:p>
            <a:pPr marL="342900" indent="-342900">
              <a:spcAft>
                <a:spcPts val="600"/>
              </a:spcAft>
              <a:buSzPct val="100000"/>
              <a:buChar char="•"/>
            </a:pPr>
            <a:r>
              <a:rPr lang="en-US" sz="1700" b="1" dirty="0">
                <a:solidFill>
                  <a:schemeClr val="tx1"/>
                </a:solidFill>
              </a:rPr>
              <a:t>XSS</a:t>
            </a:r>
            <a:r>
              <a:rPr lang="en-US" sz="1700" dirty="0">
                <a:solidFill>
                  <a:schemeClr val="tx1"/>
                </a:solidFill>
              </a:rPr>
              <a:t> : React échappe le texte affiché</a:t>
            </a:r>
            <a:endParaRPr lang="en-US" sz="1700" dirty="0"/>
          </a:p>
        </p:txBody>
      </p:sp>
      <p:sp>
        <p:nvSpPr>
          <p:cNvPr id="6" name="carte-281"/>
          <p:cNvSpPr/>
          <p:nvPr/>
        </p:nvSpPr>
        <p:spPr>
          <a:xfrm>
            <a:off x="822960" y="4800600"/>
            <a:ext cx="4663440" cy="1143000"/>
          </a:xfrm>
          <a:prstGeom prst="roundRect">
            <a:avLst>
              <a:gd name="adj" fmla="val 9600"/>
            </a:avLst>
          </a:prstGeom>
          <a:solidFill>
            <a:schemeClr val="tx1"/>
          </a:solidFill>
          <a:ln/>
        </p:spPr>
        <p:txBody>
          <a:bodyPr/>
          <a:lstStyle/>
          <a:p>
            <a:endParaRPr lang="fr-FR"/>
          </a:p>
        </p:txBody>
      </p:sp>
      <p:sp>
        <p:nvSpPr>
          <p:cNvPr id="7" name="texte-282"/>
          <p:cNvSpPr txBox="1"/>
          <p:nvPr/>
        </p:nvSpPr>
        <p:spPr>
          <a:xfrm>
            <a:off x="1005840" y="4846320"/>
            <a:ext cx="4297680" cy="1051560"/>
          </a:xfrm>
          <a:prstGeom prst="rect">
            <a:avLst/>
          </a:prstGeom>
          <a:noFill/>
          <a:ln/>
        </p:spPr>
        <p:txBody>
          <a:bodyPr wrap="square" lIns="0" tIns="0" rIns="0" bIns="0" rtlCol="0" anchor="ctr"/>
          <a:lstStyle/>
          <a:p>
            <a:pPr marL="0" indent="0">
              <a:buNone/>
            </a:pPr>
            <a:r>
              <a:rPr lang="en-US" sz="1400" dirty="0">
                <a:solidFill>
                  <a:schemeClr val="bg1"/>
                </a:solidFill>
              </a:rPr>
              <a:t>La vraie sécurité reste au backend : sans token valide (401) ou sans droits (403), l'API refuse.</a:t>
            </a:r>
            <a:endParaRPr lang="en-US" sz="1400" dirty="0"/>
          </a:p>
        </p:txBody>
      </p:sp>
      <p:sp>
        <p:nvSpPr>
          <p:cNvPr id="8" name="texte-283"/>
          <p:cNvSpPr txBox="1"/>
          <p:nvPr/>
        </p:nvSpPr>
        <p:spPr>
          <a:xfrm>
            <a:off x="6126480" y="1188720"/>
            <a:ext cx="1463040" cy="1005840"/>
          </a:xfrm>
          <a:prstGeom prst="rect">
            <a:avLst/>
          </a:prstGeom>
          <a:noFill/>
          <a:ln/>
        </p:spPr>
        <p:txBody>
          <a:bodyPr wrap="square" lIns="0" tIns="0" rIns="0" bIns="0" rtlCol="0" anchor="ctr"/>
          <a:lstStyle/>
          <a:p>
            <a:pPr marL="0" indent="0">
              <a:buNone/>
            </a:pPr>
            <a:r>
              <a:rPr lang="en-US" sz="6600" b="1" dirty="0">
                <a:solidFill>
                  <a:schemeClr val="accent1"/>
                </a:solidFill>
              </a:rPr>
              <a:t>10</a:t>
            </a:r>
            <a:endParaRPr lang="en-US" sz="6600" dirty="0"/>
          </a:p>
        </p:txBody>
      </p:sp>
      <p:sp>
        <p:nvSpPr>
          <p:cNvPr id="9" name="texte-284"/>
          <p:cNvSpPr txBox="1"/>
          <p:nvPr/>
        </p:nvSpPr>
        <p:spPr>
          <a:xfrm>
            <a:off x="7589520" y="1280160"/>
            <a:ext cx="4023360" cy="868680"/>
          </a:xfrm>
          <a:prstGeom prst="rect">
            <a:avLst/>
          </a:prstGeom>
          <a:noFill/>
          <a:ln/>
        </p:spPr>
        <p:txBody>
          <a:bodyPr wrap="square" lIns="0" tIns="0" rIns="0" bIns="0" rtlCol="0" anchor="ctr"/>
          <a:lstStyle/>
          <a:p>
            <a:pPr marL="0" indent="0">
              <a:buNone/>
            </a:pPr>
            <a:r>
              <a:rPr lang="en-US" sz="1800" b="1" dirty="0">
                <a:solidFill>
                  <a:schemeClr val="tx1"/>
                </a:solidFill>
              </a:rPr>
              <a:t>tests réussis</a:t>
            </a:r>
            <a:endParaRPr lang="en-US" sz="1400" dirty="0"/>
          </a:p>
          <a:p>
            <a:pPr marL="0" indent="0">
              <a:buNone/>
            </a:pPr>
            <a:r>
              <a:rPr lang="en-US" sz="1400" dirty="0">
                <a:solidFill>
                  <a:schemeClr val="accent6"/>
                </a:solidFill>
              </a:rPr>
              <a:t>8 fichiers — Vitest, Testing Library, jsdom, vi.mock</a:t>
            </a:r>
            <a:endParaRPr lang="en-US" sz="1400" dirty="0"/>
          </a:p>
        </p:txBody>
      </p:sp>
      <p:sp>
        <p:nvSpPr>
          <p:cNvPr id="10" name="carte-285"/>
          <p:cNvSpPr/>
          <p:nvPr/>
        </p:nvSpPr>
        <p:spPr>
          <a:xfrm>
            <a:off x="7029978" y="2331720"/>
            <a:ext cx="3679403" cy="2697480"/>
          </a:xfrm>
          <a:prstGeom prst="roundRect">
            <a:avLst>
              <a:gd name="adj" fmla="val 4068"/>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1" name="capture-286" descr="Capture i071"/>
          <p:cNvPicPr>
            <a:picLocks noChangeAspect="1"/>
          </p:cNvPicPr>
          <p:nvPr/>
        </p:nvPicPr>
        <p:blipFill>
          <a:blip r:embed="rId3"/>
          <a:stretch>
            <a:fillRect/>
          </a:stretch>
        </p:blipFill>
        <p:spPr>
          <a:xfrm>
            <a:off x="7093986" y="2395728"/>
            <a:ext cx="3551387" cy="2569464"/>
          </a:xfrm>
          <a:prstGeom prst="rect">
            <a:avLst/>
          </a:prstGeom>
        </p:spPr>
      </p:pic>
      <p:sp>
        <p:nvSpPr>
          <p:cNvPr id="12" name="carte-287"/>
          <p:cNvSpPr/>
          <p:nvPr/>
        </p:nvSpPr>
        <p:spPr>
          <a:xfrm>
            <a:off x="7028198" y="5120640"/>
            <a:ext cx="3682964" cy="1051560"/>
          </a:xfrm>
          <a:prstGeom prst="roundRect">
            <a:avLst>
              <a:gd name="adj" fmla="val 10435"/>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3" name="capture-288" descr="Capture i072"/>
          <p:cNvPicPr>
            <a:picLocks noChangeAspect="1"/>
          </p:cNvPicPr>
          <p:nvPr/>
        </p:nvPicPr>
        <p:blipFill>
          <a:blip r:embed="rId4"/>
          <a:stretch>
            <a:fillRect/>
          </a:stretch>
        </p:blipFill>
        <p:spPr>
          <a:xfrm>
            <a:off x="7092206" y="5184648"/>
            <a:ext cx="3554948" cy="92354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737360"/>
            <a:ext cx="2743200" cy="1280160"/>
          </a:xfrm>
          <a:prstGeom prst="rect">
            <a:avLst/>
          </a:prstGeom>
          <a:noFill/>
          <a:ln/>
        </p:spPr>
        <p:txBody>
          <a:bodyPr wrap="square" lIns="0" tIns="0" rIns="0" bIns="0" rtlCol="0" anchor="b"/>
          <a:lstStyle/>
          <a:p>
            <a:pPr marL="0" indent="0">
              <a:buNone/>
            </a:pPr>
            <a:r>
              <a:rPr lang="en-US" sz="8000" b="1" dirty="0">
                <a:solidFill>
                  <a:schemeClr val="accent3"/>
                </a:solidFill>
              </a:rPr>
              <a:t>04</a:t>
            </a:r>
            <a:endParaRPr lang="en-US" sz="8000" dirty="0"/>
          </a:p>
        </p:txBody>
      </p:sp>
      <p:sp>
        <p:nvSpPr>
          <p:cNvPr id="3" name="Text 0"/>
          <p:cNvSpPr>
            <a:spLocks noGrp="1"/>
          </p:cNvSpPr>
          <p:nvPr>
            <p:ph type="title" idx="101" hasCustomPrompt="1"/>
          </p:nvPr>
        </p:nvSpPr>
        <p:spPr>
          <a:xfrm>
            <a:off x="731520" y="3108960"/>
            <a:ext cx="10515600" cy="914400"/>
          </a:xfrm>
          <a:prstGeom prst="rect">
            <a:avLst/>
          </a:prstGeom>
          <a:noFill/>
          <a:ln/>
        </p:spPr>
        <p:txBody>
          <a:bodyPr wrap="square" lIns="0" tIns="0" rIns="0" bIns="0" rtlCol="0" anchor="t"/>
          <a:lstStyle/>
          <a:p>
            <a:pPr marL="0" indent="0" algn="l">
              <a:buNone/>
            </a:pPr>
            <a:r>
              <a:rPr lang="en-US" sz="4400" b="1" dirty="0">
                <a:solidFill>
                  <a:schemeClr val="bg1"/>
                </a:solidFill>
              </a:rPr>
              <a:t>Docker et DevOps</a:t>
            </a:r>
            <a:endParaRPr lang="en-US" sz="4400" dirty="0"/>
          </a:p>
        </p:txBody>
      </p:sp>
      <p:sp>
        <p:nvSpPr>
          <p:cNvPr id="4" name="Text 0"/>
          <p:cNvSpPr>
            <a:spLocks noGrp="1"/>
          </p:cNvSpPr>
          <p:nvPr>
            <p:ph type="body" idx="102" hasCustomPrompt="1"/>
          </p:nvPr>
        </p:nvSpPr>
        <p:spPr>
          <a:xfrm>
            <a:off x="731520" y="4069080"/>
            <a:ext cx="10515600" cy="640080"/>
          </a:xfrm>
          <a:prstGeom prst="rect">
            <a:avLst/>
          </a:prstGeom>
          <a:noFill/>
          <a:ln/>
        </p:spPr>
        <p:txBody>
          <a:bodyPr wrap="square" lIns="0" tIns="0" rIns="0" bIns="0" rtlCol="0" anchor="t"/>
          <a:lstStyle/>
          <a:p>
            <a:pPr marL="0" indent="0">
              <a:buNone/>
            </a:pPr>
            <a:r>
              <a:rPr lang="en-US" sz="2000" dirty="0">
                <a:solidFill>
                  <a:schemeClr val="bg2"/>
                </a:solidFill>
              </a:rPr>
              <a:t>Conteneurisation, CI/CD et mise en production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Conteneurisation avec Docker</a:t>
            </a:r>
            <a:endParaRPr lang="en-US" sz="3200" dirty="0"/>
          </a:p>
        </p:txBody>
      </p:sp>
      <p:sp>
        <p:nvSpPr>
          <p:cNvPr id="3" name="carte-289"/>
          <p:cNvSpPr/>
          <p:nvPr/>
        </p:nvSpPr>
        <p:spPr>
          <a:xfrm>
            <a:off x="548640" y="1280160"/>
            <a:ext cx="3566160" cy="2697480"/>
          </a:xfrm>
          <a:prstGeom prst="roundRect">
            <a:avLst>
              <a:gd name="adj" fmla="val 4068"/>
            </a:avLst>
          </a:prstGeom>
          <a:solidFill>
            <a:schemeClr val="bg2"/>
          </a:solidFill>
          <a:ln/>
        </p:spPr>
        <p:txBody>
          <a:bodyPr/>
          <a:lstStyle/>
          <a:p>
            <a:endParaRPr lang="fr-FR"/>
          </a:p>
        </p:txBody>
      </p:sp>
      <p:sp>
        <p:nvSpPr>
          <p:cNvPr id="4" name="pastille-290"/>
          <p:cNvSpPr/>
          <p:nvPr/>
        </p:nvSpPr>
        <p:spPr>
          <a:xfrm>
            <a:off x="822960" y="1508760"/>
            <a:ext cx="548640" cy="548640"/>
          </a:xfrm>
          <a:prstGeom prst="ellipse">
            <a:avLst/>
          </a:prstGeom>
          <a:solidFill>
            <a:schemeClr val="accent1"/>
          </a:solidFill>
          <a:ln/>
        </p:spPr>
        <p:txBody>
          <a:bodyPr/>
          <a:lstStyle/>
          <a:p>
            <a:endParaRPr lang="fr-FR"/>
          </a:p>
        </p:txBody>
      </p:sp>
      <p:pic>
        <p:nvPicPr>
          <p:cNvPr id="5" name="icone-291" descr="icône"/>
          <p:cNvPicPr>
            <a:picLocks noChangeAspect="1"/>
          </p:cNvPicPr>
          <p:nvPr/>
        </p:nvPicPr>
        <p:blipFill>
          <a:blip r:embed="rId3"/>
          <a:stretch>
            <a:fillRect/>
          </a:stretch>
        </p:blipFill>
        <p:spPr>
          <a:xfrm>
            <a:off x="954634" y="1640434"/>
            <a:ext cx="285293" cy="285293"/>
          </a:xfrm>
          <a:prstGeom prst="rect">
            <a:avLst/>
          </a:prstGeom>
        </p:spPr>
      </p:pic>
      <p:sp>
        <p:nvSpPr>
          <p:cNvPr id="6" name="texte-292"/>
          <p:cNvSpPr txBox="1"/>
          <p:nvPr/>
        </p:nvSpPr>
        <p:spPr>
          <a:xfrm>
            <a:off x="1508760" y="1508760"/>
            <a:ext cx="2377440" cy="548640"/>
          </a:xfrm>
          <a:prstGeom prst="rect">
            <a:avLst/>
          </a:prstGeom>
          <a:noFill/>
          <a:ln/>
        </p:spPr>
        <p:txBody>
          <a:bodyPr wrap="square" lIns="0" tIns="0" rIns="0" bIns="0" rtlCol="0" anchor="ctr"/>
          <a:lstStyle/>
          <a:p>
            <a:pPr marL="0" indent="0">
              <a:buNone/>
            </a:pPr>
            <a:r>
              <a:rPr lang="en-US" sz="1800" b="1" dirty="0">
                <a:solidFill>
                  <a:schemeClr val="tx1"/>
                </a:solidFill>
              </a:rPr>
              <a:t>Dockerfile backend</a:t>
            </a:r>
            <a:endParaRPr lang="en-US" sz="1800" dirty="0"/>
          </a:p>
        </p:txBody>
      </p:sp>
      <p:sp>
        <p:nvSpPr>
          <p:cNvPr id="7" name="texte-293"/>
          <p:cNvSpPr txBox="1"/>
          <p:nvPr/>
        </p:nvSpPr>
        <p:spPr>
          <a:xfrm>
            <a:off x="822960" y="2240280"/>
            <a:ext cx="3017520" cy="1645920"/>
          </a:xfrm>
          <a:prstGeom prst="rect">
            <a:avLst/>
          </a:prstGeom>
          <a:noFill/>
          <a:ln/>
        </p:spPr>
        <p:txBody>
          <a:bodyPr wrap="square" lIns="0" tIns="0" rIns="0" bIns="0" rtlCol="0" anchor="t"/>
          <a:lstStyle/>
          <a:p>
            <a:pPr marL="0" indent="0">
              <a:buNone/>
            </a:pPr>
            <a:r>
              <a:rPr lang="en-US" sz="1400" dirty="0">
                <a:solidFill>
                  <a:schemeClr val="tx1"/>
                </a:solidFill>
              </a:rPr>
              <a:t>Multi-étapes : deps, build, development, production (Node alpine). Lancé avec l'utilisateur nodejs, pas root.</a:t>
            </a:r>
            <a:endParaRPr lang="en-US" sz="1400" dirty="0"/>
          </a:p>
        </p:txBody>
      </p:sp>
      <p:sp>
        <p:nvSpPr>
          <p:cNvPr id="8" name="carte-294"/>
          <p:cNvSpPr/>
          <p:nvPr/>
        </p:nvSpPr>
        <p:spPr>
          <a:xfrm>
            <a:off x="4297680" y="1280160"/>
            <a:ext cx="3566160" cy="2697480"/>
          </a:xfrm>
          <a:prstGeom prst="roundRect">
            <a:avLst>
              <a:gd name="adj" fmla="val 4068"/>
            </a:avLst>
          </a:prstGeom>
          <a:solidFill>
            <a:schemeClr val="bg2"/>
          </a:solidFill>
          <a:ln/>
        </p:spPr>
        <p:txBody>
          <a:bodyPr/>
          <a:lstStyle/>
          <a:p>
            <a:endParaRPr lang="fr-FR"/>
          </a:p>
        </p:txBody>
      </p:sp>
      <p:sp>
        <p:nvSpPr>
          <p:cNvPr id="9" name="pastille-295"/>
          <p:cNvSpPr/>
          <p:nvPr/>
        </p:nvSpPr>
        <p:spPr>
          <a:xfrm>
            <a:off x="4572000" y="1508760"/>
            <a:ext cx="548640" cy="548640"/>
          </a:xfrm>
          <a:prstGeom prst="ellipse">
            <a:avLst/>
          </a:prstGeom>
          <a:solidFill>
            <a:schemeClr val="accent1"/>
          </a:solidFill>
          <a:ln/>
        </p:spPr>
        <p:txBody>
          <a:bodyPr/>
          <a:lstStyle/>
          <a:p>
            <a:endParaRPr lang="fr-FR"/>
          </a:p>
        </p:txBody>
      </p:sp>
      <p:pic>
        <p:nvPicPr>
          <p:cNvPr id="10" name="icone-296" descr="icône"/>
          <p:cNvPicPr>
            <a:picLocks noChangeAspect="1"/>
          </p:cNvPicPr>
          <p:nvPr/>
        </p:nvPicPr>
        <p:blipFill>
          <a:blip r:embed="rId4"/>
          <a:stretch>
            <a:fillRect/>
          </a:stretch>
        </p:blipFill>
        <p:spPr>
          <a:xfrm>
            <a:off x="4703674" y="1640434"/>
            <a:ext cx="285293" cy="285293"/>
          </a:xfrm>
          <a:prstGeom prst="rect">
            <a:avLst/>
          </a:prstGeom>
        </p:spPr>
      </p:pic>
      <p:sp>
        <p:nvSpPr>
          <p:cNvPr id="11" name="texte-297"/>
          <p:cNvSpPr txBox="1"/>
          <p:nvPr/>
        </p:nvSpPr>
        <p:spPr>
          <a:xfrm>
            <a:off x="5257800" y="1508760"/>
            <a:ext cx="2377440" cy="548640"/>
          </a:xfrm>
          <a:prstGeom prst="rect">
            <a:avLst/>
          </a:prstGeom>
          <a:noFill/>
          <a:ln/>
        </p:spPr>
        <p:txBody>
          <a:bodyPr wrap="square" lIns="0" tIns="0" rIns="0" bIns="0" rtlCol="0" anchor="ctr"/>
          <a:lstStyle/>
          <a:p>
            <a:pPr marL="0" indent="0">
              <a:buNone/>
            </a:pPr>
            <a:r>
              <a:rPr lang="en-US" sz="1800" b="1" dirty="0">
                <a:solidFill>
                  <a:schemeClr val="tx1"/>
                </a:solidFill>
              </a:rPr>
              <a:t>Dockerfile frontend</a:t>
            </a:r>
            <a:endParaRPr lang="en-US" sz="1800" dirty="0"/>
          </a:p>
        </p:txBody>
      </p:sp>
      <p:sp>
        <p:nvSpPr>
          <p:cNvPr id="12" name="texte-298"/>
          <p:cNvSpPr txBox="1"/>
          <p:nvPr/>
        </p:nvSpPr>
        <p:spPr>
          <a:xfrm>
            <a:off x="4572000" y="2240280"/>
            <a:ext cx="3017520" cy="1645920"/>
          </a:xfrm>
          <a:prstGeom prst="rect">
            <a:avLst/>
          </a:prstGeom>
          <a:noFill/>
          <a:ln/>
        </p:spPr>
        <p:txBody>
          <a:bodyPr wrap="square" lIns="0" tIns="0" rIns="0" bIns="0" rtlCol="0" anchor="t"/>
          <a:lstStyle/>
          <a:p>
            <a:pPr marL="0" indent="0">
              <a:buNone/>
            </a:pPr>
            <a:r>
              <a:rPr lang="en-US" sz="1400" dirty="0">
                <a:solidFill>
                  <a:schemeClr val="tx1"/>
                </a:solidFill>
              </a:rPr>
              <a:t>Node construit l'application (npm run build), puis nginx sert les fichiers : image plus légère.</a:t>
            </a:r>
            <a:endParaRPr lang="en-US" sz="1400" dirty="0"/>
          </a:p>
        </p:txBody>
      </p:sp>
      <p:sp>
        <p:nvSpPr>
          <p:cNvPr id="13" name="carte-299"/>
          <p:cNvSpPr/>
          <p:nvPr/>
        </p:nvSpPr>
        <p:spPr>
          <a:xfrm>
            <a:off x="8046720" y="1280160"/>
            <a:ext cx="3566160" cy="2697480"/>
          </a:xfrm>
          <a:prstGeom prst="roundRect">
            <a:avLst>
              <a:gd name="adj" fmla="val 4068"/>
            </a:avLst>
          </a:prstGeom>
          <a:solidFill>
            <a:schemeClr val="bg2"/>
          </a:solidFill>
          <a:ln/>
        </p:spPr>
        <p:txBody>
          <a:bodyPr/>
          <a:lstStyle/>
          <a:p>
            <a:endParaRPr lang="fr-FR"/>
          </a:p>
        </p:txBody>
      </p:sp>
      <p:sp>
        <p:nvSpPr>
          <p:cNvPr id="14" name="pastille-300"/>
          <p:cNvSpPr/>
          <p:nvPr/>
        </p:nvSpPr>
        <p:spPr>
          <a:xfrm>
            <a:off x="8321040" y="1508760"/>
            <a:ext cx="548640" cy="548640"/>
          </a:xfrm>
          <a:prstGeom prst="ellipse">
            <a:avLst/>
          </a:prstGeom>
          <a:solidFill>
            <a:schemeClr val="accent1"/>
          </a:solidFill>
          <a:ln/>
        </p:spPr>
        <p:txBody>
          <a:bodyPr/>
          <a:lstStyle/>
          <a:p>
            <a:endParaRPr lang="fr-FR"/>
          </a:p>
        </p:txBody>
      </p:sp>
      <p:pic>
        <p:nvPicPr>
          <p:cNvPr id="15" name="icone-301" descr="icône"/>
          <p:cNvPicPr>
            <a:picLocks noChangeAspect="1"/>
          </p:cNvPicPr>
          <p:nvPr/>
        </p:nvPicPr>
        <p:blipFill>
          <a:blip r:embed="rId5"/>
          <a:stretch>
            <a:fillRect/>
          </a:stretch>
        </p:blipFill>
        <p:spPr>
          <a:xfrm>
            <a:off x="8452714" y="1640434"/>
            <a:ext cx="285293" cy="285293"/>
          </a:xfrm>
          <a:prstGeom prst="rect">
            <a:avLst/>
          </a:prstGeom>
        </p:spPr>
      </p:pic>
      <p:sp>
        <p:nvSpPr>
          <p:cNvPr id="16" name="texte-302"/>
          <p:cNvSpPr txBox="1"/>
          <p:nvPr/>
        </p:nvSpPr>
        <p:spPr>
          <a:xfrm>
            <a:off x="9006840" y="1508760"/>
            <a:ext cx="2377440" cy="548640"/>
          </a:xfrm>
          <a:prstGeom prst="rect">
            <a:avLst/>
          </a:prstGeom>
          <a:noFill/>
          <a:ln/>
        </p:spPr>
        <p:txBody>
          <a:bodyPr wrap="square" lIns="0" tIns="0" rIns="0" bIns="0" rtlCol="0" anchor="ctr"/>
          <a:lstStyle/>
          <a:p>
            <a:pPr marL="0" indent="0">
              <a:buNone/>
            </a:pPr>
            <a:r>
              <a:rPr lang="en-US" sz="1800" b="1" dirty="0">
                <a:solidFill>
                  <a:schemeClr val="tx1"/>
                </a:solidFill>
              </a:rPr>
              <a:t>Docker Compose</a:t>
            </a:r>
            <a:endParaRPr lang="en-US" sz="1800" dirty="0"/>
          </a:p>
        </p:txBody>
      </p:sp>
      <p:sp>
        <p:nvSpPr>
          <p:cNvPr id="17" name="texte-303"/>
          <p:cNvSpPr txBox="1"/>
          <p:nvPr/>
        </p:nvSpPr>
        <p:spPr>
          <a:xfrm>
            <a:off x="8321040" y="2240280"/>
            <a:ext cx="3017520" cy="1645920"/>
          </a:xfrm>
          <a:prstGeom prst="rect">
            <a:avLst/>
          </a:prstGeom>
          <a:noFill/>
          <a:ln/>
        </p:spPr>
        <p:txBody>
          <a:bodyPr wrap="square" lIns="0" tIns="0" rIns="0" bIns="0" rtlCol="0" anchor="t"/>
          <a:lstStyle/>
          <a:p>
            <a:pPr marL="0" indent="0">
              <a:buNone/>
            </a:pPr>
            <a:r>
              <a:rPr lang="en-US" sz="1400" dirty="0">
                <a:solidFill>
                  <a:schemeClr val="tx1"/>
                </a:solidFill>
              </a:rPr>
              <a:t>mongo, backend (3000) et frontend (5173) sur le réseau taskflow_network, démarrés avec depends_on.</a:t>
            </a:r>
            <a:endParaRPr lang="en-US" sz="1400" dirty="0"/>
          </a:p>
        </p:txBody>
      </p:sp>
      <p:sp>
        <p:nvSpPr>
          <p:cNvPr id="18" name="carte-304"/>
          <p:cNvSpPr/>
          <p:nvPr/>
        </p:nvSpPr>
        <p:spPr>
          <a:xfrm>
            <a:off x="669697" y="4206240"/>
            <a:ext cx="3324047" cy="1965960"/>
          </a:xfrm>
          <a:prstGeom prst="roundRect">
            <a:avLst>
              <a:gd name="adj" fmla="val 5581"/>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19" name="capture-305" descr="Capture i076"/>
          <p:cNvPicPr>
            <a:picLocks noChangeAspect="1"/>
          </p:cNvPicPr>
          <p:nvPr/>
        </p:nvPicPr>
        <p:blipFill>
          <a:blip r:embed="rId6"/>
          <a:stretch>
            <a:fillRect/>
          </a:stretch>
        </p:blipFill>
        <p:spPr>
          <a:xfrm>
            <a:off x="733705" y="4270248"/>
            <a:ext cx="3196031" cy="1837944"/>
          </a:xfrm>
          <a:prstGeom prst="rect">
            <a:avLst/>
          </a:prstGeom>
        </p:spPr>
      </p:pic>
      <p:sp>
        <p:nvSpPr>
          <p:cNvPr id="20" name="carte-306"/>
          <p:cNvSpPr/>
          <p:nvPr/>
        </p:nvSpPr>
        <p:spPr>
          <a:xfrm>
            <a:off x="8046720" y="4206240"/>
            <a:ext cx="3566160" cy="1965960"/>
          </a:xfrm>
          <a:prstGeom prst="roundRect">
            <a:avLst>
              <a:gd name="adj" fmla="val 5581"/>
            </a:avLst>
          </a:prstGeom>
          <a:solidFill>
            <a:schemeClr val="tx1"/>
          </a:solidFill>
          <a:ln/>
        </p:spPr>
        <p:txBody>
          <a:bodyPr/>
          <a:lstStyle/>
          <a:p>
            <a:endParaRPr lang="fr-FR"/>
          </a:p>
        </p:txBody>
      </p:sp>
      <p:sp>
        <p:nvSpPr>
          <p:cNvPr id="21" name="texte-307"/>
          <p:cNvSpPr txBox="1"/>
          <p:nvPr/>
        </p:nvSpPr>
        <p:spPr>
          <a:xfrm>
            <a:off x="8275320" y="4389120"/>
            <a:ext cx="3108960" cy="1645920"/>
          </a:xfrm>
          <a:prstGeom prst="rect">
            <a:avLst/>
          </a:prstGeom>
          <a:noFill/>
          <a:ln/>
        </p:spPr>
        <p:txBody>
          <a:bodyPr wrap="square" lIns="0" tIns="0" rIns="0" bIns="0" rtlCol="0" anchor="t"/>
          <a:lstStyle/>
          <a:p>
            <a:pPr marL="0" indent="0">
              <a:buNone/>
            </a:pPr>
            <a:r>
              <a:rPr lang="en-US" sz="1600" b="1" dirty="0">
                <a:solidFill>
                  <a:schemeClr val="accent3"/>
                </a:solidFill>
                <a:latin typeface="Courier New" pitchFamily="34" charset="0"/>
                <a:ea typeface="Courier New" pitchFamily="34" charset="-122"/>
                <a:cs typeface="Courier New" pitchFamily="34" charset="-120"/>
              </a:rPr>
              <a:t>.dockerignore</a:t>
            </a:r>
            <a:endParaRPr lang="en-US" sz="1400" dirty="0"/>
          </a:p>
          <a:p>
            <a:pPr marL="0" indent="0">
              <a:buNone/>
            </a:pPr>
            <a:r>
              <a:rPr lang="en-US" sz="1400" dirty="0">
                <a:solidFill>
                  <a:schemeClr val="bg1"/>
                </a:solidFill>
              </a:rPr>
              <a:t>node_modules, .git et les fichiers .env ne sont jamais copiés dans l'image.</a:t>
            </a:r>
            <a:endParaRPr lang="en-US" sz="1400" dirty="0"/>
          </a:p>
        </p:txBody>
      </p:sp>
      <p:sp>
        <p:nvSpPr>
          <p:cNvPr id="22" name="carte-308"/>
          <p:cNvSpPr/>
          <p:nvPr/>
        </p:nvSpPr>
        <p:spPr>
          <a:xfrm>
            <a:off x="4483411" y="4206240"/>
            <a:ext cx="3194698" cy="1965960"/>
          </a:xfrm>
          <a:prstGeom prst="roundRect">
            <a:avLst>
              <a:gd name="adj" fmla="val 5581"/>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23" name="capture-309" descr="Capture i075"/>
          <p:cNvPicPr>
            <a:picLocks noChangeAspect="1"/>
          </p:cNvPicPr>
          <p:nvPr/>
        </p:nvPicPr>
        <p:blipFill>
          <a:blip r:embed="rId7"/>
          <a:stretch>
            <a:fillRect/>
          </a:stretch>
        </p:blipFill>
        <p:spPr>
          <a:xfrm>
            <a:off x="4547419" y="4270248"/>
            <a:ext cx="3066682" cy="183794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Démarche DevOps et qualité du code</a:t>
            </a:r>
            <a:endParaRPr lang="en-US" sz="3200" dirty="0"/>
          </a:p>
        </p:txBody>
      </p:sp>
      <p:sp>
        <p:nvSpPr>
          <p:cNvPr id="3" name="carte-310"/>
          <p:cNvSpPr/>
          <p:nvPr/>
        </p:nvSpPr>
        <p:spPr>
          <a:xfrm>
            <a:off x="548640" y="1287712"/>
            <a:ext cx="6035040" cy="3002416"/>
          </a:xfrm>
          <a:prstGeom prst="roundRect">
            <a:avLst>
              <a:gd name="adj" fmla="val 3655"/>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4" name="capture-311" descr="Capture i077"/>
          <p:cNvPicPr>
            <a:picLocks noChangeAspect="1"/>
          </p:cNvPicPr>
          <p:nvPr/>
        </p:nvPicPr>
        <p:blipFill>
          <a:blip r:embed="rId3"/>
          <a:stretch>
            <a:fillRect/>
          </a:stretch>
        </p:blipFill>
        <p:spPr>
          <a:xfrm>
            <a:off x="612648" y="1351720"/>
            <a:ext cx="5907024" cy="2874400"/>
          </a:xfrm>
          <a:prstGeom prst="rect">
            <a:avLst/>
          </a:prstGeom>
        </p:spPr>
      </p:pic>
      <p:sp>
        <p:nvSpPr>
          <p:cNvPr id="5" name="bloc-312"/>
          <p:cNvSpPr/>
          <p:nvPr/>
        </p:nvSpPr>
        <p:spPr>
          <a:xfrm>
            <a:off x="548640" y="4572000"/>
            <a:ext cx="1389888" cy="640080"/>
          </a:xfrm>
          <a:prstGeom prst="roundRect">
            <a:avLst>
              <a:gd name="adj" fmla="val 1428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Discover</a:t>
            </a:r>
            <a:endParaRPr lang="en-US" sz="1400" dirty="0"/>
          </a:p>
        </p:txBody>
      </p:sp>
      <p:sp>
        <p:nvSpPr>
          <p:cNvPr id="6" name="bloc-313"/>
          <p:cNvSpPr/>
          <p:nvPr/>
        </p:nvSpPr>
        <p:spPr>
          <a:xfrm>
            <a:off x="2084832" y="4572000"/>
            <a:ext cx="1389888" cy="640080"/>
          </a:xfrm>
          <a:prstGeom prst="roundRect">
            <a:avLst>
              <a:gd name="adj" fmla="val 14286"/>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Plan</a:t>
            </a:r>
            <a:endParaRPr lang="en-US" sz="1400" dirty="0"/>
          </a:p>
        </p:txBody>
      </p:sp>
      <p:sp>
        <p:nvSpPr>
          <p:cNvPr id="7" name="bloc-314"/>
          <p:cNvSpPr/>
          <p:nvPr/>
        </p:nvSpPr>
        <p:spPr>
          <a:xfrm>
            <a:off x="3621024" y="4572000"/>
            <a:ext cx="1389888" cy="640080"/>
          </a:xfrm>
          <a:prstGeom prst="roundRect">
            <a:avLst>
              <a:gd name="adj" fmla="val 1428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Build</a:t>
            </a:r>
            <a:endParaRPr lang="en-US" sz="1400" dirty="0"/>
          </a:p>
        </p:txBody>
      </p:sp>
      <p:sp>
        <p:nvSpPr>
          <p:cNvPr id="8" name="bloc-315"/>
          <p:cNvSpPr/>
          <p:nvPr/>
        </p:nvSpPr>
        <p:spPr>
          <a:xfrm>
            <a:off x="5157216" y="4572000"/>
            <a:ext cx="1389888" cy="640080"/>
          </a:xfrm>
          <a:prstGeom prst="roundRect">
            <a:avLst>
              <a:gd name="adj" fmla="val 14286"/>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Test</a:t>
            </a:r>
            <a:endParaRPr lang="en-US" sz="1400" dirty="0"/>
          </a:p>
        </p:txBody>
      </p:sp>
      <p:sp>
        <p:nvSpPr>
          <p:cNvPr id="9" name="bloc-316"/>
          <p:cNvSpPr/>
          <p:nvPr/>
        </p:nvSpPr>
        <p:spPr>
          <a:xfrm>
            <a:off x="548640" y="5394960"/>
            <a:ext cx="1389888" cy="640080"/>
          </a:xfrm>
          <a:prstGeom prst="roundRect">
            <a:avLst>
              <a:gd name="adj" fmla="val 1428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Deploy</a:t>
            </a:r>
            <a:endParaRPr lang="en-US" sz="1400" dirty="0"/>
          </a:p>
        </p:txBody>
      </p:sp>
      <p:sp>
        <p:nvSpPr>
          <p:cNvPr id="10" name="bloc-317"/>
          <p:cNvSpPr/>
          <p:nvPr/>
        </p:nvSpPr>
        <p:spPr>
          <a:xfrm>
            <a:off x="2084832" y="5394960"/>
            <a:ext cx="1389888" cy="640080"/>
          </a:xfrm>
          <a:prstGeom prst="roundRect">
            <a:avLst>
              <a:gd name="adj" fmla="val 14286"/>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Operate</a:t>
            </a:r>
            <a:endParaRPr lang="en-US" sz="1400" dirty="0"/>
          </a:p>
        </p:txBody>
      </p:sp>
      <p:sp>
        <p:nvSpPr>
          <p:cNvPr id="11" name="bloc-318"/>
          <p:cNvSpPr/>
          <p:nvPr/>
        </p:nvSpPr>
        <p:spPr>
          <a:xfrm>
            <a:off x="3621024" y="5394960"/>
            <a:ext cx="1389888" cy="640080"/>
          </a:xfrm>
          <a:prstGeom prst="roundRect">
            <a:avLst>
              <a:gd name="adj" fmla="val 14286"/>
            </a:avLst>
          </a:prstGeom>
          <a:solidFill>
            <a:schemeClr val="accent1"/>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Observe</a:t>
            </a:r>
            <a:endParaRPr lang="en-US" sz="1400" dirty="0"/>
          </a:p>
        </p:txBody>
      </p:sp>
      <p:sp>
        <p:nvSpPr>
          <p:cNvPr id="12" name="bloc-319"/>
          <p:cNvSpPr/>
          <p:nvPr/>
        </p:nvSpPr>
        <p:spPr>
          <a:xfrm>
            <a:off x="5157216" y="5394960"/>
            <a:ext cx="1389888" cy="640080"/>
          </a:xfrm>
          <a:prstGeom prst="roundRect">
            <a:avLst>
              <a:gd name="adj" fmla="val 14286"/>
            </a:avLst>
          </a:prstGeom>
          <a:solidFill>
            <a:schemeClr val="accent5"/>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400" b="1" dirty="0">
                <a:solidFill>
                  <a:schemeClr val="bg1"/>
                </a:solidFill>
              </a:rPr>
              <a:t>Feedback</a:t>
            </a:r>
            <a:endParaRPr lang="en-US" sz="1400" dirty="0"/>
          </a:p>
        </p:txBody>
      </p:sp>
      <p:sp>
        <p:nvSpPr>
          <p:cNvPr id="13" name="texte-320"/>
          <p:cNvSpPr txBox="1"/>
          <p:nvPr/>
        </p:nvSpPr>
        <p:spPr>
          <a:xfrm>
            <a:off x="6949440" y="1234440"/>
            <a:ext cx="4663440" cy="457200"/>
          </a:xfrm>
          <a:prstGeom prst="rect">
            <a:avLst/>
          </a:prstGeom>
          <a:noFill/>
          <a:ln/>
        </p:spPr>
        <p:txBody>
          <a:bodyPr wrap="square" lIns="0" tIns="0" rIns="0" bIns="0" rtlCol="0" anchor="t"/>
          <a:lstStyle/>
          <a:p>
            <a:pPr marL="0" indent="0">
              <a:buNone/>
            </a:pPr>
            <a:r>
              <a:rPr lang="en-US" sz="2000" b="1" dirty="0">
                <a:solidFill>
                  <a:schemeClr val="tx1"/>
                </a:solidFill>
              </a:rPr>
              <a:t>Qualité du code</a:t>
            </a:r>
            <a:endParaRPr lang="en-US" sz="2000" dirty="0"/>
          </a:p>
        </p:txBody>
      </p:sp>
      <p:sp>
        <p:nvSpPr>
          <p:cNvPr id="14" name="carte-321"/>
          <p:cNvSpPr/>
          <p:nvPr/>
        </p:nvSpPr>
        <p:spPr>
          <a:xfrm>
            <a:off x="6949440" y="1874520"/>
            <a:ext cx="4663440" cy="1234440"/>
          </a:xfrm>
          <a:prstGeom prst="roundRect">
            <a:avLst>
              <a:gd name="adj" fmla="val 8889"/>
            </a:avLst>
          </a:prstGeom>
          <a:solidFill>
            <a:schemeClr val="bg2"/>
          </a:solidFill>
          <a:ln/>
        </p:spPr>
        <p:txBody>
          <a:bodyPr/>
          <a:lstStyle/>
          <a:p>
            <a:endParaRPr lang="fr-FR"/>
          </a:p>
        </p:txBody>
      </p:sp>
      <p:sp>
        <p:nvSpPr>
          <p:cNvPr id="15" name="pastille-322"/>
          <p:cNvSpPr/>
          <p:nvPr/>
        </p:nvSpPr>
        <p:spPr>
          <a:xfrm>
            <a:off x="7178040" y="2194560"/>
            <a:ext cx="594360" cy="594360"/>
          </a:xfrm>
          <a:prstGeom prst="ellipse">
            <a:avLst/>
          </a:prstGeom>
          <a:solidFill>
            <a:schemeClr val="accent2"/>
          </a:solidFill>
          <a:ln/>
        </p:spPr>
        <p:txBody>
          <a:bodyPr/>
          <a:lstStyle/>
          <a:p>
            <a:endParaRPr lang="fr-FR"/>
          </a:p>
        </p:txBody>
      </p:sp>
      <p:pic>
        <p:nvPicPr>
          <p:cNvPr id="16" name="icone-323" descr="icône"/>
          <p:cNvPicPr>
            <a:picLocks noChangeAspect="1"/>
          </p:cNvPicPr>
          <p:nvPr/>
        </p:nvPicPr>
        <p:blipFill>
          <a:blip r:embed="rId4"/>
          <a:stretch>
            <a:fillRect/>
          </a:stretch>
        </p:blipFill>
        <p:spPr>
          <a:xfrm>
            <a:off x="7320686" y="2337206"/>
            <a:ext cx="309067" cy="309067"/>
          </a:xfrm>
          <a:prstGeom prst="rect">
            <a:avLst/>
          </a:prstGeom>
        </p:spPr>
      </p:pic>
      <p:sp>
        <p:nvSpPr>
          <p:cNvPr id="17" name="texte-324"/>
          <p:cNvSpPr txBox="1"/>
          <p:nvPr/>
        </p:nvSpPr>
        <p:spPr>
          <a:xfrm>
            <a:off x="8001000" y="1965960"/>
            <a:ext cx="3474720" cy="1051560"/>
          </a:xfrm>
          <a:prstGeom prst="rect">
            <a:avLst/>
          </a:prstGeom>
          <a:noFill/>
          <a:ln/>
        </p:spPr>
        <p:txBody>
          <a:bodyPr wrap="square" lIns="0" tIns="0" rIns="0" bIns="0" rtlCol="0" anchor="ctr"/>
          <a:lstStyle/>
          <a:p>
            <a:pPr marL="0" indent="0">
              <a:buNone/>
            </a:pPr>
            <a:r>
              <a:rPr lang="en-US" sz="1600" b="1" dirty="0">
                <a:solidFill>
                  <a:schemeClr val="tx1"/>
                </a:solidFill>
              </a:rPr>
              <a:t>ESLint — npm run lint</a:t>
            </a:r>
            <a:endParaRPr lang="en-US" sz="1400" dirty="0"/>
          </a:p>
          <a:p>
            <a:pPr marL="0" indent="0">
              <a:buNone/>
            </a:pPr>
            <a:r>
              <a:rPr lang="en-US" sz="1400" dirty="0">
                <a:solidFill>
                  <a:schemeClr val="accent6"/>
                </a:solidFill>
              </a:rPr>
              <a:t>signale les erreurs et mauvaises pratiques</a:t>
            </a:r>
            <a:endParaRPr lang="en-US" sz="1400" dirty="0"/>
          </a:p>
        </p:txBody>
      </p:sp>
      <p:sp>
        <p:nvSpPr>
          <p:cNvPr id="18" name="carte-325"/>
          <p:cNvSpPr/>
          <p:nvPr/>
        </p:nvSpPr>
        <p:spPr>
          <a:xfrm>
            <a:off x="6949440" y="3291840"/>
            <a:ext cx="4663440" cy="1234440"/>
          </a:xfrm>
          <a:prstGeom prst="roundRect">
            <a:avLst>
              <a:gd name="adj" fmla="val 8889"/>
            </a:avLst>
          </a:prstGeom>
          <a:solidFill>
            <a:schemeClr val="bg2"/>
          </a:solidFill>
          <a:ln/>
        </p:spPr>
        <p:txBody>
          <a:bodyPr/>
          <a:lstStyle/>
          <a:p>
            <a:endParaRPr lang="fr-FR"/>
          </a:p>
        </p:txBody>
      </p:sp>
      <p:sp>
        <p:nvSpPr>
          <p:cNvPr id="19" name="pastille-326"/>
          <p:cNvSpPr/>
          <p:nvPr/>
        </p:nvSpPr>
        <p:spPr>
          <a:xfrm>
            <a:off x="7178040" y="3611880"/>
            <a:ext cx="594360" cy="594360"/>
          </a:xfrm>
          <a:prstGeom prst="ellipse">
            <a:avLst/>
          </a:prstGeom>
          <a:solidFill>
            <a:schemeClr val="accent2"/>
          </a:solidFill>
          <a:ln/>
        </p:spPr>
        <p:txBody>
          <a:bodyPr/>
          <a:lstStyle/>
          <a:p>
            <a:endParaRPr lang="fr-FR"/>
          </a:p>
        </p:txBody>
      </p:sp>
      <p:pic>
        <p:nvPicPr>
          <p:cNvPr id="20" name="icone-327" descr="icône"/>
          <p:cNvPicPr>
            <a:picLocks noChangeAspect="1"/>
          </p:cNvPicPr>
          <p:nvPr/>
        </p:nvPicPr>
        <p:blipFill>
          <a:blip r:embed="rId5"/>
          <a:stretch>
            <a:fillRect/>
          </a:stretch>
        </p:blipFill>
        <p:spPr>
          <a:xfrm>
            <a:off x="7320686" y="3754526"/>
            <a:ext cx="309067" cy="309067"/>
          </a:xfrm>
          <a:prstGeom prst="rect">
            <a:avLst/>
          </a:prstGeom>
        </p:spPr>
      </p:pic>
      <p:sp>
        <p:nvSpPr>
          <p:cNvPr id="21" name="texte-328"/>
          <p:cNvSpPr txBox="1"/>
          <p:nvPr/>
        </p:nvSpPr>
        <p:spPr>
          <a:xfrm>
            <a:off x="8001000" y="3383280"/>
            <a:ext cx="3474720" cy="1051560"/>
          </a:xfrm>
          <a:prstGeom prst="rect">
            <a:avLst/>
          </a:prstGeom>
          <a:noFill/>
          <a:ln/>
        </p:spPr>
        <p:txBody>
          <a:bodyPr wrap="square" lIns="0" tIns="0" rIns="0" bIns="0" rtlCol="0" anchor="ctr"/>
          <a:lstStyle/>
          <a:p>
            <a:pPr marL="0" indent="0">
              <a:buNone/>
            </a:pPr>
            <a:r>
              <a:rPr lang="en-US" sz="1600" b="1" dirty="0">
                <a:solidFill>
                  <a:schemeClr val="tx1"/>
                </a:solidFill>
              </a:rPr>
              <a:t>Prettier — npm run format</a:t>
            </a:r>
            <a:endParaRPr lang="en-US" sz="1400" dirty="0"/>
          </a:p>
          <a:p>
            <a:pPr marL="0" indent="0">
              <a:buNone/>
            </a:pPr>
            <a:r>
              <a:rPr lang="en-US" sz="1400" dirty="0">
                <a:solidFill>
                  <a:schemeClr val="accent6"/>
                </a:solidFill>
              </a:rPr>
              <a:t>met le code en forme de façon uniforme</a:t>
            </a:r>
            <a:endParaRPr lang="en-US" sz="1400" dirty="0"/>
          </a:p>
        </p:txBody>
      </p:sp>
      <p:sp>
        <p:nvSpPr>
          <p:cNvPr id="22" name="carte-329"/>
          <p:cNvSpPr/>
          <p:nvPr/>
        </p:nvSpPr>
        <p:spPr>
          <a:xfrm>
            <a:off x="6949440" y="4709160"/>
            <a:ext cx="4663440" cy="1234440"/>
          </a:xfrm>
          <a:prstGeom prst="roundRect">
            <a:avLst>
              <a:gd name="adj" fmla="val 8889"/>
            </a:avLst>
          </a:prstGeom>
          <a:solidFill>
            <a:schemeClr val="bg2"/>
          </a:solidFill>
          <a:ln/>
        </p:spPr>
        <p:txBody>
          <a:bodyPr/>
          <a:lstStyle/>
          <a:p>
            <a:endParaRPr lang="fr-FR"/>
          </a:p>
        </p:txBody>
      </p:sp>
      <p:sp>
        <p:nvSpPr>
          <p:cNvPr id="23" name="pastille-330"/>
          <p:cNvSpPr/>
          <p:nvPr/>
        </p:nvSpPr>
        <p:spPr>
          <a:xfrm>
            <a:off x="7178040" y="5029200"/>
            <a:ext cx="594360" cy="594360"/>
          </a:xfrm>
          <a:prstGeom prst="ellipse">
            <a:avLst/>
          </a:prstGeom>
          <a:solidFill>
            <a:schemeClr val="accent2"/>
          </a:solidFill>
          <a:ln/>
        </p:spPr>
        <p:txBody>
          <a:bodyPr/>
          <a:lstStyle/>
          <a:p>
            <a:endParaRPr lang="fr-FR"/>
          </a:p>
        </p:txBody>
      </p:sp>
      <p:pic>
        <p:nvPicPr>
          <p:cNvPr id="24" name="icone-331" descr="icône"/>
          <p:cNvPicPr>
            <a:picLocks noChangeAspect="1"/>
          </p:cNvPicPr>
          <p:nvPr/>
        </p:nvPicPr>
        <p:blipFill>
          <a:blip r:embed="rId6"/>
          <a:stretch>
            <a:fillRect/>
          </a:stretch>
        </p:blipFill>
        <p:spPr>
          <a:xfrm>
            <a:off x="7320686" y="5171846"/>
            <a:ext cx="309067" cy="309067"/>
          </a:xfrm>
          <a:prstGeom prst="rect">
            <a:avLst/>
          </a:prstGeom>
        </p:spPr>
      </p:pic>
      <p:sp>
        <p:nvSpPr>
          <p:cNvPr id="25" name="texte-332"/>
          <p:cNvSpPr txBox="1"/>
          <p:nvPr/>
        </p:nvSpPr>
        <p:spPr>
          <a:xfrm>
            <a:off x="8001000" y="4800600"/>
            <a:ext cx="3474720" cy="1051560"/>
          </a:xfrm>
          <a:prstGeom prst="rect">
            <a:avLst/>
          </a:prstGeom>
          <a:noFill/>
          <a:ln/>
        </p:spPr>
        <p:txBody>
          <a:bodyPr wrap="square" lIns="0" tIns="0" rIns="0" bIns="0" rtlCol="0" anchor="ctr"/>
          <a:lstStyle/>
          <a:p>
            <a:pPr marL="0" indent="0">
              <a:buNone/>
            </a:pPr>
            <a:r>
              <a:rPr lang="en-US" sz="1600" b="1" dirty="0">
                <a:solidFill>
                  <a:schemeClr val="tx1"/>
                </a:solidFill>
              </a:rPr>
              <a:t>Build — npm run build</a:t>
            </a:r>
            <a:endParaRPr lang="en-US" sz="1400" dirty="0"/>
          </a:p>
          <a:p>
            <a:pPr marL="0" indent="0">
              <a:buNone/>
            </a:pPr>
            <a:r>
              <a:rPr lang="en-US" sz="1400" dirty="0">
                <a:solidFill>
                  <a:schemeClr val="accent6"/>
                </a:solidFill>
              </a:rPr>
              <a:t>Vite pour le front, build-check.js (node --check) pour le back</a:t>
            </a:r>
            <a:endParaRPr lang="en-US" sz="14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Pipeline CI/CD avec GitHub Actions</a:t>
            </a:r>
            <a:endParaRPr lang="en-US" sz="3200" dirty="0"/>
          </a:p>
        </p:txBody>
      </p:sp>
      <p:sp>
        <p:nvSpPr>
          <p:cNvPr id="3" name="bloc-333"/>
          <p:cNvSpPr/>
          <p:nvPr/>
        </p:nvSpPr>
        <p:spPr>
          <a:xfrm>
            <a:off x="548640" y="1371600"/>
            <a:ext cx="2103120" cy="1737360"/>
          </a:xfrm>
          <a:prstGeom prst="roundRect">
            <a:avLst>
              <a:gd name="adj" fmla="val 5263"/>
            </a:avLst>
          </a:prstGeom>
          <a:solidFill>
            <a:schemeClr val="tx2"/>
          </a:solidFill>
          <a:ln/>
          <a:effectLst>
            <a:outerShdw blurRad="76200" dist="25400" dir="5400000" algn="bl" rotWithShape="0">
              <a:srgbClr val="000000">
                <a:alpha val="16000"/>
              </a:srgbClr>
            </a:outerShdw>
          </a:effectLst>
        </p:spPr>
        <p:txBody>
          <a:bodyPr wrap="square" lIns="25400" tIns="25400" rIns="25400" bIns="25400" rtlCol="0" anchor="ctr"/>
          <a:lstStyle/>
          <a:p>
            <a:pPr marL="0" indent="0" algn="ctr">
              <a:buNone/>
            </a:pPr>
            <a:r>
              <a:rPr lang="en-US" sz="1500" b="1" dirty="0">
                <a:solidFill>
                  <a:schemeClr val="bg1"/>
                </a:solidFill>
              </a:rPr>
              <a:t>push ou pull request sur main</a:t>
            </a:r>
            <a:endParaRPr lang="en-US" sz="1500" dirty="0"/>
          </a:p>
        </p:txBody>
      </p:sp>
      <p:sp>
        <p:nvSpPr>
          <p:cNvPr id="4" name="fleche-334"/>
          <p:cNvSpPr/>
          <p:nvPr/>
        </p:nvSpPr>
        <p:spPr>
          <a:xfrm>
            <a:off x="2688336" y="2240280"/>
            <a:ext cx="365760" cy="0"/>
          </a:xfrm>
          <a:prstGeom prst="line">
            <a:avLst/>
          </a:prstGeom>
          <a:noFill/>
          <a:ln w="31750">
            <a:solidFill>
              <a:schemeClr val="accent6"/>
            </a:solidFill>
            <a:prstDash val="solid"/>
            <a:tailEnd type="triangle"/>
          </a:ln>
        </p:spPr>
        <p:txBody>
          <a:bodyPr/>
          <a:lstStyle/>
          <a:p>
            <a:endParaRPr lang="fr-FR"/>
          </a:p>
        </p:txBody>
      </p:sp>
      <p:sp>
        <p:nvSpPr>
          <p:cNvPr id="5" name="job-335"/>
          <p:cNvSpPr/>
          <p:nvPr/>
        </p:nvSpPr>
        <p:spPr>
          <a:xfrm>
            <a:off x="3108960" y="1371600"/>
            <a:ext cx="2514600" cy="1737360"/>
          </a:xfrm>
          <a:prstGeom prst="roundRect">
            <a:avLst>
              <a:gd name="adj" fmla="val 5263"/>
            </a:avLst>
          </a:prstGeom>
          <a:solidFill>
            <a:schemeClr val="bg2"/>
          </a:solidFill>
          <a:ln w="25400">
            <a:solidFill>
              <a:schemeClr val="accent1"/>
            </a:solidFill>
            <a:prstDash val="solid"/>
          </a:ln>
        </p:spPr>
        <p:txBody>
          <a:bodyPr/>
          <a:lstStyle/>
          <a:p>
            <a:endParaRPr lang="fr-FR"/>
          </a:p>
        </p:txBody>
      </p:sp>
      <p:sp>
        <p:nvSpPr>
          <p:cNvPr id="6" name="texte-336"/>
          <p:cNvSpPr txBox="1"/>
          <p:nvPr/>
        </p:nvSpPr>
        <p:spPr>
          <a:xfrm>
            <a:off x="3291840" y="1463040"/>
            <a:ext cx="2148840" cy="411480"/>
          </a:xfrm>
          <a:prstGeom prst="rect">
            <a:avLst/>
          </a:prstGeom>
          <a:noFill/>
          <a:ln/>
        </p:spPr>
        <p:txBody>
          <a:bodyPr wrap="square" lIns="0" tIns="0" rIns="0" bIns="0" rtlCol="0" anchor="t"/>
          <a:lstStyle/>
          <a:p>
            <a:pPr marL="0" indent="0">
              <a:buNone/>
            </a:pPr>
            <a:r>
              <a:rPr lang="en-US" sz="1800" b="1" dirty="0">
                <a:solidFill>
                  <a:schemeClr val="accent1"/>
                </a:solidFill>
              </a:rPr>
              <a:t>quality</a:t>
            </a:r>
            <a:endParaRPr lang="en-US" sz="1800" dirty="0"/>
          </a:p>
        </p:txBody>
      </p:sp>
      <p:sp>
        <p:nvSpPr>
          <p:cNvPr id="7" name="texte-337"/>
          <p:cNvSpPr txBox="1"/>
          <p:nvPr/>
        </p:nvSpPr>
        <p:spPr>
          <a:xfrm>
            <a:off x="3291840" y="1920240"/>
            <a:ext cx="21488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npm ci</a:t>
            </a:r>
            <a:endParaRPr lang="en-US" sz="1400" dirty="0"/>
          </a:p>
          <a:p>
            <a:pPr marL="342900" indent="-342900">
              <a:spcAft>
                <a:spcPts val="600"/>
              </a:spcAft>
              <a:buSzPct val="100000"/>
              <a:buChar char="•"/>
            </a:pPr>
            <a:r>
              <a:rPr lang="en-US" sz="1400" dirty="0">
                <a:solidFill>
                  <a:schemeClr val="tx1"/>
                </a:solidFill>
              </a:rPr>
              <a:t>ESLint</a:t>
            </a:r>
            <a:endParaRPr lang="en-US" sz="1400" dirty="0"/>
          </a:p>
          <a:p>
            <a:pPr marL="342900" indent="-342900">
              <a:spcAft>
                <a:spcPts val="600"/>
              </a:spcAft>
              <a:buSzPct val="100000"/>
              <a:buChar char="•"/>
            </a:pPr>
            <a:r>
              <a:rPr lang="en-US" sz="1400" dirty="0">
                <a:solidFill>
                  <a:schemeClr val="tx1"/>
                </a:solidFill>
              </a:rPr>
              <a:t>tests</a:t>
            </a:r>
            <a:endParaRPr lang="en-US" sz="1400" dirty="0"/>
          </a:p>
          <a:p>
            <a:pPr marL="342900" indent="-342900">
              <a:spcAft>
                <a:spcPts val="600"/>
              </a:spcAft>
              <a:buSzPct val="100000"/>
              <a:buChar char="•"/>
            </a:pPr>
            <a:r>
              <a:rPr lang="en-US" sz="1400" dirty="0">
                <a:solidFill>
                  <a:schemeClr val="tx1"/>
                </a:solidFill>
              </a:rPr>
              <a:t>build</a:t>
            </a:r>
            <a:endParaRPr lang="en-US" sz="1400" dirty="0"/>
          </a:p>
        </p:txBody>
      </p:sp>
      <p:sp>
        <p:nvSpPr>
          <p:cNvPr id="8" name="fleche-338"/>
          <p:cNvSpPr/>
          <p:nvPr/>
        </p:nvSpPr>
        <p:spPr>
          <a:xfrm>
            <a:off x="5660136" y="2240280"/>
            <a:ext cx="365760" cy="0"/>
          </a:xfrm>
          <a:prstGeom prst="line">
            <a:avLst/>
          </a:prstGeom>
          <a:noFill/>
          <a:ln w="31750">
            <a:solidFill>
              <a:schemeClr val="accent6"/>
            </a:solidFill>
            <a:prstDash val="solid"/>
            <a:tailEnd type="triangle"/>
          </a:ln>
        </p:spPr>
        <p:txBody>
          <a:bodyPr/>
          <a:lstStyle/>
          <a:p>
            <a:endParaRPr lang="fr-FR"/>
          </a:p>
        </p:txBody>
      </p:sp>
      <p:sp>
        <p:nvSpPr>
          <p:cNvPr id="9" name="texte-339"/>
          <p:cNvSpPr txBox="1"/>
          <p:nvPr/>
        </p:nvSpPr>
        <p:spPr>
          <a:xfrm>
            <a:off x="5623560" y="1874520"/>
            <a:ext cx="457200" cy="274320"/>
          </a:xfrm>
          <a:prstGeom prst="rect">
            <a:avLst/>
          </a:prstGeom>
          <a:noFill/>
          <a:ln/>
        </p:spPr>
        <p:txBody>
          <a:bodyPr wrap="square" lIns="0" tIns="0" rIns="0" bIns="0" rtlCol="0" anchor="t"/>
          <a:lstStyle/>
          <a:p>
            <a:pPr marL="0" indent="0" algn="ctr">
              <a:buNone/>
            </a:pPr>
            <a:r>
              <a:rPr lang="en-US" sz="1100" i="1" dirty="0">
                <a:solidFill>
                  <a:schemeClr val="accent6"/>
                </a:solidFill>
              </a:rPr>
              <a:t>needs</a:t>
            </a:r>
            <a:endParaRPr lang="en-US" sz="1100" dirty="0"/>
          </a:p>
        </p:txBody>
      </p:sp>
      <p:sp>
        <p:nvSpPr>
          <p:cNvPr id="10" name="job-340"/>
          <p:cNvSpPr/>
          <p:nvPr/>
        </p:nvSpPr>
        <p:spPr>
          <a:xfrm>
            <a:off x="6080760" y="1371600"/>
            <a:ext cx="2514600" cy="1737360"/>
          </a:xfrm>
          <a:prstGeom prst="roundRect">
            <a:avLst>
              <a:gd name="adj" fmla="val 5263"/>
            </a:avLst>
          </a:prstGeom>
          <a:solidFill>
            <a:schemeClr val="bg2"/>
          </a:solidFill>
          <a:ln w="25400">
            <a:solidFill>
              <a:schemeClr val="accent5"/>
            </a:solidFill>
            <a:prstDash val="solid"/>
          </a:ln>
        </p:spPr>
        <p:txBody>
          <a:bodyPr/>
          <a:lstStyle/>
          <a:p>
            <a:endParaRPr lang="fr-FR"/>
          </a:p>
        </p:txBody>
      </p:sp>
      <p:sp>
        <p:nvSpPr>
          <p:cNvPr id="11" name="texte-341"/>
          <p:cNvSpPr txBox="1"/>
          <p:nvPr/>
        </p:nvSpPr>
        <p:spPr>
          <a:xfrm>
            <a:off x="6263640" y="1463040"/>
            <a:ext cx="2148840" cy="411480"/>
          </a:xfrm>
          <a:prstGeom prst="rect">
            <a:avLst/>
          </a:prstGeom>
          <a:noFill/>
          <a:ln/>
        </p:spPr>
        <p:txBody>
          <a:bodyPr wrap="square" lIns="0" tIns="0" rIns="0" bIns="0" rtlCol="0" anchor="t"/>
          <a:lstStyle/>
          <a:p>
            <a:pPr marL="0" indent="0">
              <a:buNone/>
            </a:pPr>
            <a:r>
              <a:rPr lang="en-US" sz="1800" b="1" dirty="0">
                <a:solidFill>
                  <a:schemeClr val="accent5"/>
                </a:solidFill>
              </a:rPr>
              <a:t>docker</a:t>
            </a:r>
            <a:endParaRPr lang="en-US" sz="1800" dirty="0"/>
          </a:p>
        </p:txBody>
      </p:sp>
      <p:sp>
        <p:nvSpPr>
          <p:cNvPr id="12" name="texte-342"/>
          <p:cNvSpPr txBox="1"/>
          <p:nvPr/>
        </p:nvSpPr>
        <p:spPr>
          <a:xfrm>
            <a:off x="6263640" y="1920240"/>
            <a:ext cx="21488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construction de l'image Docker</a:t>
            </a:r>
            <a:endParaRPr lang="en-US" sz="1400" dirty="0"/>
          </a:p>
        </p:txBody>
      </p:sp>
      <p:sp>
        <p:nvSpPr>
          <p:cNvPr id="13" name="fleche-343"/>
          <p:cNvSpPr/>
          <p:nvPr/>
        </p:nvSpPr>
        <p:spPr>
          <a:xfrm>
            <a:off x="8631936" y="2240280"/>
            <a:ext cx="365760" cy="0"/>
          </a:xfrm>
          <a:prstGeom prst="line">
            <a:avLst/>
          </a:prstGeom>
          <a:noFill/>
          <a:ln w="31750">
            <a:solidFill>
              <a:schemeClr val="accent6"/>
            </a:solidFill>
            <a:prstDash val="solid"/>
            <a:tailEnd type="triangle"/>
          </a:ln>
        </p:spPr>
        <p:txBody>
          <a:bodyPr/>
          <a:lstStyle/>
          <a:p>
            <a:endParaRPr lang="fr-FR"/>
          </a:p>
        </p:txBody>
      </p:sp>
      <p:sp>
        <p:nvSpPr>
          <p:cNvPr id="14" name="texte-344"/>
          <p:cNvSpPr txBox="1"/>
          <p:nvPr/>
        </p:nvSpPr>
        <p:spPr>
          <a:xfrm>
            <a:off x="8595360" y="1874520"/>
            <a:ext cx="457200" cy="274320"/>
          </a:xfrm>
          <a:prstGeom prst="rect">
            <a:avLst/>
          </a:prstGeom>
          <a:noFill/>
          <a:ln/>
        </p:spPr>
        <p:txBody>
          <a:bodyPr wrap="square" lIns="0" tIns="0" rIns="0" bIns="0" rtlCol="0" anchor="t"/>
          <a:lstStyle/>
          <a:p>
            <a:pPr marL="0" indent="0" algn="ctr">
              <a:buNone/>
            </a:pPr>
            <a:r>
              <a:rPr lang="en-US" sz="1100" i="1" dirty="0">
                <a:solidFill>
                  <a:schemeClr val="accent6"/>
                </a:solidFill>
              </a:rPr>
              <a:t>needs</a:t>
            </a:r>
            <a:endParaRPr lang="en-US" sz="1100" dirty="0"/>
          </a:p>
        </p:txBody>
      </p:sp>
      <p:sp>
        <p:nvSpPr>
          <p:cNvPr id="15" name="job-345"/>
          <p:cNvSpPr/>
          <p:nvPr/>
        </p:nvSpPr>
        <p:spPr>
          <a:xfrm>
            <a:off x="9052560" y="1371600"/>
            <a:ext cx="2514600" cy="1737360"/>
          </a:xfrm>
          <a:prstGeom prst="roundRect">
            <a:avLst>
              <a:gd name="adj" fmla="val 5263"/>
            </a:avLst>
          </a:prstGeom>
          <a:solidFill>
            <a:schemeClr val="bg2"/>
          </a:solidFill>
          <a:ln w="25400">
            <a:solidFill>
              <a:schemeClr val="accent2"/>
            </a:solidFill>
            <a:prstDash val="solid"/>
          </a:ln>
        </p:spPr>
        <p:txBody>
          <a:bodyPr/>
          <a:lstStyle/>
          <a:p>
            <a:endParaRPr lang="fr-FR"/>
          </a:p>
        </p:txBody>
      </p:sp>
      <p:sp>
        <p:nvSpPr>
          <p:cNvPr id="16" name="texte-346"/>
          <p:cNvSpPr txBox="1"/>
          <p:nvPr/>
        </p:nvSpPr>
        <p:spPr>
          <a:xfrm>
            <a:off x="9235440" y="1463040"/>
            <a:ext cx="2148840" cy="411480"/>
          </a:xfrm>
          <a:prstGeom prst="rect">
            <a:avLst/>
          </a:prstGeom>
          <a:noFill/>
          <a:ln/>
        </p:spPr>
        <p:txBody>
          <a:bodyPr wrap="square" lIns="0" tIns="0" rIns="0" bIns="0" rtlCol="0" anchor="t"/>
          <a:lstStyle/>
          <a:p>
            <a:pPr marL="0" indent="0">
              <a:buNone/>
            </a:pPr>
            <a:r>
              <a:rPr lang="en-US" sz="1800" b="1" dirty="0">
                <a:solidFill>
                  <a:schemeClr val="accent2"/>
                </a:solidFill>
              </a:rPr>
              <a:t>deploy</a:t>
            </a:r>
            <a:endParaRPr lang="en-US" sz="1800" dirty="0"/>
          </a:p>
        </p:txBody>
      </p:sp>
      <p:sp>
        <p:nvSpPr>
          <p:cNvPr id="17" name="texte-347"/>
          <p:cNvSpPr txBox="1"/>
          <p:nvPr/>
        </p:nvSpPr>
        <p:spPr>
          <a:xfrm>
            <a:off x="9235440" y="1920240"/>
            <a:ext cx="21488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Render (backend)</a:t>
            </a:r>
            <a:endParaRPr lang="en-US" sz="1400" dirty="0"/>
          </a:p>
          <a:p>
            <a:pPr marL="342900" indent="-342900">
              <a:spcAft>
                <a:spcPts val="600"/>
              </a:spcAft>
              <a:buSzPct val="100000"/>
              <a:buChar char="•"/>
            </a:pPr>
            <a:r>
              <a:rPr lang="en-US" sz="1400" dirty="0">
                <a:solidFill>
                  <a:schemeClr val="tx1"/>
                </a:solidFill>
              </a:rPr>
              <a:t>Vercel (frontend)</a:t>
            </a:r>
            <a:endParaRPr lang="en-US" sz="1400" dirty="0"/>
          </a:p>
          <a:p>
            <a:pPr marL="342900" indent="-342900">
              <a:spcAft>
                <a:spcPts val="600"/>
              </a:spcAft>
              <a:buSzPct val="100000"/>
              <a:buChar char="•"/>
            </a:pPr>
            <a:r>
              <a:rPr lang="en-US" sz="1400" dirty="0">
                <a:solidFill>
                  <a:schemeClr val="tx1"/>
                </a:solidFill>
              </a:rPr>
              <a:t>seulement sur push main</a:t>
            </a:r>
            <a:endParaRPr lang="en-US" sz="1400" dirty="0"/>
          </a:p>
        </p:txBody>
      </p:sp>
      <p:sp>
        <p:nvSpPr>
          <p:cNvPr id="18" name="texte-348"/>
          <p:cNvSpPr txBox="1"/>
          <p:nvPr/>
        </p:nvSpPr>
        <p:spPr>
          <a:xfrm>
            <a:off x="548640" y="3291840"/>
            <a:ext cx="11064240" cy="411480"/>
          </a:xfrm>
          <a:prstGeom prst="rect">
            <a:avLst/>
          </a:prstGeom>
          <a:noFill/>
          <a:ln/>
        </p:spPr>
        <p:txBody>
          <a:bodyPr wrap="square" lIns="0" tIns="0" rIns="0" bIns="0" rtlCol="0" anchor="t"/>
          <a:lstStyle/>
          <a:p>
            <a:pPr marL="0" indent="0">
              <a:buNone/>
            </a:pPr>
            <a:r>
              <a:rPr lang="en-US" sz="1600" b="1" dirty="0">
                <a:solidFill>
                  <a:schemeClr val="accent1"/>
                </a:solidFill>
              </a:rPr>
              <a:t>Une seule erreur arrête la chaîne : une version défectueuse n'arrive pas en production.</a:t>
            </a:r>
            <a:endParaRPr lang="en-US" sz="1600" dirty="0"/>
          </a:p>
        </p:txBody>
      </p:sp>
      <p:sp>
        <p:nvSpPr>
          <p:cNvPr id="19" name="carte-349"/>
          <p:cNvSpPr/>
          <p:nvPr/>
        </p:nvSpPr>
        <p:spPr>
          <a:xfrm>
            <a:off x="548640" y="3931920"/>
            <a:ext cx="4937760" cy="2240280"/>
          </a:xfrm>
          <a:prstGeom prst="roundRect">
            <a:avLst>
              <a:gd name="adj" fmla="val 4898"/>
            </a:avLst>
          </a:prstGeom>
          <a:solidFill>
            <a:schemeClr val="bg2"/>
          </a:solidFill>
          <a:ln/>
        </p:spPr>
        <p:txBody>
          <a:bodyPr/>
          <a:lstStyle/>
          <a:p>
            <a:endParaRPr lang="fr-FR"/>
          </a:p>
        </p:txBody>
      </p:sp>
      <p:sp>
        <p:nvSpPr>
          <p:cNvPr id="20" name="pastille-350"/>
          <p:cNvSpPr/>
          <p:nvPr/>
        </p:nvSpPr>
        <p:spPr>
          <a:xfrm>
            <a:off x="777240" y="4114800"/>
            <a:ext cx="548640" cy="548640"/>
          </a:xfrm>
          <a:prstGeom prst="ellipse">
            <a:avLst/>
          </a:prstGeom>
          <a:solidFill>
            <a:schemeClr val="accent4"/>
          </a:solidFill>
          <a:ln/>
        </p:spPr>
        <p:txBody>
          <a:bodyPr/>
          <a:lstStyle/>
          <a:p>
            <a:endParaRPr lang="fr-FR"/>
          </a:p>
        </p:txBody>
      </p:sp>
      <p:pic>
        <p:nvPicPr>
          <p:cNvPr id="21" name="icone-351" descr="icône"/>
          <p:cNvPicPr>
            <a:picLocks noChangeAspect="1"/>
          </p:cNvPicPr>
          <p:nvPr/>
        </p:nvPicPr>
        <p:blipFill>
          <a:blip r:embed="rId3"/>
          <a:stretch>
            <a:fillRect/>
          </a:stretch>
        </p:blipFill>
        <p:spPr>
          <a:xfrm>
            <a:off x="908914" y="4246474"/>
            <a:ext cx="285293" cy="285293"/>
          </a:xfrm>
          <a:prstGeom prst="rect">
            <a:avLst/>
          </a:prstGeom>
        </p:spPr>
      </p:pic>
      <p:sp>
        <p:nvSpPr>
          <p:cNvPr id="22" name="texte-352"/>
          <p:cNvSpPr txBox="1"/>
          <p:nvPr/>
        </p:nvSpPr>
        <p:spPr>
          <a:xfrm>
            <a:off x="1463040" y="4114800"/>
            <a:ext cx="3840480" cy="548640"/>
          </a:xfrm>
          <a:prstGeom prst="rect">
            <a:avLst/>
          </a:prstGeom>
          <a:noFill/>
          <a:ln/>
        </p:spPr>
        <p:txBody>
          <a:bodyPr wrap="square" lIns="0" tIns="0" rIns="0" bIns="0" rtlCol="0" anchor="ctr"/>
          <a:lstStyle/>
          <a:p>
            <a:pPr marL="0" indent="0">
              <a:buNone/>
            </a:pPr>
            <a:r>
              <a:rPr lang="en-US" sz="1800" b="1" dirty="0">
                <a:solidFill>
                  <a:schemeClr val="tx1"/>
                </a:solidFill>
              </a:rPr>
              <a:t>Secrets GitHub</a:t>
            </a:r>
            <a:endParaRPr lang="en-US" sz="1800" dirty="0"/>
          </a:p>
        </p:txBody>
      </p:sp>
      <p:sp>
        <p:nvSpPr>
          <p:cNvPr id="23" name="texte-353"/>
          <p:cNvSpPr txBox="1"/>
          <p:nvPr/>
        </p:nvSpPr>
        <p:spPr>
          <a:xfrm>
            <a:off x="777240" y="4800600"/>
            <a:ext cx="4526280" cy="1234440"/>
          </a:xfrm>
          <a:prstGeom prst="rect">
            <a:avLst/>
          </a:prstGeom>
          <a:noFill/>
          <a:ln/>
        </p:spPr>
        <p:txBody>
          <a:bodyPr wrap="square" lIns="0" tIns="0" rIns="0" bIns="0" rtlCol="0" anchor="t"/>
          <a:lstStyle/>
          <a:p>
            <a:pPr marL="0" indent="0">
              <a:buNone/>
            </a:pPr>
            <a:r>
              <a:rPr lang="en-US" sz="1300" b="1" dirty="0">
                <a:solidFill>
                  <a:schemeClr val="tx1"/>
                </a:solidFill>
                <a:latin typeface="Courier New" pitchFamily="34" charset="0"/>
                <a:ea typeface="Courier New" pitchFamily="34" charset="-122"/>
                <a:cs typeface="Courier New" pitchFamily="34" charset="-120"/>
              </a:rPr>
              <a:t>RENDER_DEPLOY_HOOK et VERCEL_DEPLOY_HOOK</a:t>
            </a:r>
            <a:endParaRPr lang="en-US" sz="1400" dirty="0"/>
          </a:p>
          <a:p>
            <a:pPr marL="0" indent="0">
              <a:buNone/>
            </a:pPr>
            <a:r>
              <a:rPr lang="en-US" sz="1400" dirty="0">
                <a:solidFill>
                  <a:schemeClr val="tx1"/>
                </a:solidFill>
              </a:rPr>
              <a:t>lus avec ${{ secrets.… }} : absents du dépôt et des logs.</a:t>
            </a:r>
            <a:endParaRPr lang="en-US" sz="1400" dirty="0"/>
          </a:p>
        </p:txBody>
      </p:sp>
      <p:sp>
        <p:nvSpPr>
          <p:cNvPr id="24" name="carte-354"/>
          <p:cNvSpPr/>
          <p:nvPr/>
        </p:nvSpPr>
        <p:spPr>
          <a:xfrm>
            <a:off x="5760720" y="3984468"/>
            <a:ext cx="5852160" cy="2135183"/>
          </a:xfrm>
          <a:prstGeom prst="roundRect">
            <a:avLst>
              <a:gd name="adj" fmla="val 5139"/>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25" name="capture-355" descr="Capture i080"/>
          <p:cNvPicPr>
            <a:picLocks noChangeAspect="1"/>
          </p:cNvPicPr>
          <p:nvPr/>
        </p:nvPicPr>
        <p:blipFill>
          <a:blip r:embed="rId4"/>
          <a:stretch>
            <a:fillRect/>
          </a:stretch>
        </p:blipFill>
        <p:spPr>
          <a:xfrm>
            <a:off x="5824728" y="4048476"/>
            <a:ext cx="5724144" cy="2007167"/>
          </a:xfrm>
          <a:prstGeom prst="rect">
            <a:avLst/>
          </a:prstGeom>
        </p:spPr>
      </p:pic>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Hébergement et mise en production</a:t>
            </a:r>
            <a:endParaRPr lang="en-US" sz="3200" dirty="0"/>
          </a:p>
        </p:txBody>
      </p:sp>
      <p:sp>
        <p:nvSpPr>
          <p:cNvPr id="3" name="carte-356"/>
          <p:cNvSpPr/>
          <p:nvPr/>
        </p:nvSpPr>
        <p:spPr>
          <a:xfrm>
            <a:off x="548640" y="1245211"/>
            <a:ext cx="6949440" cy="3498898"/>
          </a:xfrm>
          <a:prstGeom prst="roundRect">
            <a:avLst>
              <a:gd name="adj" fmla="val 3136"/>
            </a:avLst>
          </a:prstGeom>
          <a:solidFill>
            <a:schemeClr val="bg1"/>
          </a:solidFill>
          <a:ln w="12700">
            <a:solidFill>
              <a:srgbClr val="D5DBE5"/>
            </a:solidFill>
            <a:prstDash val="solid"/>
          </a:ln>
          <a:effectLst>
            <a:outerShdw blurRad="76200" dist="25400" dir="5400000" algn="bl" rotWithShape="0">
              <a:srgbClr val="000000">
                <a:alpha val="16000"/>
              </a:srgbClr>
            </a:outerShdw>
          </a:effectLst>
        </p:spPr>
        <p:txBody>
          <a:bodyPr/>
          <a:lstStyle/>
          <a:p>
            <a:endParaRPr lang="fr-FR"/>
          </a:p>
        </p:txBody>
      </p:sp>
      <p:pic>
        <p:nvPicPr>
          <p:cNvPr id="4" name="capture-357" descr="Capture i082"/>
          <p:cNvPicPr>
            <a:picLocks noChangeAspect="1"/>
          </p:cNvPicPr>
          <p:nvPr/>
        </p:nvPicPr>
        <p:blipFill>
          <a:blip r:embed="rId3"/>
          <a:stretch>
            <a:fillRect/>
          </a:stretch>
        </p:blipFill>
        <p:spPr>
          <a:xfrm>
            <a:off x="612648" y="1309219"/>
            <a:ext cx="6821424" cy="3370882"/>
          </a:xfrm>
          <a:prstGeom prst="rect">
            <a:avLst/>
          </a:prstGeom>
        </p:spPr>
      </p:pic>
      <p:sp>
        <p:nvSpPr>
          <p:cNvPr id="5" name="carte-358"/>
          <p:cNvSpPr/>
          <p:nvPr/>
        </p:nvSpPr>
        <p:spPr>
          <a:xfrm>
            <a:off x="7863840" y="1325880"/>
            <a:ext cx="3749040" cy="1005840"/>
          </a:xfrm>
          <a:prstGeom prst="roundRect">
            <a:avLst>
              <a:gd name="adj" fmla="val 10909"/>
            </a:avLst>
          </a:prstGeom>
          <a:solidFill>
            <a:schemeClr val="bg2"/>
          </a:solidFill>
          <a:ln/>
        </p:spPr>
        <p:txBody>
          <a:bodyPr/>
          <a:lstStyle/>
          <a:p>
            <a:endParaRPr lang="fr-FR"/>
          </a:p>
        </p:txBody>
      </p:sp>
      <p:sp>
        <p:nvSpPr>
          <p:cNvPr id="6" name="pastille-359"/>
          <p:cNvSpPr/>
          <p:nvPr/>
        </p:nvSpPr>
        <p:spPr>
          <a:xfrm>
            <a:off x="8046720" y="1527048"/>
            <a:ext cx="603504" cy="603504"/>
          </a:xfrm>
          <a:prstGeom prst="ellipse">
            <a:avLst/>
          </a:prstGeom>
          <a:solidFill>
            <a:schemeClr val="tx1"/>
          </a:solidFill>
          <a:ln/>
        </p:spPr>
        <p:txBody>
          <a:bodyPr/>
          <a:lstStyle/>
          <a:p>
            <a:endParaRPr lang="fr-FR"/>
          </a:p>
        </p:txBody>
      </p:sp>
      <p:pic>
        <p:nvPicPr>
          <p:cNvPr id="7" name="icone-360" descr="icône"/>
          <p:cNvPicPr>
            <a:picLocks noChangeAspect="1"/>
          </p:cNvPicPr>
          <p:nvPr/>
        </p:nvPicPr>
        <p:blipFill>
          <a:blip r:embed="rId4"/>
          <a:stretch>
            <a:fillRect/>
          </a:stretch>
        </p:blipFill>
        <p:spPr>
          <a:xfrm>
            <a:off x="8191561" y="1671889"/>
            <a:ext cx="313822" cy="313822"/>
          </a:xfrm>
          <a:prstGeom prst="rect">
            <a:avLst/>
          </a:prstGeom>
        </p:spPr>
      </p:pic>
      <p:sp>
        <p:nvSpPr>
          <p:cNvPr id="8" name="texte-361"/>
          <p:cNvSpPr txBox="1"/>
          <p:nvPr/>
        </p:nvSpPr>
        <p:spPr>
          <a:xfrm>
            <a:off x="8823960" y="1417320"/>
            <a:ext cx="2697480" cy="822960"/>
          </a:xfrm>
          <a:prstGeom prst="rect">
            <a:avLst/>
          </a:prstGeom>
          <a:noFill/>
          <a:ln/>
        </p:spPr>
        <p:txBody>
          <a:bodyPr wrap="square" lIns="0" tIns="0" rIns="0" bIns="0" rtlCol="0" anchor="ctr"/>
          <a:lstStyle/>
          <a:p>
            <a:pPr marL="0" indent="0">
              <a:buNone/>
            </a:pPr>
            <a:r>
              <a:rPr lang="en-US" sz="1600" b="1" dirty="0">
                <a:solidFill>
                  <a:schemeClr val="tx1"/>
                </a:solidFill>
              </a:rPr>
              <a:t>Vercel</a:t>
            </a:r>
            <a:endParaRPr lang="en-US" sz="1400" dirty="0"/>
          </a:p>
          <a:p>
            <a:pPr marL="0" indent="0">
              <a:buNone/>
            </a:pPr>
            <a:r>
              <a:rPr lang="en-US" sz="1400" dirty="0">
                <a:solidFill>
                  <a:schemeClr val="accent6"/>
                </a:solidFill>
              </a:rPr>
              <a:t>frontend, site statique</a:t>
            </a:r>
            <a:endParaRPr lang="en-US" sz="1400" dirty="0"/>
          </a:p>
        </p:txBody>
      </p:sp>
      <p:sp>
        <p:nvSpPr>
          <p:cNvPr id="9" name="carte-362"/>
          <p:cNvSpPr/>
          <p:nvPr/>
        </p:nvSpPr>
        <p:spPr>
          <a:xfrm>
            <a:off x="7863840" y="2514600"/>
            <a:ext cx="3749040" cy="1005840"/>
          </a:xfrm>
          <a:prstGeom prst="roundRect">
            <a:avLst>
              <a:gd name="adj" fmla="val 10909"/>
            </a:avLst>
          </a:prstGeom>
          <a:solidFill>
            <a:schemeClr val="bg2"/>
          </a:solidFill>
          <a:ln/>
        </p:spPr>
        <p:txBody>
          <a:bodyPr/>
          <a:lstStyle/>
          <a:p>
            <a:endParaRPr lang="fr-FR"/>
          </a:p>
        </p:txBody>
      </p:sp>
      <p:sp>
        <p:nvSpPr>
          <p:cNvPr id="10" name="pastille-363"/>
          <p:cNvSpPr/>
          <p:nvPr/>
        </p:nvSpPr>
        <p:spPr>
          <a:xfrm>
            <a:off x="8046720" y="2715768"/>
            <a:ext cx="603504" cy="603504"/>
          </a:xfrm>
          <a:prstGeom prst="ellipse">
            <a:avLst/>
          </a:prstGeom>
          <a:solidFill>
            <a:schemeClr val="tx1"/>
          </a:solidFill>
          <a:ln/>
        </p:spPr>
        <p:txBody>
          <a:bodyPr/>
          <a:lstStyle/>
          <a:p>
            <a:endParaRPr lang="fr-FR"/>
          </a:p>
        </p:txBody>
      </p:sp>
      <p:pic>
        <p:nvPicPr>
          <p:cNvPr id="11" name="icone-364" descr="icône"/>
          <p:cNvPicPr>
            <a:picLocks noChangeAspect="1"/>
          </p:cNvPicPr>
          <p:nvPr/>
        </p:nvPicPr>
        <p:blipFill>
          <a:blip r:embed="rId5"/>
          <a:stretch>
            <a:fillRect/>
          </a:stretch>
        </p:blipFill>
        <p:spPr>
          <a:xfrm>
            <a:off x="8191561" y="2860609"/>
            <a:ext cx="313822" cy="313822"/>
          </a:xfrm>
          <a:prstGeom prst="rect">
            <a:avLst/>
          </a:prstGeom>
        </p:spPr>
      </p:pic>
      <p:sp>
        <p:nvSpPr>
          <p:cNvPr id="12" name="texte-365"/>
          <p:cNvSpPr txBox="1"/>
          <p:nvPr/>
        </p:nvSpPr>
        <p:spPr>
          <a:xfrm>
            <a:off x="8823960" y="2606040"/>
            <a:ext cx="2697480" cy="822960"/>
          </a:xfrm>
          <a:prstGeom prst="rect">
            <a:avLst/>
          </a:prstGeom>
          <a:noFill/>
          <a:ln/>
        </p:spPr>
        <p:txBody>
          <a:bodyPr wrap="square" lIns="0" tIns="0" rIns="0" bIns="0" rtlCol="0" anchor="ctr"/>
          <a:lstStyle/>
          <a:p>
            <a:pPr marL="0" indent="0">
              <a:buNone/>
            </a:pPr>
            <a:r>
              <a:rPr lang="en-US" sz="1600" b="1" dirty="0">
                <a:solidFill>
                  <a:schemeClr val="tx1"/>
                </a:solidFill>
              </a:rPr>
              <a:t>Render</a:t>
            </a:r>
            <a:endParaRPr lang="en-US" sz="1400" dirty="0"/>
          </a:p>
          <a:p>
            <a:pPr marL="0" indent="0">
              <a:buNone/>
            </a:pPr>
            <a:r>
              <a:rPr lang="en-US" sz="1400" dirty="0">
                <a:solidFill>
                  <a:schemeClr val="accent6"/>
                </a:solidFill>
              </a:rPr>
              <a:t>backend, depuis l'image Docker</a:t>
            </a:r>
            <a:endParaRPr lang="en-US" sz="1400" dirty="0"/>
          </a:p>
        </p:txBody>
      </p:sp>
      <p:sp>
        <p:nvSpPr>
          <p:cNvPr id="13" name="carte-366"/>
          <p:cNvSpPr/>
          <p:nvPr/>
        </p:nvSpPr>
        <p:spPr>
          <a:xfrm>
            <a:off x="7863840" y="3703320"/>
            <a:ext cx="3749040" cy="1005840"/>
          </a:xfrm>
          <a:prstGeom prst="roundRect">
            <a:avLst>
              <a:gd name="adj" fmla="val 10909"/>
            </a:avLst>
          </a:prstGeom>
          <a:solidFill>
            <a:schemeClr val="bg2"/>
          </a:solidFill>
          <a:ln/>
        </p:spPr>
        <p:txBody>
          <a:bodyPr/>
          <a:lstStyle/>
          <a:p>
            <a:endParaRPr lang="fr-FR"/>
          </a:p>
        </p:txBody>
      </p:sp>
      <p:sp>
        <p:nvSpPr>
          <p:cNvPr id="14" name="pastille-367"/>
          <p:cNvSpPr/>
          <p:nvPr/>
        </p:nvSpPr>
        <p:spPr>
          <a:xfrm>
            <a:off x="8046720" y="3904488"/>
            <a:ext cx="603504" cy="603504"/>
          </a:xfrm>
          <a:prstGeom prst="ellipse">
            <a:avLst/>
          </a:prstGeom>
          <a:solidFill>
            <a:schemeClr val="tx1"/>
          </a:solidFill>
          <a:ln/>
        </p:spPr>
        <p:txBody>
          <a:bodyPr/>
          <a:lstStyle/>
          <a:p>
            <a:endParaRPr lang="fr-FR"/>
          </a:p>
        </p:txBody>
      </p:sp>
      <p:pic>
        <p:nvPicPr>
          <p:cNvPr id="15" name="icone-368" descr="icône"/>
          <p:cNvPicPr>
            <a:picLocks noChangeAspect="1"/>
          </p:cNvPicPr>
          <p:nvPr/>
        </p:nvPicPr>
        <p:blipFill>
          <a:blip r:embed="rId6"/>
          <a:stretch>
            <a:fillRect/>
          </a:stretch>
        </p:blipFill>
        <p:spPr>
          <a:xfrm>
            <a:off x="8191561" y="4049329"/>
            <a:ext cx="313822" cy="313822"/>
          </a:xfrm>
          <a:prstGeom prst="rect">
            <a:avLst/>
          </a:prstGeom>
        </p:spPr>
      </p:pic>
      <p:sp>
        <p:nvSpPr>
          <p:cNvPr id="16" name="texte-369"/>
          <p:cNvSpPr txBox="1"/>
          <p:nvPr/>
        </p:nvSpPr>
        <p:spPr>
          <a:xfrm>
            <a:off x="8823960" y="3794760"/>
            <a:ext cx="2697480" cy="822960"/>
          </a:xfrm>
          <a:prstGeom prst="rect">
            <a:avLst/>
          </a:prstGeom>
          <a:noFill/>
          <a:ln/>
        </p:spPr>
        <p:txBody>
          <a:bodyPr wrap="square" lIns="0" tIns="0" rIns="0" bIns="0" rtlCol="0" anchor="ctr"/>
          <a:lstStyle/>
          <a:p>
            <a:pPr marL="0" indent="0">
              <a:buNone/>
            </a:pPr>
            <a:r>
              <a:rPr lang="en-US" sz="1600" b="1" dirty="0">
                <a:solidFill>
                  <a:schemeClr val="tx1"/>
                </a:solidFill>
              </a:rPr>
              <a:t>MongoDB Atlas</a:t>
            </a:r>
            <a:endParaRPr lang="en-US" sz="1400" dirty="0"/>
          </a:p>
          <a:p>
            <a:pPr marL="0" indent="0">
              <a:buNone/>
            </a:pPr>
            <a:r>
              <a:rPr lang="en-US" sz="1400" dirty="0">
                <a:solidFill>
                  <a:schemeClr val="accent6"/>
                </a:solidFill>
              </a:rPr>
              <a:t>base de données managée</a:t>
            </a:r>
            <a:endParaRPr lang="en-US" sz="1400" dirty="0"/>
          </a:p>
        </p:txBody>
      </p:sp>
      <p:sp>
        <p:nvSpPr>
          <p:cNvPr id="17" name="carte-370"/>
          <p:cNvSpPr/>
          <p:nvPr/>
        </p:nvSpPr>
        <p:spPr>
          <a:xfrm>
            <a:off x="548640" y="4983480"/>
            <a:ext cx="11064240" cy="1188720"/>
          </a:xfrm>
          <a:prstGeom prst="roundRect">
            <a:avLst>
              <a:gd name="adj" fmla="val 9231"/>
            </a:avLst>
          </a:prstGeom>
          <a:solidFill>
            <a:schemeClr val="tx1"/>
          </a:solidFill>
          <a:ln/>
        </p:spPr>
        <p:txBody>
          <a:bodyPr/>
          <a:lstStyle/>
          <a:p>
            <a:endParaRPr lang="fr-FR"/>
          </a:p>
        </p:txBody>
      </p:sp>
      <p:sp>
        <p:nvSpPr>
          <p:cNvPr id="18" name="texte-371"/>
          <p:cNvSpPr txBox="1"/>
          <p:nvPr/>
        </p:nvSpPr>
        <p:spPr>
          <a:xfrm>
            <a:off x="822960" y="5029200"/>
            <a:ext cx="10515600" cy="1097280"/>
          </a:xfrm>
          <a:prstGeom prst="rect">
            <a:avLst/>
          </a:prstGeom>
          <a:noFill/>
          <a:ln/>
        </p:spPr>
        <p:txBody>
          <a:bodyPr wrap="square" lIns="0" tIns="0" rIns="0" bIns="0" rtlCol="0" anchor="ctr"/>
          <a:lstStyle/>
          <a:p>
            <a:pPr marL="0" indent="0">
              <a:buNone/>
            </a:pPr>
            <a:r>
              <a:rPr lang="en-US" sz="1500" b="1" dirty="0">
                <a:solidFill>
                  <a:schemeClr val="accent3"/>
                </a:solidFill>
              </a:rPr>
              <a:t>Cycle complet  </a:t>
            </a:r>
            <a:r>
              <a:rPr lang="en-US" sz="1500" dirty="0">
                <a:solidFill>
                  <a:schemeClr val="bg1"/>
                </a:solidFill>
              </a:rPr>
              <a:t>Filtres et tri des tâches : push sur main → pipeline au vert → Deploy Hook → Render et Vercel mettent en ligne la nouvelle version. Les variables de production sont saisies dans Render et Vercel, jamais dans le code.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Logiciels utilisés</a:t>
            </a:r>
            <a:endParaRPr lang="en-US" sz="3200" dirty="0"/>
          </a:p>
        </p:txBody>
      </p:sp>
      <p:sp>
        <p:nvSpPr>
          <p:cNvPr id="3" name="carte-372"/>
          <p:cNvSpPr/>
          <p:nvPr/>
        </p:nvSpPr>
        <p:spPr>
          <a:xfrm>
            <a:off x="548640" y="1280160"/>
            <a:ext cx="2651760" cy="4343400"/>
          </a:xfrm>
          <a:prstGeom prst="roundRect">
            <a:avLst>
              <a:gd name="adj" fmla="val 4138"/>
            </a:avLst>
          </a:prstGeom>
          <a:solidFill>
            <a:schemeClr val="bg2"/>
          </a:solidFill>
          <a:ln/>
        </p:spPr>
        <p:txBody>
          <a:bodyPr/>
          <a:lstStyle/>
          <a:p>
            <a:endParaRPr lang="fr-FR"/>
          </a:p>
        </p:txBody>
      </p:sp>
      <p:sp>
        <p:nvSpPr>
          <p:cNvPr id="4" name="pastille-373"/>
          <p:cNvSpPr/>
          <p:nvPr/>
        </p:nvSpPr>
        <p:spPr>
          <a:xfrm>
            <a:off x="822960" y="1508760"/>
            <a:ext cx="548640" cy="548640"/>
          </a:xfrm>
          <a:prstGeom prst="ellipse">
            <a:avLst/>
          </a:prstGeom>
          <a:solidFill>
            <a:schemeClr val="accent1"/>
          </a:solidFill>
          <a:ln/>
        </p:spPr>
        <p:txBody>
          <a:bodyPr/>
          <a:lstStyle/>
          <a:p>
            <a:endParaRPr lang="fr-FR"/>
          </a:p>
        </p:txBody>
      </p:sp>
      <p:pic>
        <p:nvPicPr>
          <p:cNvPr id="5" name="icone-374" descr="icône"/>
          <p:cNvPicPr>
            <a:picLocks noChangeAspect="1"/>
          </p:cNvPicPr>
          <p:nvPr/>
        </p:nvPicPr>
        <p:blipFill>
          <a:blip r:embed="rId3"/>
          <a:stretch>
            <a:fillRect/>
          </a:stretch>
        </p:blipFill>
        <p:spPr>
          <a:xfrm>
            <a:off x="954634" y="1640434"/>
            <a:ext cx="285293" cy="285293"/>
          </a:xfrm>
          <a:prstGeom prst="rect">
            <a:avLst/>
          </a:prstGeom>
        </p:spPr>
      </p:pic>
      <p:sp>
        <p:nvSpPr>
          <p:cNvPr id="6" name="texte-375"/>
          <p:cNvSpPr txBox="1"/>
          <p:nvPr/>
        </p:nvSpPr>
        <p:spPr>
          <a:xfrm>
            <a:off x="1508760" y="1508760"/>
            <a:ext cx="1554480" cy="548640"/>
          </a:xfrm>
          <a:prstGeom prst="rect">
            <a:avLst/>
          </a:prstGeom>
          <a:noFill/>
          <a:ln/>
        </p:spPr>
        <p:txBody>
          <a:bodyPr wrap="square" lIns="0" tIns="0" rIns="0" bIns="0" rtlCol="0" anchor="ctr"/>
          <a:lstStyle/>
          <a:p>
            <a:pPr marL="0" indent="0">
              <a:buNone/>
            </a:pPr>
            <a:r>
              <a:rPr lang="en-US" sz="1800" b="1" dirty="0">
                <a:solidFill>
                  <a:schemeClr val="tx1"/>
                </a:solidFill>
              </a:rPr>
              <a:t>Outils</a:t>
            </a:r>
            <a:endParaRPr lang="en-US" sz="1800" dirty="0"/>
          </a:p>
        </p:txBody>
      </p:sp>
      <p:sp>
        <p:nvSpPr>
          <p:cNvPr id="7" name="texte-376"/>
          <p:cNvSpPr txBox="1"/>
          <p:nvPr/>
        </p:nvSpPr>
        <p:spPr>
          <a:xfrm>
            <a:off x="822960" y="2286000"/>
            <a:ext cx="219456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VS Code</a:t>
            </a:r>
            <a:endParaRPr lang="en-US" sz="1500" dirty="0"/>
          </a:p>
          <a:p>
            <a:pPr marL="342900" indent="-342900">
              <a:spcAft>
                <a:spcPts val="600"/>
              </a:spcAft>
              <a:buSzPct val="100000"/>
              <a:buChar char="•"/>
            </a:pPr>
            <a:r>
              <a:rPr lang="en-US" sz="1500" dirty="0">
                <a:solidFill>
                  <a:schemeClr val="tx1"/>
                </a:solidFill>
              </a:rPr>
              <a:t>Git, GitHub</a:t>
            </a:r>
            <a:endParaRPr lang="en-US" sz="1500" dirty="0"/>
          </a:p>
          <a:p>
            <a:pPr marL="342900" indent="-342900">
              <a:spcAft>
                <a:spcPts val="600"/>
              </a:spcAft>
              <a:buSzPct val="100000"/>
              <a:buChar char="•"/>
            </a:pPr>
            <a:r>
              <a:rPr lang="en-US" sz="1500" dirty="0">
                <a:solidFill>
                  <a:schemeClr val="tx1"/>
                </a:solidFill>
              </a:rPr>
              <a:t>Postman</a:t>
            </a:r>
            <a:endParaRPr lang="en-US" sz="1500" dirty="0"/>
          </a:p>
          <a:p>
            <a:pPr marL="342900" indent="-342900">
              <a:spcAft>
                <a:spcPts val="600"/>
              </a:spcAft>
              <a:buSzPct val="100000"/>
              <a:buChar char="•"/>
            </a:pPr>
            <a:r>
              <a:rPr lang="en-US" sz="1500" dirty="0">
                <a:solidFill>
                  <a:schemeClr val="tx1"/>
                </a:solidFill>
              </a:rPr>
              <a:t>Docker Desktop</a:t>
            </a:r>
            <a:endParaRPr lang="en-US" sz="1500" dirty="0"/>
          </a:p>
          <a:p>
            <a:pPr marL="342900" indent="-342900">
              <a:spcAft>
                <a:spcPts val="600"/>
              </a:spcAft>
              <a:buSzPct val="100000"/>
              <a:buChar char="•"/>
            </a:pPr>
            <a:r>
              <a:rPr lang="en-US" sz="1500" dirty="0">
                <a:solidFill>
                  <a:schemeClr val="tx1"/>
                </a:solidFill>
              </a:rPr>
              <a:t>MongoDB Atlas</a:t>
            </a:r>
            <a:endParaRPr lang="en-US" sz="1500" dirty="0"/>
          </a:p>
          <a:p>
            <a:pPr marL="342900" indent="-342900">
              <a:spcAft>
                <a:spcPts val="600"/>
              </a:spcAft>
              <a:buSzPct val="100000"/>
              <a:buChar char="•"/>
            </a:pPr>
            <a:r>
              <a:rPr lang="en-US" sz="1500" dirty="0">
                <a:solidFill>
                  <a:schemeClr val="tx1"/>
                </a:solidFill>
              </a:rPr>
              <a:t>Render, Vercel</a:t>
            </a:r>
            <a:endParaRPr lang="en-US" sz="1500" dirty="0"/>
          </a:p>
        </p:txBody>
      </p:sp>
      <p:sp>
        <p:nvSpPr>
          <p:cNvPr id="8" name="carte-377"/>
          <p:cNvSpPr/>
          <p:nvPr/>
        </p:nvSpPr>
        <p:spPr>
          <a:xfrm>
            <a:off x="3383280" y="1280160"/>
            <a:ext cx="2651760" cy="4343400"/>
          </a:xfrm>
          <a:prstGeom prst="roundRect">
            <a:avLst>
              <a:gd name="adj" fmla="val 4138"/>
            </a:avLst>
          </a:prstGeom>
          <a:solidFill>
            <a:schemeClr val="bg2"/>
          </a:solidFill>
          <a:ln/>
        </p:spPr>
        <p:txBody>
          <a:bodyPr/>
          <a:lstStyle/>
          <a:p>
            <a:endParaRPr lang="fr-FR"/>
          </a:p>
        </p:txBody>
      </p:sp>
      <p:sp>
        <p:nvSpPr>
          <p:cNvPr id="9" name="pastille-378"/>
          <p:cNvSpPr/>
          <p:nvPr/>
        </p:nvSpPr>
        <p:spPr>
          <a:xfrm>
            <a:off x="3657600" y="1508760"/>
            <a:ext cx="548640" cy="548640"/>
          </a:xfrm>
          <a:prstGeom prst="ellipse">
            <a:avLst/>
          </a:prstGeom>
          <a:solidFill>
            <a:schemeClr val="accent1"/>
          </a:solidFill>
          <a:ln/>
        </p:spPr>
        <p:txBody>
          <a:bodyPr/>
          <a:lstStyle/>
          <a:p>
            <a:endParaRPr lang="fr-FR"/>
          </a:p>
        </p:txBody>
      </p:sp>
      <p:pic>
        <p:nvPicPr>
          <p:cNvPr id="10" name="icone-379" descr="icône"/>
          <p:cNvPicPr>
            <a:picLocks noChangeAspect="1"/>
          </p:cNvPicPr>
          <p:nvPr/>
        </p:nvPicPr>
        <p:blipFill>
          <a:blip r:embed="rId4"/>
          <a:stretch>
            <a:fillRect/>
          </a:stretch>
        </p:blipFill>
        <p:spPr>
          <a:xfrm>
            <a:off x="3789274" y="1640434"/>
            <a:ext cx="285293" cy="285293"/>
          </a:xfrm>
          <a:prstGeom prst="rect">
            <a:avLst/>
          </a:prstGeom>
        </p:spPr>
      </p:pic>
      <p:sp>
        <p:nvSpPr>
          <p:cNvPr id="11" name="texte-380"/>
          <p:cNvSpPr txBox="1"/>
          <p:nvPr/>
        </p:nvSpPr>
        <p:spPr>
          <a:xfrm>
            <a:off x="4343400" y="1508760"/>
            <a:ext cx="1554480" cy="548640"/>
          </a:xfrm>
          <a:prstGeom prst="rect">
            <a:avLst/>
          </a:prstGeom>
          <a:noFill/>
          <a:ln/>
        </p:spPr>
        <p:txBody>
          <a:bodyPr wrap="square" lIns="0" tIns="0" rIns="0" bIns="0" rtlCol="0" anchor="ctr"/>
          <a:lstStyle/>
          <a:p>
            <a:pPr marL="0" indent="0">
              <a:buNone/>
            </a:pPr>
            <a:r>
              <a:rPr lang="en-US" sz="1800" b="1" dirty="0">
                <a:solidFill>
                  <a:schemeClr val="tx1"/>
                </a:solidFill>
              </a:rPr>
              <a:t>Backend</a:t>
            </a:r>
            <a:endParaRPr lang="en-US" sz="1800" dirty="0"/>
          </a:p>
        </p:txBody>
      </p:sp>
      <p:sp>
        <p:nvSpPr>
          <p:cNvPr id="12" name="texte-381"/>
          <p:cNvSpPr txBox="1"/>
          <p:nvPr/>
        </p:nvSpPr>
        <p:spPr>
          <a:xfrm>
            <a:off x="3657600" y="2286000"/>
            <a:ext cx="219456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Express, Mongoose</a:t>
            </a:r>
            <a:endParaRPr lang="en-US" sz="1500" dirty="0"/>
          </a:p>
          <a:p>
            <a:pPr marL="342900" indent="-342900">
              <a:spcAft>
                <a:spcPts val="600"/>
              </a:spcAft>
              <a:buSzPct val="100000"/>
              <a:buChar char="•"/>
            </a:pPr>
            <a:r>
              <a:rPr lang="en-US" sz="1500" dirty="0">
                <a:solidFill>
                  <a:schemeClr val="tx1"/>
                </a:solidFill>
              </a:rPr>
              <a:t>express-validator</a:t>
            </a:r>
            <a:endParaRPr lang="en-US" sz="1500" dirty="0"/>
          </a:p>
          <a:p>
            <a:pPr marL="342900" indent="-342900">
              <a:spcAft>
                <a:spcPts val="600"/>
              </a:spcAft>
              <a:buSzPct val="100000"/>
              <a:buChar char="•"/>
            </a:pPr>
            <a:r>
              <a:rPr lang="en-US" sz="1500" dirty="0">
                <a:solidFill>
                  <a:schemeClr val="tx1"/>
                </a:solidFill>
              </a:rPr>
              <a:t>bcrypt, jsonwebtoken</a:t>
            </a:r>
            <a:endParaRPr lang="en-US" sz="1500" dirty="0"/>
          </a:p>
          <a:p>
            <a:pPr marL="342900" indent="-342900">
              <a:spcAft>
                <a:spcPts val="600"/>
              </a:spcAft>
              <a:buSzPct val="100000"/>
              <a:buChar char="•"/>
            </a:pPr>
            <a:r>
              <a:rPr lang="en-US" sz="1500" dirty="0">
                <a:solidFill>
                  <a:schemeClr val="tx1"/>
                </a:solidFill>
              </a:rPr>
              <a:t>dotenv, cross-env</a:t>
            </a:r>
            <a:endParaRPr lang="en-US" sz="1500" dirty="0"/>
          </a:p>
          <a:p>
            <a:pPr marL="342900" indent="-342900">
              <a:spcAft>
                <a:spcPts val="600"/>
              </a:spcAft>
              <a:buSzPct val="100000"/>
              <a:buChar char="•"/>
            </a:pPr>
            <a:r>
              <a:rPr lang="en-US" sz="1500" dirty="0">
                <a:solidFill>
                  <a:schemeClr val="tx1"/>
                </a:solidFill>
              </a:rPr>
              <a:t>cors, rate-limit</a:t>
            </a:r>
            <a:endParaRPr lang="en-US" sz="1500" dirty="0"/>
          </a:p>
          <a:p>
            <a:pPr marL="342900" indent="-342900">
              <a:spcAft>
                <a:spcPts val="600"/>
              </a:spcAft>
              <a:buSzPct val="100000"/>
              <a:buChar char="•"/>
            </a:pPr>
            <a:r>
              <a:rPr lang="en-US" sz="1500" dirty="0">
                <a:solidFill>
                  <a:schemeClr val="tx1"/>
                </a:solidFill>
              </a:rPr>
              <a:t>multer, Swagger</a:t>
            </a:r>
            <a:endParaRPr lang="en-US" sz="1500" dirty="0"/>
          </a:p>
        </p:txBody>
      </p:sp>
      <p:sp>
        <p:nvSpPr>
          <p:cNvPr id="13" name="carte-382"/>
          <p:cNvSpPr/>
          <p:nvPr/>
        </p:nvSpPr>
        <p:spPr>
          <a:xfrm>
            <a:off x="6217920" y="1280160"/>
            <a:ext cx="2651760" cy="4343400"/>
          </a:xfrm>
          <a:prstGeom prst="roundRect">
            <a:avLst>
              <a:gd name="adj" fmla="val 4138"/>
            </a:avLst>
          </a:prstGeom>
          <a:solidFill>
            <a:schemeClr val="bg2"/>
          </a:solidFill>
          <a:ln/>
        </p:spPr>
        <p:txBody>
          <a:bodyPr/>
          <a:lstStyle/>
          <a:p>
            <a:endParaRPr lang="fr-FR"/>
          </a:p>
        </p:txBody>
      </p:sp>
      <p:sp>
        <p:nvSpPr>
          <p:cNvPr id="14" name="pastille-383"/>
          <p:cNvSpPr/>
          <p:nvPr/>
        </p:nvSpPr>
        <p:spPr>
          <a:xfrm>
            <a:off x="6492240" y="1508760"/>
            <a:ext cx="548640" cy="548640"/>
          </a:xfrm>
          <a:prstGeom prst="ellipse">
            <a:avLst/>
          </a:prstGeom>
          <a:solidFill>
            <a:schemeClr val="accent1"/>
          </a:solidFill>
          <a:ln/>
        </p:spPr>
        <p:txBody>
          <a:bodyPr/>
          <a:lstStyle/>
          <a:p>
            <a:endParaRPr lang="fr-FR"/>
          </a:p>
        </p:txBody>
      </p:sp>
      <p:pic>
        <p:nvPicPr>
          <p:cNvPr id="15" name="icone-384" descr="icône"/>
          <p:cNvPicPr>
            <a:picLocks noChangeAspect="1"/>
          </p:cNvPicPr>
          <p:nvPr/>
        </p:nvPicPr>
        <p:blipFill>
          <a:blip r:embed="rId5"/>
          <a:stretch>
            <a:fillRect/>
          </a:stretch>
        </p:blipFill>
        <p:spPr>
          <a:xfrm>
            <a:off x="6623914" y="1640434"/>
            <a:ext cx="285293" cy="285293"/>
          </a:xfrm>
          <a:prstGeom prst="rect">
            <a:avLst/>
          </a:prstGeom>
        </p:spPr>
      </p:pic>
      <p:sp>
        <p:nvSpPr>
          <p:cNvPr id="16" name="texte-385"/>
          <p:cNvSpPr txBox="1"/>
          <p:nvPr/>
        </p:nvSpPr>
        <p:spPr>
          <a:xfrm>
            <a:off x="7178040" y="1508760"/>
            <a:ext cx="1554480" cy="548640"/>
          </a:xfrm>
          <a:prstGeom prst="rect">
            <a:avLst/>
          </a:prstGeom>
          <a:noFill/>
          <a:ln/>
        </p:spPr>
        <p:txBody>
          <a:bodyPr wrap="square" lIns="0" tIns="0" rIns="0" bIns="0" rtlCol="0" anchor="ctr"/>
          <a:lstStyle/>
          <a:p>
            <a:pPr marL="0" indent="0">
              <a:buNone/>
            </a:pPr>
            <a:r>
              <a:rPr lang="en-US" sz="1800" b="1" dirty="0">
                <a:solidFill>
                  <a:schemeClr val="tx1"/>
                </a:solidFill>
              </a:rPr>
              <a:t>Frontend</a:t>
            </a:r>
            <a:endParaRPr lang="en-US" sz="1800" dirty="0"/>
          </a:p>
        </p:txBody>
      </p:sp>
      <p:sp>
        <p:nvSpPr>
          <p:cNvPr id="17" name="texte-386"/>
          <p:cNvSpPr txBox="1"/>
          <p:nvPr/>
        </p:nvSpPr>
        <p:spPr>
          <a:xfrm>
            <a:off x="6492240" y="2286000"/>
            <a:ext cx="219456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React, React DOM</a:t>
            </a:r>
            <a:endParaRPr lang="en-US" sz="1500" dirty="0"/>
          </a:p>
          <a:p>
            <a:pPr marL="342900" indent="-342900">
              <a:spcAft>
                <a:spcPts val="600"/>
              </a:spcAft>
              <a:buSzPct val="100000"/>
              <a:buChar char="•"/>
            </a:pPr>
            <a:r>
              <a:rPr lang="en-US" sz="1500" dirty="0">
                <a:solidFill>
                  <a:schemeClr val="tx1"/>
                </a:solidFill>
              </a:rPr>
              <a:t>React Router</a:t>
            </a:r>
            <a:endParaRPr lang="en-US" sz="1500" dirty="0"/>
          </a:p>
          <a:p>
            <a:pPr marL="342900" indent="-342900">
              <a:spcAft>
                <a:spcPts val="600"/>
              </a:spcAft>
              <a:buSzPct val="100000"/>
              <a:buChar char="•"/>
            </a:pPr>
            <a:r>
              <a:rPr lang="en-US" sz="1500" dirty="0">
                <a:solidFill>
                  <a:schemeClr val="tx1"/>
                </a:solidFill>
              </a:rPr>
              <a:t>Axios</a:t>
            </a:r>
            <a:endParaRPr lang="en-US" sz="1500" dirty="0"/>
          </a:p>
          <a:p>
            <a:pPr marL="342900" indent="-342900">
              <a:spcAft>
                <a:spcPts val="600"/>
              </a:spcAft>
              <a:buSzPct val="100000"/>
              <a:buChar char="•"/>
            </a:pPr>
            <a:r>
              <a:rPr lang="en-US" sz="1500" dirty="0">
                <a:solidFill>
                  <a:schemeClr val="tx1"/>
                </a:solidFill>
              </a:rPr>
              <a:t>Vite</a:t>
            </a:r>
            <a:endParaRPr lang="en-US" sz="1500" dirty="0"/>
          </a:p>
          <a:p>
            <a:pPr marL="342900" indent="-342900">
              <a:spcAft>
                <a:spcPts val="600"/>
              </a:spcAft>
              <a:buSzPct val="100000"/>
              <a:buChar char="•"/>
            </a:pPr>
            <a:r>
              <a:rPr lang="en-US" sz="1500" dirty="0">
                <a:solidFill>
                  <a:schemeClr val="tx1"/>
                </a:solidFill>
              </a:rPr>
              <a:t>Tailwind CSS</a:t>
            </a:r>
            <a:endParaRPr lang="en-US" sz="1500" dirty="0"/>
          </a:p>
        </p:txBody>
      </p:sp>
      <p:sp>
        <p:nvSpPr>
          <p:cNvPr id="18" name="carte-387"/>
          <p:cNvSpPr/>
          <p:nvPr/>
        </p:nvSpPr>
        <p:spPr>
          <a:xfrm>
            <a:off x="9052560" y="1280160"/>
            <a:ext cx="2651760" cy="4343400"/>
          </a:xfrm>
          <a:prstGeom prst="roundRect">
            <a:avLst>
              <a:gd name="adj" fmla="val 4138"/>
            </a:avLst>
          </a:prstGeom>
          <a:solidFill>
            <a:schemeClr val="bg2"/>
          </a:solidFill>
          <a:ln/>
        </p:spPr>
        <p:txBody>
          <a:bodyPr/>
          <a:lstStyle/>
          <a:p>
            <a:endParaRPr lang="fr-FR"/>
          </a:p>
        </p:txBody>
      </p:sp>
      <p:sp>
        <p:nvSpPr>
          <p:cNvPr id="19" name="pastille-388"/>
          <p:cNvSpPr/>
          <p:nvPr/>
        </p:nvSpPr>
        <p:spPr>
          <a:xfrm>
            <a:off x="9326880" y="1508760"/>
            <a:ext cx="548640" cy="548640"/>
          </a:xfrm>
          <a:prstGeom prst="ellipse">
            <a:avLst/>
          </a:prstGeom>
          <a:solidFill>
            <a:schemeClr val="accent1"/>
          </a:solidFill>
          <a:ln/>
        </p:spPr>
        <p:txBody>
          <a:bodyPr/>
          <a:lstStyle/>
          <a:p>
            <a:endParaRPr lang="fr-FR"/>
          </a:p>
        </p:txBody>
      </p:sp>
      <p:pic>
        <p:nvPicPr>
          <p:cNvPr id="20" name="icone-389" descr="icône"/>
          <p:cNvPicPr>
            <a:picLocks noChangeAspect="1"/>
          </p:cNvPicPr>
          <p:nvPr/>
        </p:nvPicPr>
        <p:blipFill>
          <a:blip r:embed="rId6"/>
          <a:stretch>
            <a:fillRect/>
          </a:stretch>
        </p:blipFill>
        <p:spPr>
          <a:xfrm>
            <a:off x="9458554" y="1640434"/>
            <a:ext cx="285293" cy="285293"/>
          </a:xfrm>
          <a:prstGeom prst="rect">
            <a:avLst/>
          </a:prstGeom>
        </p:spPr>
      </p:pic>
      <p:sp>
        <p:nvSpPr>
          <p:cNvPr id="21" name="texte-390"/>
          <p:cNvSpPr txBox="1"/>
          <p:nvPr/>
        </p:nvSpPr>
        <p:spPr>
          <a:xfrm>
            <a:off x="10012680" y="1508760"/>
            <a:ext cx="1554480" cy="548640"/>
          </a:xfrm>
          <a:prstGeom prst="rect">
            <a:avLst/>
          </a:prstGeom>
          <a:noFill/>
          <a:ln/>
        </p:spPr>
        <p:txBody>
          <a:bodyPr wrap="square" lIns="0" tIns="0" rIns="0" bIns="0" rtlCol="0" anchor="ctr"/>
          <a:lstStyle/>
          <a:p>
            <a:pPr marL="0" indent="0">
              <a:buNone/>
            </a:pPr>
            <a:r>
              <a:rPr lang="en-US" sz="1800" b="1" dirty="0">
                <a:solidFill>
                  <a:schemeClr val="tx1"/>
                </a:solidFill>
              </a:rPr>
              <a:t>Tests et qualité</a:t>
            </a:r>
            <a:endParaRPr lang="en-US" sz="1800" dirty="0"/>
          </a:p>
        </p:txBody>
      </p:sp>
      <p:sp>
        <p:nvSpPr>
          <p:cNvPr id="22" name="texte-391"/>
          <p:cNvSpPr txBox="1"/>
          <p:nvPr/>
        </p:nvSpPr>
        <p:spPr>
          <a:xfrm>
            <a:off x="9326880" y="2286000"/>
            <a:ext cx="219456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Jest, Supertest</a:t>
            </a:r>
            <a:endParaRPr lang="en-US" sz="1500" dirty="0"/>
          </a:p>
          <a:p>
            <a:pPr marL="342900" indent="-342900">
              <a:spcAft>
                <a:spcPts val="600"/>
              </a:spcAft>
              <a:buSzPct val="100000"/>
              <a:buChar char="•"/>
            </a:pPr>
            <a:r>
              <a:rPr lang="en-US" sz="1500" dirty="0">
                <a:solidFill>
                  <a:schemeClr val="tx1"/>
                </a:solidFill>
              </a:rPr>
              <a:t>mongodb-memory-server</a:t>
            </a:r>
            <a:endParaRPr lang="en-US" sz="1500" dirty="0"/>
          </a:p>
          <a:p>
            <a:pPr marL="342900" indent="-342900">
              <a:spcAft>
                <a:spcPts val="600"/>
              </a:spcAft>
              <a:buSzPct val="100000"/>
              <a:buChar char="•"/>
            </a:pPr>
            <a:r>
              <a:rPr lang="en-US" sz="1500" dirty="0">
                <a:solidFill>
                  <a:schemeClr val="tx1"/>
                </a:solidFill>
              </a:rPr>
              <a:t>Vitest, Testing Library</a:t>
            </a:r>
            <a:endParaRPr lang="en-US" sz="1500" dirty="0"/>
          </a:p>
          <a:p>
            <a:pPr marL="342900" indent="-342900">
              <a:spcAft>
                <a:spcPts val="600"/>
              </a:spcAft>
              <a:buSzPct val="100000"/>
              <a:buChar char="•"/>
            </a:pPr>
            <a:r>
              <a:rPr lang="en-US" sz="1500" dirty="0">
                <a:solidFill>
                  <a:schemeClr val="tx1"/>
                </a:solidFill>
              </a:rPr>
              <a:t>jsdom</a:t>
            </a:r>
            <a:endParaRPr lang="en-US" sz="1500" dirty="0"/>
          </a:p>
          <a:p>
            <a:pPr marL="342900" indent="-342900">
              <a:spcAft>
                <a:spcPts val="600"/>
              </a:spcAft>
              <a:buSzPct val="100000"/>
              <a:buChar char="•"/>
            </a:pPr>
            <a:r>
              <a:rPr lang="en-US" sz="1500" dirty="0">
                <a:solidFill>
                  <a:schemeClr val="tx1"/>
                </a:solidFill>
              </a:rPr>
              <a:t>ESLint, Prettier</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
        <p:nvSpPr>
          <p:cNvPr id="26" name="lien-application"/>
          <p:cNvSpPr txBox="1"/>
          <p:nvPr/>
        </p:nvSpPr>
        <p:spPr>
          <a:xfrm>
            <a:off x="548640" y="5760720"/>
            <a:ext cx="11064240" cy="548640"/>
          </a:xfrm>
          <a:prstGeom prst="roundRect">
            <a:avLst>
              <a:gd name="adj" fmla="val 16667"/>
            </a:avLst>
          </a:prstGeom>
          <a:solidFill>
            <a:schemeClr val="tx1"/>
          </a:solidFill>
          <a:ln>
            <a:noFill/>
          </a:ln>
        </p:spPr>
        <p:txBody>
          <a:bodyPr wrap="square" lIns="274320" tIns="0" rIns="274320" bIns="0" rtlCol="0" anchor="ctr"/>
          <a:lstStyle/>
          <a:p>
            <a:pPr marL="0" indent="0">
              <a:buNone/>
            </a:pPr>
            <a:r>
              <a:rPr lang="fr-FR" sz="1800" b="1" dirty="0">
                <a:solidFill>
                  <a:schemeClr val="accent3"/>
                </a:solidFill>
              </a:rPr>
              <a:t>Application en ligne :  </a:t>
            </a:r>
            <a:r>
              <a:rPr lang="fr-FR" sz="1800" u="sng" dirty="0">
                <a:solidFill>
                  <a:schemeClr val="bg1"/>
                </a:solidFill>
                <a:hlinkClick r:id="rIdLienAppli"/>
              </a:rPr>
              <a:t>https://ws-9-front-end.vercel.app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Bilan</a:t>
            </a:r>
            <a:endParaRPr lang="en-US" sz="3200" dirty="0"/>
          </a:p>
        </p:txBody>
      </p:sp>
      <p:sp>
        <p:nvSpPr>
          <p:cNvPr id="3" name="texte-392"/>
          <p:cNvSpPr txBox="1"/>
          <p:nvPr/>
        </p:nvSpPr>
        <p:spPr>
          <a:xfrm>
            <a:off x="548640" y="1417320"/>
            <a:ext cx="2651760" cy="914400"/>
          </a:xfrm>
          <a:prstGeom prst="rect">
            <a:avLst/>
          </a:prstGeom>
          <a:noFill/>
          <a:ln/>
        </p:spPr>
        <p:txBody>
          <a:bodyPr wrap="square" lIns="0" tIns="0" rIns="0" bIns="0" rtlCol="0" anchor="ctr"/>
          <a:lstStyle/>
          <a:p>
            <a:pPr marL="0" indent="0" algn="ctr">
              <a:buNone/>
            </a:pPr>
            <a:r>
              <a:rPr lang="en-US" sz="6000" b="1" dirty="0">
                <a:solidFill>
                  <a:schemeClr val="accent1"/>
                </a:solidFill>
              </a:rPr>
              <a:t>2</a:t>
            </a:r>
            <a:endParaRPr lang="en-US" sz="6000" dirty="0"/>
          </a:p>
        </p:txBody>
      </p:sp>
      <p:sp>
        <p:nvSpPr>
          <p:cNvPr id="4" name="texte-393"/>
          <p:cNvSpPr txBox="1"/>
          <p:nvPr/>
        </p:nvSpPr>
        <p:spPr>
          <a:xfrm>
            <a:off x="548640" y="2331720"/>
            <a:ext cx="2651760" cy="365760"/>
          </a:xfrm>
          <a:prstGeom prst="rect">
            <a:avLst/>
          </a:prstGeom>
          <a:noFill/>
          <a:ln/>
        </p:spPr>
        <p:txBody>
          <a:bodyPr wrap="square" lIns="0" tIns="0" rIns="0" bIns="0" rtlCol="0" anchor="t"/>
          <a:lstStyle/>
          <a:p>
            <a:pPr marL="0" indent="0" algn="ctr">
              <a:buNone/>
            </a:pPr>
            <a:r>
              <a:rPr lang="en-US" sz="1400" dirty="0">
                <a:solidFill>
                  <a:schemeClr val="accent6"/>
                </a:solidFill>
              </a:rPr>
              <a:t>dépôts GitHub</a:t>
            </a:r>
            <a:endParaRPr lang="en-US" sz="1400" dirty="0"/>
          </a:p>
        </p:txBody>
      </p:sp>
      <p:sp>
        <p:nvSpPr>
          <p:cNvPr id="5" name="texte-394"/>
          <p:cNvSpPr txBox="1"/>
          <p:nvPr/>
        </p:nvSpPr>
        <p:spPr>
          <a:xfrm>
            <a:off x="3383280" y="1417320"/>
            <a:ext cx="2651760" cy="914400"/>
          </a:xfrm>
          <a:prstGeom prst="rect">
            <a:avLst/>
          </a:prstGeom>
          <a:noFill/>
          <a:ln/>
        </p:spPr>
        <p:txBody>
          <a:bodyPr wrap="square" lIns="0" tIns="0" rIns="0" bIns="0" rtlCol="0" anchor="ctr"/>
          <a:lstStyle/>
          <a:p>
            <a:pPr marL="0" indent="0" algn="ctr">
              <a:buNone/>
            </a:pPr>
            <a:r>
              <a:rPr lang="en-US" sz="6000" b="1" dirty="0">
                <a:solidFill>
                  <a:schemeClr val="accent1"/>
                </a:solidFill>
              </a:rPr>
              <a:t>3</a:t>
            </a:r>
            <a:endParaRPr lang="en-US" sz="6000" dirty="0"/>
          </a:p>
        </p:txBody>
      </p:sp>
      <p:sp>
        <p:nvSpPr>
          <p:cNvPr id="6" name="texte-395"/>
          <p:cNvSpPr txBox="1"/>
          <p:nvPr/>
        </p:nvSpPr>
        <p:spPr>
          <a:xfrm>
            <a:off x="3383280" y="2331720"/>
            <a:ext cx="2651760" cy="365760"/>
          </a:xfrm>
          <a:prstGeom prst="rect">
            <a:avLst/>
          </a:prstGeom>
          <a:noFill/>
          <a:ln/>
        </p:spPr>
        <p:txBody>
          <a:bodyPr wrap="square" lIns="0" tIns="0" rIns="0" bIns="0" rtlCol="0" anchor="t"/>
          <a:lstStyle/>
          <a:p>
            <a:pPr marL="0" indent="0" algn="ctr">
              <a:buNone/>
            </a:pPr>
            <a:r>
              <a:rPr lang="en-US" sz="1400" dirty="0">
                <a:solidFill>
                  <a:schemeClr val="accent6"/>
                </a:solidFill>
              </a:rPr>
              <a:t>conteneurs Docker</a:t>
            </a:r>
            <a:endParaRPr lang="en-US" sz="1400" dirty="0"/>
          </a:p>
        </p:txBody>
      </p:sp>
      <p:sp>
        <p:nvSpPr>
          <p:cNvPr id="7" name="texte-396"/>
          <p:cNvSpPr txBox="1"/>
          <p:nvPr/>
        </p:nvSpPr>
        <p:spPr>
          <a:xfrm>
            <a:off x="6217920" y="1417320"/>
            <a:ext cx="2651760" cy="914400"/>
          </a:xfrm>
          <a:prstGeom prst="rect">
            <a:avLst/>
          </a:prstGeom>
          <a:noFill/>
          <a:ln/>
        </p:spPr>
        <p:txBody>
          <a:bodyPr wrap="square" lIns="0" tIns="0" rIns="0" bIns="0" rtlCol="0" anchor="ctr"/>
          <a:lstStyle/>
          <a:p>
            <a:pPr marL="0" indent="0" algn="ctr">
              <a:buNone/>
            </a:pPr>
            <a:r>
              <a:rPr lang="en-US" sz="6000" b="1" dirty="0">
                <a:solidFill>
                  <a:schemeClr val="accent1"/>
                </a:solidFill>
              </a:rPr>
              <a:t>3</a:t>
            </a:r>
            <a:endParaRPr lang="en-US" sz="6000" dirty="0"/>
          </a:p>
        </p:txBody>
      </p:sp>
      <p:sp>
        <p:nvSpPr>
          <p:cNvPr id="8" name="texte-397"/>
          <p:cNvSpPr txBox="1"/>
          <p:nvPr/>
        </p:nvSpPr>
        <p:spPr>
          <a:xfrm>
            <a:off x="6217920" y="2331720"/>
            <a:ext cx="2651760" cy="365760"/>
          </a:xfrm>
          <a:prstGeom prst="rect">
            <a:avLst/>
          </a:prstGeom>
          <a:noFill/>
          <a:ln/>
        </p:spPr>
        <p:txBody>
          <a:bodyPr wrap="square" lIns="0" tIns="0" rIns="0" bIns="0" rtlCol="0" anchor="t"/>
          <a:lstStyle/>
          <a:p>
            <a:pPr marL="0" indent="0" algn="ctr">
              <a:buNone/>
            </a:pPr>
            <a:r>
              <a:rPr lang="en-US" sz="1400" dirty="0">
                <a:solidFill>
                  <a:schemeClr val="accent6"/>
                </a:solidFill>
              </a:rPr>
              <a:t>jobs CI/CD</a:t>
            </a:r>
            <a:endParaRPr lang="en-US" sz="1400" dirty="0"/>
          </a:p>
        </p:txBody>
      </p:sp>
      <p:sp>
        <p:nvSpPr>
          <p:cNvPr id="9" name="texte-398"/>
          <p:cNvSpPr txBox="1"/>
          <p:nvPr/>
        </p:nvSpPr>
        <p:spPr>
          <a:xfrm>
            <a:off x="9052560" y="1417320"/>
            <a:ext cx="2651760" cy="914400"/>
          </a:xfrm>
          <a:prstGeom prst="rect">
            <a:avLst/>
          </a:prstGeom>
          <a:noFill/>
          <a:ln/>
        </p:spPr>
        <p:txBody>
          <a:bodyPr wrap="square" lIns="0" tIns="0" rIns="0" bIns="0" rtlCol="0" anchor="ctr"/>
          <a:lstStyle/>
          <a:p>
            <a:pPr marL="0" indent="0" algn="ctr">
              <a:buNone/>
            </a:pPr>
            <a:r>
              <a:rPr lang="en-US" sz="6000" b="1" dirty="0">
                <a:solidFill>
                  <a:schemeClr val="accent1"/>
                </a:solidFill>
              </a:rPr>
              <a:t>10</a:t>
            </a:r>
            <a:endParaRPr lang="en-US" sz="6000" dirty="0"/>
          </a:p>
        </p:txBody>
      </p:sp>
      <p:sp>
        <p:nvSpPr>
          <p:cNvPr id="10" name="texte-399"/>
          <p:cNvSpPr txBox="1"/>
          <p:nvPr/>
        </p:nvSpPr>
        <p:spPr>
          <a:xfrm>
            <a:off x="9052560" y="2331720"/>
            <a:ext cx="2651760" cy="365760"/>
          </a:xfrm>
          <a:prstGeom prst="rect">
            <a:avLst/>
          </a:prstGeom>
          <a:noFill/>
          <a:ln/>
        </p:spPr>
        <p:txBody>
          <a:bodyPr wrap="square" lIns="0" tIns="0" rIns="0" bIns="0" rtlCol="0" anchor="t"/>
          <a:lstStyle/>
          <a:p>
            <a:pPr marL="0" indent="0" algn="ctr">
              <a:buNone/>
            </a:pPr>
            <a:r>
              <a:rPr lang="en-US" sz="1400" dirty="0">
                <a:solidFill>
                  <a:schemeClr val="accent6"/>
                </a:solidFill>
              </a:rPr>
              <a:t>tests frontend</a:t>
            </a:r>
            <a:endParaRPr lang="en-US" sz="1400" dirty="0"/>
          </a:p>
        </p:txBody>
      </p:sp>
      <p:sp>
        <p:nvSpPr>
          <p:cNvPr id="11" name="carte-400"/>
          <p:cNvSpPr/>
          <p:nvPr/>
        </p:nvSpPr>
        <p:spPr>
          <a:xfrm>
            <a:off x="548640" y="3154680"/>
            <a:ext cx="3566160" cy="2651760"/>
          </a:xfrm>
          <a:prstGeom prst="roundRect">
            <a:avLst>
              <a:gd name="adj" fmla="val 4138"/>
            </a:avLst>
          </a:prstGeom>
          <a:solidFill>
            <a:schemeClr val="bg2"/>
          </a:solidFill>
          <a:ln/>
        </p:spPr>
        <p:txBody>
          <a:bodyPr/>
          <a:lstStyle/>
          <a:p>
            <a:endParaRPr lang="fr-FR"/>
          </a:p>
        </p:txBody>
      </p:sp>
      <p:sp>
        <p:nvSpPr>
          <p:cNvPr id="12" name="texte-401"/>
          <p:cNvSpPr txBox="1"/>
          <p:nvPr/>
        </p:nvSpPr>
        <p:spPr>
          <a:xfrm>
            <a:off x="822960" y="3383280"/>
            <a:ext cx="3017520" cy="457200"/>
          </a:xfrm>
          <a:prstGeom prst="rect">
            <a:avLst/>
          </a:prstGeom>
          <a:noFill/>
          <a:ln/>
        </p:spPr>
        <p:txBody>
          <a:bodyPr wrap="square" lIns="0" tIns="0" rIns="0" bIns="0" rtlCol="0" anchor="t"/>
          <a:lstStyle/>
          <a:p>
            <a:pPr marL="0" indent="0">
              <a:buNone/>
            </a:pPr>
            <a:r>
              <a:rPr lang="en-US" sz="2000" b="1" dirty="0">
                <a:solidFill>
                  <a:schemeClr val="accent1"/>
                </a:solidFill>
              </a:rPr>
              <a:t>Une application complète</a:t>
            </a:r>
            <a:endParaRPr lang="en-US" sz="2000" dirty="0"/>
          </a:p>
        </p:txBody>
      </p:sp>
      <p:sp>
        <p:nvSpPr>
          <p:cNvPr id="13" name="texte-402"/>
          <p:cNvSpPr txBox="1"/>
          <p:nvPr/>
        </p:nvSpPr>
        <p:spPr>
          <a:xfrm>
            <a:off x="822960" y="3977640"/>
            <a:ext cx="3017520" cy="1645920"/>
          </a:xfrm>
          <a:prstGeom prst="rect">
            <a:avLst/>
          </a:prstGeom>
          <a:noFill/>
          <a:ln/>
        </p:spPr>
        <p:txBody>
          <a:bodyPr wrap="square" lIns="0" tIns="0" rIns="0" bIns="0" rtlCol="0" anchor="t"/>
          <a:lstStyle/>
          <a:p>
            <a:pPr marL="0" indent="0">
              <a:buNone/>
            </a:pPr>
            <a:r>
              <a:rPr lang="en-US" sz="1700" dirty="0">
                <a:solidFill>
                  <a:schemeClr val="tx1"/>
                </a:solidFill>
              </a:rPr>
              <a:t>De l'analyse du besoin au déploiement : API REST, interface React, Docker et pipeline CI/CD.</a:t>
            </a:r>
            <a:endParaRPr lang="en-US" sz="1700" dirty="0"/>
          </a:p>
        </p:txBody>
      </p:sp>
      <p:sp>
        <p:nvSpPr>
          <p:cNvPr id="14" name="carte-403"/>
          <p:cNvSpPr/>
          <p:nvPr/>
        </p:nvSpPr>
        <p:spPr>
          <a:xfrm>
            <a:off x="4297680" y="3154680"/>
            <a:ext cx="3566160" cy="2651760"/>
          </a:xfrm>
          <a:prstGeom prst="roundRect">
            <a:avLst>
              <a:gd name="adj" fmla="val 4138"/>
            </a:avLst>
          </a:prstGeom>
          <a:solidFill>
            <a:schemeClr val="bg2"/>
          </a:solidFill>
          <a:ln/>
        </p:spPr>
        <p:txBody>
          <a:bodyPr/>
          <a:lstStyle/>
          <a:p>
            <a:endParaRPr lang="fr-FR"/>
          </a:p>
        </p:txBody>
      </p:sp>
      <p:sp>
        <p:nvSpPr>
          <p:cNvPr id="15" name="texte-404"/>
          <p:cNvSpPr txBox="1"/>
          <p:nvPr/>
        </p:nvSpPr>
        <p:spPr>
          <a:xfrm>
            <a:off x="4572000" y="3383280"/>
            <a:ext cx="3017520" cy="457200"/>
          </a:xfrm>
          <a:prstGeom prst="rect">
            <a:avLst/>
          </a:prstGeom>
          <a:noFill/>
          <a:ln/>
        </p:spPr>
        <p:txBody>
          <a:bodyPr wrap="square" lIns="0" tIns="0" rIns="0" bIns="0" rtlCol="0" anchor="t"/>
          <a:lstStyle/>
          <a:p>
            <a:pPr marL="0" indent="0">
              <a:buNone/>
            </a:pPr>
            <a:r>
              <a:rPr lang="en-US" sz="2000" b="1" dirty="0">
                <a:solidFill>
                  <a:schemeClr val="accent1"/>
                </a:solidFill>
              </a:rPr>
              <a:t>Compétences acquises</a:t>
            </a:r>
            <a:endParaRPr lang="en-US" sz="2000" dirty="0"/>
          </a:p>
        </p:txBody>
      </p:sp>
      <p:sp>
        <p:nvSpPr>
          <p:cNvPr id="16" name="texte-405"/>
          <p:cNvSpPr txBox="1"/>
          <p:nvPr/>
        </p:nvSpPr>
        <p:spPr>
          <a:xfrm>
            <a:off x="4572000" y="3977640"/>
            <a:ext cx="3017520" cy="1645920"/>
          </a:xfrm>
          <a:prstGeom prst="rect">
            <a:avLst/>
          </a:prstGeom>
          <a:noFill/>
          <a:ln/>
        </p:spPr>
        <p:txBody>
          <a:bodyPr wrap="square" lIns="0" tIns="0" rIns="0" bIns="0" rtlCol="0" anchor="t"/>
          <a:lstStyle/>
          <a:p>
            <a:pPr marL="0" indent="0">
              <a:buNone/>
            </a:pPr>
            <a:r>
              <a:rPr lang="en-US" sz="1700" dirty="0">
                <a:solidFill>
                  <a:schemeClr val="tx1"/>
                </a:solidFill>
              </a:rPr>
              <a:t>Sécurité (JWT, bcrypt, rôles), tests backend et frontend, documentation README et Swagger.</a:t>
            </a:r>
            <a:endParaRPr lang="en-US" sz="1700" dirty="0"/>
          </a:p>
        </p:txBody>
      </p:sp>
      <p:sp>
        <p:nvSpPr>
          <p:cNvPr id="17" name="carte-406"/>
          <p:cNvSpPr/>
          <p:nvPr/>
        </p:nvSpPr>
        <p:spPr>
          <a:xfrm>
            <a:off x="8046720" y="3154680"/>
            <a:ext cx="3566160" cy="2651760"/>
          </a:xfrm>
          <a:prstGeom prst="roundRect">
            <a:avLst>
              <a:gd name="adj" fmla="val 4138"/>
            </a:avLst>
          </a:prstGeom>
          <a:solidFill>
            <a:schemeClr val="bg2"/>
          </a:solidFill>
          <a:ln/>
        </p:spPr>
        <p:txBody>
          <a:bodyPr/>
          <a:lstStyle/>
          <a:p>
            <a:endParaRPr lang="fr-FR"/>
          </a:p>
        </p:txBody>
      </p:sp>
      <p:sp>
        <p:nvSpPr>
          <p:cNvPr id="18" name="texte-407"/>
          <p:cNvSpPr txBox="1"/>
          <p:nvPr/>
        </p:nvSpPr>
        <p:spPr>
          <a:xfrm>
            <a:off x="8321040" y="3383280"/>
            <a:ext cx="3017520" cy="457200"/>
          </a:xfrm>
          <a:prstGeom prst="rect">
            <a:avLst/>
          </a:prstGeom>
          <a:noFill/>
          <a:ln/>
        </p:spPr>
        <p:txBody>
          <a:bodyPr wrap="square" lIns="0" tIns="0" rIns="0" bIns="0" rtlCol="0" anchor="t"/>
          <a:lstStyle/>
          <a:p>
            <a:pPr marL="0" indent="0">
              <a:buNone/>
            </a:pPr>
            <a:r>
              <a:rPr lang="en-US" sz="2000" b="1" dirty="0">
                <a:solidFill>
                  <a:schemeClr val="accent1"/>
                </a:solidFill>
              </a:rPr>
              <a:t>Ce que je retiens</a:t>
            </a:r>
            <a:endParaRPr lang="en-US" sz="2000" dirty="0"/>
          </a:p>
        </p:txBody>
      </p:sp>
      <p:sp>
        <p:nvSpPr>
          <p:cNvPr id="19" name="texte-408"/>
          <p:cNvSpPr txBox="1"/>
          <p:nvPr/>
        </p:nvSpPr>
        <p:spPr>
          <a:xfrm>
            <a:off x="8321040" y="3977640"/>
            <a:ext cx="3017520" cy="1645920"/>
          </a:xfrm>
          <a:prstGeom prst="rect">
            <a:avLst/>
          </a:prstGeom>
          <a:noFill/>
          <a:ln/>
        </p:spPr>
        <p:txBody>
          <a:bodyPr wrap="square" lIns="0" tIns="0" rIns="0" bIns="0" rtlCol="0" anchor="t"/>
          <a:lstStyle/>
          <a:p>
            <a:pPr marL="0" indent="0">
              <a:buNone/>
            </a:pPr>
            <a:r>
              <a:rPr lang="en-US" sz="1700" dirty="0">
                <a:solidFill>
                  <a:schemeClr val="tx1"/>
                </a:solidFill>
              </a:rPr>
              <a:t>Automatiser les tests et le déploiement évite qu'une version défectueuse arrive en production.</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fin" descr="Code source"/>
          <p:cNvPicPr>
            <a:picLocks noChangeAspect="1"/>
          </p:cNvPicPr>
          <p:nvPr/>
        </p:nvPicPr>
        <p:blipFill>
          <a:blip r:embed="rId3"/>
          <a:srcRect/>
          <a:stretch/>
        </p:blipFill>
        <p:spPr>
          <a:xfrm>
            <a:off x="6949440" y="0"/>
            <a:ext cx="5242255" cy="6858000"/>
          </a:xfrm>
          <a:prstGeom prst="rect">
            <a:avLst/>
          </a:prstGeom>
        </p:spPr>
      </p:pic>
      <p:sp>
        <p:nvSpPr>
          <p:cNvPr id="3" name="Text 0"/>
          <p:cNvSpPr>
            <a:spLocks noGrp="1"/>
          </p:cNvSpPr>
          <p:nvPr>
            <p:ph type="title" idx="100" hasCustomPrompt="1"/>
          </p:nvPr>
        </p:nvSpPr>
        <p:spPr>
          <a:xfrm>
            <a:off x="731520" y="2011680"/>
            <a:ext cx="5669280" cy="1188720"/>
          </a:xfrm>
          <a:prstGeom prst="rect">
            <a:avLst/>
          </a:prstGeom>
          <a:noFill/>
          <a:ln/>
        </p:spPr>
        <p:txBody>
          <a:bodyPr wrap="square" lIns="0" tIns="0" rIns="0" bIns="0" rtlCol="0" anchor="b"/>
          <a:lstStyle/>
          <a:p>
            <a:pPr marL="0" indent="0" algn="l">
              <a:buNone/>
            </a:pPr>
            <a:r>
              <a:rPr lang="en-US" sz="6000" b="1" dirty="0">
                <a:solidFill>
                  <a:schemeClr val="bg1"/>
                </a:solidFill>
              </a:rPr>
              <a:t>Merci</a:t>
            </a:r>
            <a:endParaRPr lang="en-US" sz="6000" dirty="0"/>
          </a:p>
        </p:txBody>
      </p:sp>
      <p:sp>
        <p:nvSpPr>
          <p:cNvPr id="4" name="Text 0"/>
          <p:cNvSpPr>
            <a:spLocks noGrp="1"/>
          </p:cNvSpPr>
          <p:nvPr>
            <p:ph type="body" idx="101" hasCustomPrompt="1"/>
          </p:nvPr>
        </p:nvSpPr>
        <p:spPr>
          <a:xfrm>
            <a:off x="731520" y="3291840"/>
            <a:ext cx="5669280" cy="640080"/>
          </a:xfrm>
          <a:prstGeom prst="rect">
            <a:avLst/>
          </a:prstGeom>
          <a:noFill/>
          <a:ln/>
        </p:spPr>
        <p:txBody>
          <a:bodyPr wrap="square" lIns="0" tIns="0" rIns="0" bIns="0" rtlCol="0" anchor="t"/>
          <a:lstStyle/>
          <a:p>
            <a:pPr marL="0" indent="0">
              <a:buNone/>
            </a:pPr>
            <a:r>
              <a:rPr lang="en-US" sz="2400" dirty="0">
                <a:solidFill>
                  <a:schemeClr val="accent3"/>
                </a:solidFill>
              </a:rPr>
              <a:t>Avez-vous des questions ?</a:t>
            </a:r>
            <a:endParaRPr lang="en-US" sz="2400" dirty="0"/>
          </a:p>
        </p:txBody>
      </p:sp>
      <p:sp>
        <p:nvSpPr>
          <p:cNvPr id="5" name="Text 0"/>
          <p:cNvSpPr>
            <a:spLocks noGrp="1"/>
          </p:cNvSpPr>
          <p:nvPr>
            <p:ph type="body" idx="102" hasCustomPrompt="1"/>
          </p:nvPr>
        </p:nvSpPr>
        <p:spPr>
          <a:xfrm>
            <a:off x="731520" y="4754880"/>
            <a:ext cx="5669280" cy="1280160"/>
          </a:xfrm>
          <a:prstGeom prst="rect">
            <a:avLst/>
          </a:prstGeom>
          <a:noFill/>
          <a:ln/>
        </p:spPr>
        <p:txBody>
          <a:bodyPr wrap="square" lIns="0" tIns="0" rIns="0" bIns="0" rtlCol="0" anchor="t"/>
          <a:lstStyle/>
          <a:p>
            <a:pPr marL="0" indent="0">
              <a:buNone/>
            </a:pPr>
            <a:r>
              <a:rPr lang="en-US" sz="2000" b="1" dirty="0">
                <a:solidFill>
                  <a:schemeClr val="bg2"/>
                </a:solidFill>
              </a:rPr>
              <a:t>Elia SOINARD</a:t>
            </a:r>
            <a:endParaRPr lang="en-US" sz="1600" dirty="0"/>
          </a:p>
          <a:p>
            <a:pPr marL="0" indent="0">
              <a:buNone/>
            </a:pPr>
            <a:r>
              <a:rPr lang="en-US" sz="1600" dirty="0">
                <a:solidFill>
                  <a:schemeClr val="bg2"/>
                </a:solidFill>
              </a:rPr>
              <a:t>TaskFlow — Application de gestion de projet</a:t>
            </a:r>
            <a:endParaRPr lang="en-US" sz="1600" dirty="0"/>
          </a:p>
        </p:txBody>
      </p:sp>
    </p:spTree>
  </p:cSld>
  <p:clrMapOvr>
    <a:masterClrMapping/>
  </p:clrMapOvr>
</p:sld>
</file>

<file path=ppt/theme/theme1.xml><?xml version="1.0" encoding="utf-8"?>
<a:theme xmlns:a="http://schemas.openxmlformats.org/drawingml/2006/main" name="TaskFlow">
  <a:themeElements>
    <a:clrScheme name="TaskFlow">
      <a:dk1>
        <a:srgbClr val="14213D"/>
      </a:dk1>
      <a:lt1>
        <a:srgbClr val="FFFFFF"/>
      </a:lt1>
      <a:dk2>
        <a:srgbClr val="2B3A55"/>
      </a:dk2>
      <a:lt2>
        <a:srgbClr val="F1F4F8"/>
      </a:lt2>
      <a:accent1>
        <a:srgbClr val="0E8A7E"/>
      </a:accent1>
      <a:accent2>
        <a:srgbClr val="E8871E"/>
      </a:accent2>
      <a:accent3>
        <a:srgbClr val="2EC4B6"/>
      </a:accent3>
      <a:accent4>
        <a:srgbClr val="D64545"/>
      </a:accent4>
      <a:accent5>
        <a:srgbClr val="3A6EA5"/>
      </a:accent5>
      <a:accent6>
        <a:srgbClr val="6B778C"/>
      </a:accent6>
      <a:hlink>
        <a:srgbClr val="0E8A7E"/>
      </a:hlink>
      <a:folHlink>
        <a:srgbClr val="2B3A55"/>
      </a:folHlink>
    </a:clrScheme>
    <a:fontScheme name="Task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8ccdd79-b790-40fe-8cde-4bf6ce2eec57}" enabled="1" method="Standard" siteId="{74b72ba8-5684-402c-98da-e38799398d7d}" contentBits="0" removed="0"/>
</clbl:labelList>
</file>

<file path=docProps/app.xml><?xml version="1.0" encoding="utf-8"?>
<Properties xmlns="http://schemas.openxmlformats.org/officeDocument/2006/extended-properties" xmlns:vt="http://schemas.openxmlformats.org/officeDocument/2006/docPropsVTypes">
  <TotalTime>2</TotalTime>
  <Words>2789</Words>
  <Application>Microsoft Office PowerPoint</Application>
  <PresentationFormat>Grand écran</PresentationFormat>
  <Paragraphs>382</Paragraphs>
  <Slides>26</Slides>
  <Notes>26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26</vt:i4>
      </vt:variant>
    </vt:vector>
  </HeadingPairs>
  <TitlesOfParts>
    <vt:vector size="30" baseType="lpstr">
      <vt:lpstr>Arial</vt:lpstr>
      <vt:lpstr>Calibri</vt:lpstr>
      <vt:lpstr>Courier New</vt:lpstr>
      <vt:lpstr>TaskFlow</vt:lpstr>
      <vt:lpstr>TaskFlow</vt:lpstr>
      <vt:lpstr>Sommaire</vt:lpstr>
      <vt:lpstr>Présentation du projet</vt:lpstr>
      <vt:lpstr>Versioning avec Git et GitHub</vt:lpstr>
      <vt:lpstr>Backend</vt:lpstr>
      <vt:lpstr>Analyse du besoin : diagramme de classes</vt:lpstr>
      <vt:lpstr>Architecture en couches</vt:lpstr>
      <vt:lpstr>Parcours d'une requête</vt:lpstr>
      <vt:lpstr>Sécurité de l'API</vt:lpstr>
      <vt:lpstr>Tests du backend</vt:lpstr>
      <vt:lpstr>Documentation : README et Swagger</vt:lpstr>
      <vt:lpstr>Frontend</vt:lpstr>
      <vt:lpstr>Analyse du besoin et choix techniques</vt:lpstr>
      <vt:lpstr>Couches logicielles du frontend</vt:lpstr>
      <vt:lpstr>Communication avec l'API</vt:lpstr>
      <vt:lpstr>Pages et composants</vt:lpstr>
      <vt:lpstr>Interface utilisateur</vt:lpstr>
      <vt:lpstr>Sécurité et tests du frontend</vt:lpstr>
      <vt:lpstr>Docker et DevOps</vt:lpstr>
      <vt:lpstr>Conteneurisation avec Docker</vt:lpstr>
      <vt:lpstr>Démarche DevOps et qualité du code</vt:lpstr>
      <vt:lpstr>Pipeline CI/CD avec GitHub Actions</vt:lpstr>
      <vt:lpstr>Hébergement et mise en production</vt:lpstr>
      <vt:lpstr>Logiciels utilisés</vt:lpstr>
      <vt:lpstr>Bilan</vt:lpstr>
      <vt:lpstr>Merci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TaskFlow — Application de gestion de projet</dc:title>
  <dc:subject>PptxGenJS Presentation</dc:subject>
  <dc:creator>Elia SOINARD</dc:creator>
  <cp:lastModifiedBy>Elia Soinard</cp:lastModifiedBy>
  <cp:revision>2</cp:revision>
  <dcterms:created xsi:type="dcterms:W3CDTF">2026-10-27T13:23:27Z</dcterms:created>
  <dcterms:modified xsi:type="dcterms:W3CDTF">2026-10-27T13:35:24Z</dcterms:modified>
</cp:coreProperties>
</file>